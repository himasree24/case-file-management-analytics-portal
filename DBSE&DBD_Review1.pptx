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Canva Sans" panose="020B0604020202020204" charset="0"/>
      <p:regular r:id="rId9"/>
    </p:embeddedFont>
    <p:embeddedFont>
      <p:font typeface="Canva Sans Bold" panose="020B0604020202020204" charset="0"/>
      <p:regular r:id="rId10"/>
    </p:embeddedFont>
    <p:embeddedFont>
      <p:font typeface="Open Sauce Light" panose="020B0604020202020204" charset="0"/>
      <p:regular r:id="rId11"/>
    </p:embeddedFont>
    <p:embeddedFont>
      <p:font typeface="Times New Roman MT" panose="020B0604020202020204" charset="0"/>
      <p:regular r:id="rId12"/>
    </p:embeddedFont>
    <p:embeddedFont>
      <p:font typeface="Times New Roman MT Ultra-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5" d="100"/>
          <a:sy n="55" d="100"/>
        </p:scale>
        <p:origin x="461"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7.sv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1977201">
            <a:off x="8302125" y="-801031"/>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42000"/>
            </a:blip>
            <a:stretch>
              <a:fillRect/>
            </a:stretch>
          </a:blipFill>
        </p:spPr>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384338" y="2596649"/>
            <a:ext cx="13017405" cy="2904496"/>
          </a:xfrm>
          <a:prstGeom prst="rect">
            <a:avLst/>
          </a:prstGeom>
        </p:spPr>
        <p:txBody>
          <a:bodyPr lIns="0" tIns="0" rIns="0" bIns="0" rtlCol="0" anchor="t">
            <a:spAutoFit/>
          </a:bodyPr>
          <a:lstStyle/>
          <a:p>
            <a:pPr algn="ctr">
              <a:lnSpc>
                <a:spcPts val="11059"/>
              </a:lnSpc>
            </a:pPr>
            <a:r>
              <a:rPr lang="en-US" sz="7899" b="1" spc="-371">
                <a:solidFill>
                  <a:srgbClr val="424242"/>
                </a:solidFill>
                <a:latin typeface="Times New Roman MT Ultra-Bold"/>
                <a:ea typeface="Times New Roman MT Ultra-Bold"/>
                <a:cs typeface="Times New Roman MT Ultra-Bold"/>
                <a:sym typeface="Times New Roman MT Ultra-Bold"/>
              </a:rPr>
              <a:t>Case File Management &amp; Analytics Portal (Legal Services)</a:t>
            </a:r>
          </a:p>
        </p:txBody>
      </p:sp>
      <p:sp>
        <p:nvSpPr>
          <p:cNvPr id="6" name="AutoShape 6"/>
          <p:cNvSpPr/>
          <p:nvPr/>
        </p:nvSpPr>
        <p:spPr>
          <a:xfrm>
            <a:off x="1045163" y="1694406"/>
            <a:ext cx="16214137" cy="0"/>
          </a:xfrm>
          <a:prstGeom prst="line">
            <a:avLst/>
          </a:prstGeom>
          <a:ln w="19050" cap="flat">
            <a:solidFill>
              <a:srgbClr val="424242"/>
            </a:solidFill>
            <a:prstDash val="solid"/>
            <a:headEnd type="none" w="sm" len="sm"/>
            <a:tailEnd type="none" w="sm" len="sm"/>
          </a:ln>
        </p:spPr>
      </p:sp>
      <p:sp>
        <p:nvSpPr>
          <p:cNvPr id="7" name="Freeform 7"/>
          <p:cNvSpPr/>
          <p:nvPr/>
        </p:nvSpPr>
        <p:spPr>
          <a:xfrm>
            <a:off x="0" y="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5"/>
            <a:stretch>
              <a:fillRect/>
            </a:stretch>
          </a:blipFill>
        </p:spPr>
      </p:sp>
      <p:sp>
        <p:nvSpPr>
          <p:cNvPr id="8" name="TextBox 8"/>
          <p:cNvSpPr txBox="1"/>
          <p:nvPr/>
        </p:nvSpPr>
        <p:spPr>
          <a:xfrm>
            <a:off x="6019851" y="5954346"/>
            <a:ext cx="5746380" cy="2377440"/>
          </a:xfrm>
          <a:prstGeom prst="rect">
            <a:avLst/>
          </a:prstGeom>
        </p:spPr>
        <p:txBody>
          <a:bodyPr lIns="0" tIns="0" rIns="0" bIns="0" rtlCol="0" anchor="t">
            <a:spAutoFit/>
          </a:bodyPr>
          <a:lstStyle/>
          <a:p>
            <a:pPr algn="ctr">
              <a:lnSpc>
                <a:spcPts val="3780"/>
              </a:lnSpc>
            </a:pPr>
            <a:r>
              <a:rPr lang="en-US" sz="3000" spc="-168">
                <a:solidFill>
                  <a:srgbClr val="424242"/>
                </a:solidFill>
                <a:latin typeface="Open Sauce Light"/>
                <a:ea typeface="Open Sauce Light"/>
                <a:cs typeface="Open Sauce Light"/>
                <a:sym typeface="Open Sauce Light"/>
              </a:rPr>
              <a:t>Team : 11 </a:t>
            </a:r>
          </a:p>
          <a:p>
            <a:pPr algn="ctr">
              <a:lnSpc>
                <a:spcPts val="3780"/>
              </a:lnSpc>
            </a:pPr>
            <a:r>
              <a:rPr lang="en-US" sz="3000" spc="-168">
                <a:solidFill>
                  <a:srgbClr val="424242"/>
                </a:solidFill>
                <a:latin typeface="Open Sauce Light"/>
                <a:ea typeface="Open Sauce Light"/>
                <a:cs typeface="Open Sauce Light"/>
                <a:sym typeface="Open Sauce Light"/>
              </a:rPr>
              <a:t>P.Ruhitha       2520080053</a:t>
            </a:r>
          </a:p>
          <a:p>
            <a:pPr algn="ctr">
              <a:lnSpc>
                <a:spcPts val="3780"/>
              </a:lnSpc>
            </a:pPr>
            <a:r>
              <a:rPr lang="en-US" sz="3000" spc="-168">
                <a:solidFill>
                  <a:srgbClr val="424242"/>
                </a:solidFill>
                <a:latin typeface="Open Sauce Light"/>
                <a:ea typeface="Open Sauce Light"/>
                <a:cs typeface="Open Sauce Light"/>
                <a:sym typeface="Open Sauce Light"/>
              </a:rPr>
              <a:t>M.Ananya      2520080069</a:t>
            </a:r>
          </a:p>
          <a:p>
            <a:pPr algn="ctr">
              <a:lnSpc>
                <a:spcPts val="3780"/>
              </a:lnSpc>
            </a:pPr>
            <a:r>
              <a:rPr lang="en-US" sz="3000" spc="-168">
                <a:solidFill>
                  <a:srgbClr val="424242"/>
                </a:solidFill>
                <a:latin typeface="Open Sauce Light"/>
                <a:ea typeface="Open Sauce Light"/>
                <a:cs typeface="Open Sauce Light"/>
                <a:sym typeface="Open Sauce Light"/>
              </a:rPr>
              <a:t>S.Himasree       2520090181</a:t>
            </a:r>
          </a:p>
          <a:p>
            <a:pPr algn="l">
              <a:lnSpc>
                <a:spcPts val="3780"/>
              </a:lnSpc>
            </a:pPr>
            <a:endParaRPr lang="en-US" sz="3000" spc="-168">
              <a:solidFill>
                <a:srgbClr val="424242"/>
              </a:solidFill>
              <a:latin typeface="Open Sauce Light"/>
              <a:ea typeface="Open Sauce Light"/>
              <a:cs typeface="Open Sauce Light"/>
              <a:sym typeface="Open Sauce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Freeform 2"/>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2">
              <a:alphaModFix amt="20999"/>
            </a:blip>
            <a:stretch>
              <a:fillRect/>
            </a:stretch>
          </a:blipFill>
        </p:spPr>
      </p:sp>
      <p:sp>
        <p:nvSpPr>
          <p:cNvPr id="3" name="Freeform 3"/>
          <p:cNvSpPr/>
          <p:nvPr/>
        </p:nvSpPr>
        <p:spPr>
          <a:xfrm>
            <a:off x="-1964581" y="6163012"/>
            <a:ext cx="12299674" cy="5143500"/>
          </a:xfrm>
          <a:custGeom>
            <a:avLst/>
            <a:gdLst/>
            <a:ahLst/>
            <a:cxnLst/>
            <a:rect l="l" t="t" r="r" b="b"/>
            <a:pathLst>
              <a:path w="12299674" h="5143500">
                <a:moveTo>
                  <a:pt x="0" y="0"/>
                </a:moveTo>
                <a:lnTo>
                  <a:pt x="12299674" y="0"/>
                </a:lnTo>
                <a:lnTo>
                  <a:pt x="12299674" y="5143500"/>
                </a:lnTo>
                <a:lnTo>
                  <a:pt x="0" y="5143500"/>
                </a:lnTo>
                <a:lnTo>
                  <a:pt x="0" y="0"/>
                </a:lnTo>
                <a:close/>
              </a:path>
            </a:pathLst>
          </a:custGeom>
          <a:blipFill>
            <a:blip r:embed="rId3">
              <a:alphaModFix amt="10999"/>
            </a:blip>
            <a:stretch>
              <a:fillRect/>
            </a:stretch>
          </a:blipFill>
        </p:spPr>
      </p:sp>
      <p:grpSp>
        <p:nvGrpSpPr>
          <p:cNvPr id="4" name="Group 4"/>
          <p:cNvGrpSpPr/>
          <p:nvPr/>
        </p:nvGrpSpPr>
        <p:grpSpPr>
          <a:xfrm>
            <a:off x="885291" y="3243671"/>
            <a:ext cx="16360888" cy="6307586"/>
            <a:chOff x="0" y="0"/>
            <a:chExt cx="4309041" cy="1661257"/>
          </a:xfrm>
        </p:grpSpPr>
        <p:sp>
          <p:nvSpPr>
            <p:cNvPr id="5" name="Freeform 5"/>
            <p:cNvSpPr/>
            <p:nvPr/>
          </p:nvSpPr>
          <p:spPr>
            <a:xfrm>
              <a:off x="0" y="0"/>
              <a:ext cx="4309040" cy="1661257"/>
            </a:xfrm>
            <a:custGeom>
              <a:avLst/>
              <a:gdLst/>
              <a:ahLst/>
              <a:cxnLst/>
              <a:rect l="l" t="t" r="r" b="b"/>
              <a:pathLst>
                <a:path w="4309040" h="1661257">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id="6" name="TextBox 6"/>
            <p:cNvSpPr txBox="1"/>
            <p:nvPr/>
          </p:nvSpPr>
          <p:spPr>
            <a:xfrm>
              <a:off x="0" y="-28575"/>
              <a:ext cx="4309041" cy="1689832"/>
            </a:xfrm>
            <a:prstGeom prst="rect">
              <a:avLst/>
            </a:prstGeom>
          </p:spPr>
          <p:txBody>
            <a:bodyPr lIns="50800" tIns="50800" rIns="50800" bIns="50800" rtlCol="0" anchor="ctr"/>
            <a:lstStyle/>
            <a:p>
              <a:pPr algn="ctr">
                <a:lnSpc>
                  <a:spcPts val="2015"/>
                </a:lnSpc>
              </a:pPr>
              <a:endParaRPr/>
            </a:p>
          </p:txBody>
        </p:sp>
      </p:grpSp>
      <p:sp>
        <p:nvSpPr>
          <p:cNvPr id="7" name="TextBox 7"/>
          <p:cNvSpPr txBox="1"/>
          <p:nvPr/>
        </p:nvSpPr>
        <p:spPr>
          <a:xfrm>
            <a:off x="1105241" y="1840847"/>
            <a:ext cx="13389009" cy="1190278"/>
          </a:xfrm>
          <a:prstGeom prst="rect">
            <a:avLst/>
          </a:prstGeom>
        </p:spPr>
        <p:txBody>
          <a:bodyPr lIns="0" tIns="0" rIns="0" bIns="0" rtlCol="0" anchor="t">
            <a:spAutoFit/>
          </a:bodyPr>
          <a:lstStyle/>
          <a:p>
            <a:pPr algn="l">
              <a:lnSpc>
                <a:spcPts val="7582"/>
              </a:lnSpc>
            </a:pPr>
            <a:r>
              <a:rPr lang="en-US" sz="8066" b="1" spc="-379">
                <a:solidFill>
                  <a:srgbClr val="FFFFFF"/>
                </a:solidFill>
                <a:latin typeface="Times New Roman MT Ultra-Bold"/>
                <a:ea typeface="Times New Roman MT Ultra-Bold"/>
                <a:cs typeface="Times New Roman MT Ultra-Bold"/>
                <a:sym typeface="Times New Roman MT Ultra-Bold"/>
              </a:rPr>
              <a:t>Problem Statement</a:t>
            </a:r>
          </a:p>
        </p:txBody>
      </p:sp>
      <p:sp>
        <p:nvSpPr>
          <p:cNvPr id="8" name="Freeform 8"/>
          <p:cNvSpPr/>
          <p:nvPr/>
        </p:nvSpPr>
        <p:spPr>
          <a:xfrm>
            <a:off x="-43895" y="-5528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4"/>
            <a:stretch>
              <a:fillRect/>
            </a:stretch>
          </a:blipFill>
        </p:spPr>
      </p:sp>
      <p:sp>
        <p:nvSpPr>
          <p:cNvPr id="9" name="TextBox 9"/>
          <p:cNvSpPr txBox="1"/>
          <p:nvPr/>
        </p:nvSpPr>
        <p:spPr>
          <a:xfrm>
            <a:off x="2707822" y="3316875"/>
            <a:ext cx="12715826" cy="5355336"/>
          </a:xfrm>
          <a:prstGeom prst="rect">
            <a:avLst/>
          </a:prstGeom>
        </p:spPr>
        <p:txBody>
          <a:bodyPr lIns="0" tIns="0" rIns="0" bIns="0" rtlCol="0" anchor="t">
            <a:spAutoFit/>
          </a:bodyPr>
          <a:lstStyle/>
          <a:p>
            <a:pPr algn="r">
              <a:lnSpc>
                <a:spcPts val="3906"/>
              </a:lnSpc>
              <a:spcBef>
                <a:spcPct val="0"/>
              </a:spcBef>
            </a:pPr>
            <a:endParaRPr/>
          </a:p>
          <a:p>
            <a:pPr algn="just">
              <a:lnSpc>
                <a:spcPts val="4788"/>
              </a:lnSpc>
              <a:spcBef>
                <a:spcPct val="0"/>
              </a:spcBef>
            </a:pPr>
            <a:r>
              <a:rPr lang="en-US" sz="3800" spc="-212">
                <a:solidFill>
                  <a:srgbClr val="FFFFFF"/>
                </a:solidFill>
                <a:latin typeface="Times New Roman MT"/>
                <a:ea typeface="Times New Roman MT"/>
                <a:cs typeface="Times New Roman MT"/>
                <a:sym typeface="Times New Roman MT"/>
              </a:rPr>
              <a:t>Legal case information is often maintained across multiple files, documents, and manual records, making it difficult to efficiently store, retrieve, update, and track case details. This can result in data duplication, inconsistent records, difficulty in monitoring hearings and case status, and delays in accessing important information. There is a need for a centralized database system that organizes legal case records and enables efficient retrieval, tracking, and analysis of case-related information.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grpSp>
        <p:nvGrpSpPr>
          <p:cNvPr id="2" name="Group 2"/>
          <p:cNvGrpSpPr/>
          <p:nvPr/>
        </p:nvGrpSpPr>
        <p:grpSpPr>
          <a:xfrm>
            <a:off x="885291" y="3243671"/>
            <a:ext cx="16360888" cy="6307586"/>
            <a:chOff x="0" y="0"/>
            <a:chExt cx="4309041" cy="1661257"/>
          </a:xfrm>
        </p:grpSpPr>
        <p:sp>
          <p:nvSpPr>
            <p:cNvPr id="3" name="Freeform 3"/>
            <p:cNvSpPr/>
            <p:nvPr/>
          </p:nvSpPr>
          <p:spPr>
            <a:xfrm>
              <a:off x="0" y="0"/>
              <a:ext cx="4309040" cy="1661257"/>
            </a:xfrm>
            <a:custGeom>
              <a:avLst/>
              <a:gdLst/>
              <a:ahLst/>
              <a:cxnLst/>
              <a:rect l="l" t="t" r="r" b="b"/>
              <a:pathLst>
                <a:path w="4309040" h="1661257">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id="4" name="TextBox 4"/>
            <p:cNvSpPr txBox="1"/>
            <p:nvPr/>
          </p:nvSpPr>
          <p:spPr>
            <a:xfrm>
              <a:off x="0" y="-28575"/>
              <a:ext cx="4309041" cy="1689832"/>
            </a:xfrm>
            <a:prstGeom prst="rect">
              <a:avLst/>
            </a:prstGeom>
          </p:spPr>
          <p:txBody>
            <a:bodyPr lIns="50800" tIns="50800" rIns="50800" bIns="50800" rtlCol="0" anchor="ctr"/>
            <a:lstStyle/>
            <a:p>
              <a:pPr algn="ctr">
                <a:lnSpc>
                  <a:spcPts val="2015"/>
                </a:lnSpc>
              </a:pPr>
              <a:endParaRPr/>
            </a:p>
          </p:txBody>
        </p:sp>
      </p:grpSp>
      <p:sp>
        <p:nvSpPr>
          <p:cNvPr id="5" name="TextBox 5"/>
          <p:cNvSpPr txBox="1"/>
          <p:nvPr/>
        </p:nvSpPr>
        <p:spPr>
          <a:xfrm>
            <a:off x="1105241" y="1840847"/>
            <a:ext cx="13389009" cy="1188373"/>
          </a:xfrm>
          <a:prstGeom prst="rect">
            <a:avLst/>
          </a:prstGeom>
        </p:spPr>
        <p:txBody>
          <a:bodyPr lIns="0" tIns="0" rIns="0" bIns="0" rtlCol="0" anchor="t">
            <a:spAutoFit/>
          </a:bodyPr>
          <a:lstStyle/>
          <a:p>
            <a:pPr algn="l">
              <a:lnSpc>
                <a:spcPts val="7582"/>
              </a:lnSpc>
            </a:pPr>
            <a:r>
              <a:rPr lang="en-US" sz="8066" b="1" spc="-379">
                <a:solidFill>
                  <a:srgbClr val="FFFFFF"/>
                </a:solidFill>
                <a:latin typeface="Times New Roman MT Ultra-Bold"/>
                <a:ea typeface="Times New Roman MT Ultra-Bold"/>
                <a:cs typeface="Times New Roman MT Ultra-Bold"/>
                <a:sym typeface="Times New Roman MT Ultra-Bold"/>
              </a:rPr>
              <a:t>Abstract</a:t>
            </a:r>
          </a:p>
        </p:txBody>
      </p:sp>
      <p:sp>
        <p:nvSpPr>
          <p:cNvPr id="6" name="TextBox 6"/>
          <p:cNvSpPr txBox="1"/>
          <p:nvPr/>
        </p:nvSpPr>
        <p:spPr>
          <a:xfrm>
            <a:off x="1639073" y="3704925"/>
            <a:ext cx="14853325" cy="5299352"/>
          </a:xfrm>
          <a:prstGeom prst="rect">
            <a:avLst/>
          </a:prstGeom>
        </p:spPr>
        <p:txBody>
          <a:bodyPr lIns="0" tIns="0" rIns="0" bIns="0" rtlCol="0" anchor="t">
            <a:spAutoFit/>
          </a:bodyPr>
          <a:lstStyle/>
          <a:p>
            <a:pPr algn="just">
              <a:lnSpc>
                <a:spcPts val="4154"/>
              </a:lnSpc>
              <a:spcBef>
                <a:spcPct val="0"/>
              </a:spcBef>
            </a:pPr>
            <a:r>
              <a:rPr lang="en-US" sz="3296" spc="-184">
                <a:solidFill>
                  <a:srgbClr val="FFFFFF"/>
                </a:solidFill>
                <a:latin typeface="Times New Roman MT"/>
                <a:ea typeface="Times New Roman MT"/>
                <a:cs typeface="Times New Roman MT"/>
                <a:sym typeface="Times New Roman MT"/>
              </a:rPr>
              <a:t> Legal case management involves handling a large amount of information, such as case details, clients, lawyers, judges, hearings, documents, and judgments. When these records are managed manually or stored across different files, it can become difficult to find information, track case progress, monitor hearings, and understand the workload of legal professionals. The proposed Case File Management &amp; Analytics Portal is a centralized web application designed to make legal case management simpler and more organized. The system will store case-related information in a structured MySQL database, allowing users to easily add, update, search, and retrieve records. By connecting cases with their clients, lawyers, judges, hearings, documents, and judgments, the system provides a clear view of the complete history and current status of each case. </a:t>
            </a:r>
          </a:p>
        </p:txBody>
      </p:sp>
      <p:sp>
        <p:nvSpPr>
          <p:cNvPr id="7" name="Freeform 7"/>
          <p:cNvSpPr/>
          <p:nvPr/>
        </p:nvSpPr>
        <p:spPr>
          <a:xfrm>
            <a:off x="0" y="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2"/>
            <a:stretch>
              <a:fillRect/>
            </a:stretch>
          </a:blipFill>
        </p:spPr>
      </p:sp>
      <p:sp>
        <p:nvSpPr>
          <p:cNvPr id="8" name="Freeform 8"/>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0999"/>
            </a:blip>
            <a:stretch>
              <a:fillRect/>
            </a:stretch>
          </a:blipFill>
        </p:spPr>
      </p:sp>
      <p:sp>
        <p:nvSpPr>
          <p:cNvPr id="9" name="Freeform 9"/>
          <p:cNvSpPr/>
          <p:nvPr/>
        </p:nvSpPr>
        <p:spPr>
          <a:xfrm>
            <a:off x="-1231290" y="6163012"/>
            <a:ext cx="12299674" cy="5143500"/>
          </a:xfrm>
          <a:custGeom>
            <a:avLst/>
            <a:gdLst/>
            <a:ahLst/>
            <a:cxnLst/>
            <a:rect l="l" t="t" r="r" b="b"/>
            <a:pathLst>
              <a:path w="12299674" h="5143500">
                <a:moveTo>
                  <a:pt x="0" y="0"/>
                </a:moveTo>
                <a:lnTo>
                  <a:pt x="12299673" y="0"/>
                </a:lnTo>
                <a:lnTo>
                  <a:pt x="12299673" y="5143500"/>
                </a:lnTo>
                <a:lnTo>
                  <a:pt x="0" y="5143500"/>
                </a:lnTo>
                <a:lnTo>
                  <a:pt x="0" y="0"/>
                </a:lnTo>
                <a:close/>
              </a:path>
            </a:pathLst>
          </a:custGeom>
          <a:blipFill>
            <a:blip r:embed="rId4">
              <a:alphaModFix amt="10999"/>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grpSp>
        <p:nvGrpSpPr>
          <p:cNvPr id="2" name="Group 2"/>
          <p:cNvGrpSpPr/>
          <p:nvPr/>
        </p:nvGrpSpPr>
        <p:grpSpPr>
          <a:xfrm>
            <a:off x="885291" y="3243671"/>
            <a:ext cx="16360888" cy="6307586"/>
            <a:chOff x="0" y="0"/>
            <a:chExt cx="4309041" cy="1661257"/>
          </a:xfrm>
        </p:grpSpPr>
        <p:sp>
          <p:nvSpPr>
            <p:cNvPr id="3" name="Freeform 3"/>
            <p:cNvSpPr/>
            <p:nvPr/>
          </p:nvSpPr>
          <p:spPr>
            <a:xfrm>
              <a:off x="0" y="0"/>
              <a:ext cx="4309040" cy="1661257"/>
            </a:xfrm>
            <a:custGeom>
              <a:avLst/>
              <a:gdLst/>
              <a:ahLst/>
              <a:cxnLst/>
              <a:rect l="l" t="t" r="r" b="b"/>
              <a:pathLst>
                <a:path w="4309040" h="1661257">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id="4" name="TextBox 4"/>
            <p:cNvSpPr txBox="1"/>
            <p:nvPr/>
          </p:nvSpPr>
          <p:spPr>
            <a:xfrm>
              <a:off x="0" y="-28575"/>
              <a:ext cx="4309041" cy="1689832"/>
            </a:xfrm>
            <a:prstGeom prst="rect">
              <a:avLst/>
            </a:prstGeom>
          </p:spPr>
          <p:txBody>
            <a:bodyPr lIns="50800" tIns="50800" rIns="50800" bIns="50800" rtlCol="0" anchor="ctr"/>
            <a:lstStyle/>
            <a:p>
              <a:pPr algn="ctr">
                <a:lnSpc>
                  <a:spcPts val="2015"/>
                </a:lnSpc>
              </a:pPr>
              <a:endParaRPr/>
            </a:p>
          </p:txBody>
        </p:sp>
      </p:grpSp>
      <p:sp>
        <p:nvSpPr>
          <p:cNvPr id="5" name="TextBox 5"/>
          <p:cNvSpPr txBox="1"/>
          <p:nvPr/>
        </p:nvSpPr>
        <p:spPr>
          <a:xfrm>
            <a:off x="1105241" y="1840847"/>
            <a:ext cx="13389009" cy="1188373"/>
          </a:xfrm>
          <a:prstGeom prst="rect">
            <a:avLst/>
          </a:prstGeom>
        </p:spPr>
        <p:txBody>
          <a:bodyPr lIns="0" tIns="0" rIns="0" bIns="0" rtlCol="0" anchor="t">
            <a:spAutoFit/>
          </a:bodyPr>
          <a:lstStyle/>
          <a:p>
            <a:pPr algn="l">
              <a:lnSpc>
                <a:spcPts val="7582"/>
              </a:lnSpc>
            </a:pPr>
            <a:r>
              <a:rPr lang="en-US" sz="8066" b="1" spc="-379">
                <a:solidFill>
                  <a:srgbClr val="FFFFFF"/>
                </a:solidFill>
                <a:latin typeface="Times New Roman MT Ultra-Bold"/>
                <a:ea typeface="Times New Roman MT Ultra-Bold"/>
                <a:cs typeface="Times New Roman MT Ultra-Bold"/>
                <a:sym typeface="Times New Roman MT Ultra-Bold"/>
              </a:rPr>
              <a:t>Abstract</a:t>
            </a:r>
          </a:p>
        </p:txBody>
      </p:sp>
      <p:sp>
        <p:nvSpPr>
          <p:cNvPr id="6" name="TextBox 6"/>
          <p:cNvSpPr txBox="1"/>
          <p:nvPr/>
        </p:nvSpPr>
        <p:spPr>
          <a:xfrm>
            <a:off x="1639073" y="3704925"/>
            <a:ext cx="14853325" cy="4775477"/>
          </a:xfrm>
          <a:prstGeom prst="rect">
            <a:avLst/>
          </a:prstGeom>
        </p:spPr>
        <p:txBody>
          <a:bodyPr lIns="0" tIns="0" rIns="0" bIns="0" rtlCol="0" anchor="t">
            <a:spAutoFit/>
          </a:bodyPr>
          <a:lstStyle/>
          <a:p>
            <a:pPr algn="just">
              <a:lnSpc>
                <a:spcPts val="4154"/>
              </a:lnSpc>
              <a:spcBef>
                <a:spcPct val="0"/>
              </a:spcBef>
            </a:pPr>
            <a:r>
              <a:rPr lang="en-US" sz="3296" spc="-184">
                <a:solidFill>
                  <a:srgbClr val="FFFFFF"/>
                </a:solidFill>
                <a:latin typeface="Times New Roman MT"/>
                <a:ea typeface="Times New Roman MT"/>
                <a:cs typeface="Times New Roman MT"/>
                <a:sym typeface="Times New Roman MT"/>
              </a:rPr>
              <a:t>The portal will also include SQL-based analytics to provide useful insights, such as pending and resolved cases, case distribution by type and status, active cases handled by lawyers, hearing statistics, document counts, and average case duration. These results will be presented through summary tables and dashboard metrics to make the information easier to understand. Overall, the project aims to improve the organization, consistency, accessibility, and retrieval of legal information while demonstrating key Database Management System concepts such as relational schema design, normalization, primary and foreign keys, constraints, joins, filtering, grouping, and aggregate queries. The system will be developed using React for the frontend, Node.js for the backend, and MySQL for database management.</a:t>
            </a:r>
          </a:p>
        </p:txBody>
      </p:sp>
      <p:sp>
        <p:nvSpPr>
          <p:cNvPr id="7" name="Freeform 7"/>
          <p:cNvSpPr/>
          <p:nvPr/>
        </p:nvSpPr>
        <p:spPr>
          <a:xfrm>
            <a:off x="0" y="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2"/>
            <a:stretch>
              <a:fillRect/>
            </a:stretch>
          </a:blipFill>
        </p:spPr>
      </p:sp>
      <p:sp>
        <p:nvSpPr>
          <p:cNvPr id="8" name="Freeform 8"/>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3">
              <a:alphaModFix amt="20999"/>
            </a:blip>
            <a:stretch>
              <a:fillRect/>
            </a:stretch>
          </a:blipFill>
        </p:spPr>
      </p:sp>
      <p:sp>
        <p:nvSpPr>
          <p:cNvPr id="9" name="Freeform 9"/>
          <p:cNvSpPr/>
          <p:nvPr/>
        </p:nvSpPr>
        <p:spPr>
          <a:xfrm>
            <a:off x="-1231290" y="6163012"/>
            <a:ext cx="12299674" cy="5143500"/>
          </a:xfrm>
          <a:custGeom>
            <a:avLst/>
            <a:gdLst/>
            <a:ahLst/>
            <a:cxnLst/>
            <a:rect l="l" t="t" r="r" b="b"/>
            <a:pathLst>
              <a:path w="12299674" h="5143500">
                <a:moveTo>
                  <a:pt x="0" y="0"/>
                </a:moveTo>
                <a:lnTo>
                  <a:pt x="12299673" y="0"/>
                </a:lnTo>
                <a:lnTo>
                  <a:pt x="12299673" y="5143500"/>
                </a:lnTo>
                <a:lnTo>
                  <a:pt x="0" y="5143500"/>
                </a:lnTo>
                <a:lnTo>
                  <a:pt x="0" y="0"/>
                </a:lnTo>
                <a:close/>
              </a:path>
            </a:pathLst>
          </a:custGeom>
          <a:blipFill>
            <a:blip r:embed="rId4">
              <a:alphaModFix amt="10999"/>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grpSp>
        <p:nvGrpSpPr>
          <p:cNvPr id="2" name="Group 2"/>
          <p:cNvGrpSpPr/>
          <p:nvPr/>
        </p:nvGrpSpPr>
        <p:grpSpPr>
          <a:xfrm>
            <a:off x="885291" y="3243671"/>
            <a:ext cx="16863716" cy="6496147"/>
            <a:chOff x="0" y="0"/>
            <a:chExt cx="4441473" cy="1710919"/>
          </a:xfrm>
        </p:grpSpPr>
        <p:sp>
          <p:nvSpPr>
            <p:cNvPr id="3" name="Freeform 3"/>
            <p:cNvSpPr/>
            <p:nvPr/>
          </p:nvSpPr>
          <p:spPr>
            <a:xfrm>
              <a:off x="0" y="0"/>
              <a:ext cx="4441473" cy="1710919"/>
            </a:xfrm>
            <a:custGeom>
              <a:avLst/>
              <a:gdLst/>
              <a:ahLst/>
              <a:cxnLst/>
              <a:rect l="l" t="t" r="r" b="b"/>
              <a:pathLst>
                <a:path w="4441473" h="1710919">
                  <a:moveTo>
                    <a:pt x="42695" y="0"/>
                  </a:moveTo>
                  <a:lnTo>
                    <a:pt x="4398778" y="0"/>
                  </a:lnTo>
                  <a:cubicBezTo>
                    <a:pt x="4410101" y="0"/>
                    <a:pt x="4420961" y="4498"/>
                    <a:pt x="4428968" y="12505"/>
                  </a:cubicBezTo>
                  <a:cubicBezTo>
                    <a:pt x="4436975" y="20512"/>
                    <a:pt x="4441473" y="31372"/>
                    <a:pt x="4441473" y="42695"/>
                  </a:cubicBezTo>
                  <a:lnTo>
                    <a:pt x="4441473" y="1668224"/>
                  </a:lnTo>
                  <a:cubicBezTo>
                    <a:pt x="4441473" y="1679547"/>
                    <a:pt x="4436975" y="1690407"/>
                    <a:pt x="4428968" y="1698414"/>
                  </a:cubicBezTo>
                  <a:cubicBezTo>
                    <a:pt x="4420961" y="1706421"/>
                    <a:pt x="4410101" y="1710919"/>
                    <a:pt x="4398778" y="1710919"/>
                  </a:cubicBezTo>
                  <a:lnTo>
                    <a:pt x="42695" y="1710919"/>
                  </a:lnTo>
                  <a:cubicBezTo>
                    <a:pt x="31372" y="1710919"/>
                    <a:pt x="20512" y="1706421"/>
                    <a:pt x="12505" y="1698414"/>
                  </a:cubicBezTo>
                  <a:cubicBezTo>
                    <a:pt x="4498" y="1690407"/>
                    <a:pt x="0" y="1679547"/>
                    <a:pt x="0" y="1668224"/>
                  </a:cubicBezTo>
                  <a:lnTo>
                    <a:pt x="0" y="42695"/>
                  </a:lnTo>
                  <a:cubicBezTo>
                    <a:pt x="0" y="31372"/>
                    <a:pt x="4498" y="20512"/>
                    <a:pt x="12505" y="12505"/>
                  </a:cubicBezTo>
                  <a:cubicBezTo>
                    <a:pt x="20512" y="4498"/>
                    <a:pt x="31372" y="0"/>
                    <a:pt x="42695" y="0"/>
                  </a:cubicBezTo>
                  <a:close/>
                </a:path>
              </a:pathLst>
            </a:custGeom>
            <a:solidFill>
              <a:srgbClr val="424242"/>
            </a:solidFill>
            <a:ln w="19050" cap="rnd">
              <a:solidFill>
                <a:srgbClr val="D0D7DD"/>
              </a:solidFill>
              <a:prstDash val="solid"/>
              <a:round/>
            </a:ln>
          </p:spPr>
        </p:sp>
        <p:sp>
          <p:nvSpPr>
            <p:cNvPr id="4" name="TextBox 4"/>
            <p:cNvSpPr txBox="1"/>
            <p:nvPr/>
          </p:nvSpPr>
          <p:spPr>
            <a:xfrm>
              <a:off x="0" y="-28575"/>
              <a:ext cx="4441473" cy="1739494"/>
            </a:xfrm>
            <a:prstGeom prst="rect">
              <a:avLst/>
            </a:prstGeom>
          </p:spPr>
          <p:txBody>
            <a:bodyPr lIns="50800" tIns="50800" rIns="50800" bIns="50800" rtlCol="0" anchor="ctr"/>
            <a:lstStyle/>
            <a:p>
              <a:pPr algn="ctr">
                <a:lnSpc>
                  <a:spcPts val="2015"/>
                </a:lnSpc>
              </a:pPr>
              <a:endParaRPr/>
            </a:p>
          </p:txBody>
        </p:sp>
      </p:grpSp>
      <p:sp>
        <p:nvSpPr>
          <p:cNvPr id="5" name="Freeform 5"/>
          <p:cNvSpPr/>
          <p:nvPr/>
        </p:nvSpPr>
        <p:spPr>
          <a:xfrm>
            <a:off x="955620" y="3488439"/>
            <a:ext cx="5351819" cy="2460122"/>
          </a:xfrm>
          <a:custGeom>
            <a:avLst/>
            <a:gdLst/>
            <a:ahLst/>
            <a:cxnLst/>
            <a:rect l="l" t="t" r="r" b="b"/>
            <a:pathLst>
              <a:path w="5304586" h="2387064">
                <a:moveTo>
                  <a:pt x="0" y="0"/>
                </a:moveTo>
                <a:lnTo>
                  <a:pt x="5304586" y="0"/>
                </a:lnTo>
                <a:lnTo>
                  <a:pt x="5304586" y="2387064"/>
                </a:lnTo>
                <a:lnTo>
                  <a:pt x="0" y="23870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1105241" y="1840847"/>
            <a:ext cx="13389009" cy="1188373"/>
          </a:xfrm>
          <a:prstGeom prst="rect">
            <a:avLst/>
          </a:prstGeom>
        </p:spPr>
        <p:txBody>
          <a:bodyPr lIns="0" tIns="0" rIns="0" bIns="0" rtlCol="0" anchor="t">
            <a:spAutoFit/>
          </a:bodyPr>
          <a:lstStyle/>
          <a:p>
            <a:pPr algn="l">
              <a:lnSpc>
                <a:spcPts val="7582"/>
              </a:lnSpc>
            </a:pPr>
            <a:r>
              <a:rPr lang="en-US" sz="8066" b="1" spc="-379">
                <a:solidFill>
                  <a:srgbClr val="FFFFFF"/>
                </a:solidFill>
                <a:latin typeface="Times New Roman MT Ultra-Bold"/>
                <a:ea typeface="Times New Roman MT Ultra-Bold"/>
                <a:cs typeface="Times New Roman MT Ultra-Bold"/>
                <a:sym typeface="Times New Roman MT Ultra-Bold"/>
              </a:rPr>
              <a:t>Methodology</a:t>
            </a:r>
          </a:p>
        </p:txBody>
      </p:sp>
      <p:sp>
        <p:nvSpPr>
          <p:cNvPr id="7" name="Freeform 7"/>
          <p:cNvSpPr/>
          <p:nvPr/>
        </p:nvSpPr>
        <p:spPr>
          <a:xfrm>
            <a:off x="0" y="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3"/>
            <a:stretch>
              <a:fillRect/>
            </a:stretch>
          </a:blipFill>
        </p:spPr>
      </p:sp>
      <p:sp>
        <p:nvSpPr>
          <p:cNvPr id="8" name="Freeform 8"/>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4">
              <a:alphaModFix amt="20999"/>
            </a:blip>
            <a:stretch>
              <a:fillRect/>
            </a:stretch>
          </a:blipFill>
        </p:spPr>
      </p:sp>
      <p:sp>
        <p:nvSpPr>
          <p:cNvPr id="9" name="Freeform 9"/>
          <p:cNvSpPr/>
          <p:nvPr/>
        </p:nvSpPr>
        <p:spPr>
          <a:xfrm>
            <a:off x="-1231290" y="6163012"/>
            <a:ext cx="12299674" cy="5143500"/>
          </a:xfrm>
          <a:custGeom>
            <a:avLst/>
            <a:gdLst/>
            <a:ahLst/>
            <a:cxnLst/>
            <a:rect l="l" t="t" r="r" b="b"/>
            <a:pathLst>
              <a:path w="12299674" h="5143500">
                <a:moveTo>
                  <a:pt x="0" y="0"/>
                </a:moveTo>
                <a:lnTo>
                  <a:pt x="12299673" y="0"/>
                </a:lnTo>
                <a:lnTo>
                  <a:pt x="12299673" y="5143500"/>
                </a:lnTo>
                <a:lnTo>
                  <a:pt x="0" y="5143500"/>
                </a:lnTo>
                <a:lnTo>
                  <a:pt x="0" y="0"/>
                </a:lnTo>
                <a:close/>
              </a:path>
            </a:pathLst>
          </a:custGeom>
          <a:blipFill>
            <a:blip r:embed="rId5">
              <a:alphaModFix amt="10999"/>
            </a:blip>
            <a:stretch>
              <a:fillRect/>
            </a:stretch>
          </a:blipFill>
        </p:spPr>
      </p:sp>
      <p:sp>
        <p:nvSpPr>
          <p:cNvPr id="10" name="TextBox 10"/>
          <p:cNvSpPr txBox="1"/>
          <p:nvPr/>
        </p:nvSpPr>
        <p:spPr>
          <a:xfrm>
            <a:off x="1028700" y="3513503"/>
            <a:ext cx="5424386" cy="2269490"/>
          </a:xfrm>
          <a:prstGeom prst="rect">
            <a:avLst/>
          </a:prstGeom>
        </p:spPr>
        <p:txBody>
          <a:bodyPr lIns="0" tIns="0" rIns="0" bIns="0" rtlCol="0" anchor="t">
            <a:spAutoFit/>
          </a:bodyPr>
          <a:lstStyle/>
          <a:p>
            <a:pPr algn="ctr">
              <a:lnSpc>
                <a:spcPts val="4759"/>
              </a:lnSpc>
            </a:pPr>
            <a:r>
              <a:rPr lang="en-US" sz="3399" b="1" dirty="0">
                <a:solidFill>
                  <a:srgbClr val="000000"/>
                </a:solidFill>
                <a:latin typeface="Canva Sans Bold"/>
                <a:ea typeface="Canva Sans Bold"/>
                <a:cs typeface="Canva Sans Bold"/>
                <a:sym typeface="Canva Sans Bold"/>
              </a:rPr>
              <a:t>Requirement Analysis</a:t>
            </a:r>
          </a:p>
          <a:p>
            <a:pPr algn="l">
              <a:lnSpc>
                <a:spcPts val="3360"/>
              </a:lnSpc>
            </a:pPr>
            <a:r>
              <a:rPr lang="en-US" sz="2400" dirty="0">
                <a:solidFill>
                  <a:srgbClr val="000000"/>
                </a:solidFill>
                <a:latin typeface="Canva Sans"/>
                <a:ea typeface="Canva Sans"/>
                <a:cs typeface="Canva Sans"/>
                <a:sym typeface="Canva Sans"/>
              </a:rPr>
              <a:t>Identify the information that needs to be managed, including cases, clients, lawyers, judges, hearings, documents, and judgments.</a:t>
            </a:r>
          </a:p>
        </p:txBody>
      </p:sp>
      <p:sp>
        <p:nvSpPr>
          <p:cNvPr id="11" name="Freeform 11"/>
          <p:cNvSpPr/>
          <p:nvPr/>
        </p:nvSpPr>
        <p:spPr>
          <a:xfrm>
            <a:off x="6453086" y="3425817"/>
            <a:ext cx="5722332" cy="2575049"/>
          </a:xfrm>
          <a:custGeom>
            <a:avLst/>
            <a:gdLst/>
            <a:ahLst/>
            <a:cxnLst/>
            <a:rect l="l" t="t" r="r" b="b"/>
            <a:pathLst>
              <a:path w="5722332" h="2575049">
                <a:moveTo>
                  <a:pt x="0" y="0"/>
                </a:moveTo>
                <a:lnTo>
                  <a:pt x="5722332" y="0"/>
                </a:lnTo>
                <a:lnTo>
                  <a:pt x="5722332" y="2575049"/>
                </a:lnTo>
                <a:lnTo>
                  <a:pt x="0" y="257504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2" name="TextBox 12"/>
          <p:cNvSpPr txBox="1"/>
          <p:nvPr/>
        </p:nvSpPr>
        <p:spPr>
          <a:xfrm>
            <a:off x="7043430" y="3500549"/>
            <a:ext cx="4575307" cy="2414326"/>
          </a:xfrm>
          <a:prstGeom prst="rect">
            <a:avLst/>
          </a:prstGeom>
        </p:spPr>
        <p:txBody>
          <a:bodyPr lIns="0" tIns="0" rIns="0" bIns="0" rtlCol="0" anchor="t">
            <a:spAutoFit/>
          </a:bodyPr>
          <a:lstStyle/>
          <a:p>
            <a:pPr algn="ctr">
              <a:lnSpc>
                <a:spcPts val="4279"/>
              </a:lnSpc>
            </a:pPr>
            <a:r>
              <a:rPr lang="en-US" sz="3056" b="1">
                <a:solidFill>
                  <a:srgbClr val="000000"/>
                </a:solidFill>
                <a:latin typeface="Canva Sans Bold"/>
                <a:ea typeface="Canva Sans Bold"/>
                <a:cs typeface="Canva Sans Bold"/>
                <a:sym typeface="Canva Sans Bold"/>
              </a:rPr>
              <a:t>Frontend Development</a:t>
            </a:r>
          </a:p>
          <a:p>
            <a:pPr algn="l">
              <a:lnSpc>
                <a:spcPts val="3020"/>
              </a:lnSpc>
            </a:pPr>
            <a:r>
              <a:rPr lang="en-US" sz="2157">
                <a:solidFill>
                  <a:srgbClr val="000000"/>
                </a:solidFill>
                <a:latin typeface="Canva Sans"/>
                <a:ea typeface="Canva Sans"/>
                <a:cs typeface="Canva Sans"/>
                <a:sym typeface="Canva Sans"/>
              </a:rPr>
              <a:t> Develop the user interface using React, HTML, CSS, and JavaScript. The interface will allow users to add, update, search, and retrieve case information.</a:t>
            </a:r>
          </a:p>
        </p:txBody>
      </p:sp>
      <p:sp>
        <p:nvSpPr>
          <p:cNvPr id="13" name="Freeform 13"/>
          <p:cNvSpPr/>
          <p:nvPr/>
        </p:nvSpPr>
        <p:spPr>
          <a:xfrm>
            <a:off x="12209081" y="3441733"/>
            <a:ext cx="5466846" cy="2485142"/>
          </a:xfrm>
          <a:custGeom>
            <a:avLst/>
            <a:gdLst/>
            <a:ahLst/>
            <a:cxnLst/>
            <a:rect l="l" t="t" r="r" b="b"/>
            <a:pathLst>
              <a:path w="5304586" h="2387064">
                <a:moveTo>
                  <a:pt x="0" y="0"/>
                </a:moveTo>
                <a:lnTo>
                  <a:pt x="5304586" y="0"/>
                </a:lnTo>
                <a:lnTo>
                  <a:pt x="5304586" y="2387064"/>
                </a:lnTo>
                <a:lnTo>
                  <a:pt x="0" y="238706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4" name="TextBox 14"/>
          <p:cNvSpPr txBox="1"/>
          <p:nvPr/>
        </p:nvSpPr>
        <p:spPr>
          <a:xfrm>
            <a:off x="12598618" y="3407575"/>
            <a:ext cx="4519858" cy="3469283"/>
          </a:xfrm>
          <a:prstGeom prst="rect">
            <a:avLst/>
          </a:prstGeom>
        </p:spPr>
        <p:txBody>
          <a:bodyPr wrap="square" lIns="0" tIns="0" rIns="0" bIns="0" rtlCol="0" anchor="t">
            <a:spAutoFit/>
          </a:bodyPr>
          <a:lstStyle/>
          <a:p>
            <a:pPr>
              <a:lnSpc>
                <a:spcPts val="4635"/>
              </a:lnSpc>
            </a:pPr>
            <a:r>
              <a:rPr lang="en-US" sz="3200" b="1" dirty="0">
                <a:solidFill>
                  <a:srgbClr val="000000"/>
                </a:solidFill>
                <a:latin typeface="Canva Sans Bold"/>
                <a:ea typeface="Canva Sans Bold"/>
                <a:cs typeface="Canva Sans Bold"/>
                <a:sym typeface="Canva Sans Bold"/>
              </a:rPr>
              <a:t>Backend Development</a:t>
            </a:r>
          </a:p>
          <a:p>
            <a:pPr>
              <a:lnSpc>
                <a:spcPts val="4635"/>
              </a:lnSpc>
            </a:pPr>
            <a:r>
              <a:rPr lang="en-US" sz="2400" dirty="0">
                <a:solidFill>
                  <a:srgbClr val="000000"/>
                </a:solidFill>
                <a:latin typeface="Canva Sans"/>
                <a:ea typeface="Canva Sans"/>
                <a:cs typeface="Canva Sans"/>
                <a:sym typeface="Canva Sans"/>
              </a:rPr>
              <a:t>Use Node.js to handle communication between the frontend and MySQL database and process user requests.</a:t>
            </a:r>
          </a:p>
          <a:p>
            <a:pPr algn="ctr">
              <a:lnSpc>
                <a:spcPts val="4635"/>
              </a:lnSpc>
            </a:pPr>
            <a:endParaRPr lang="en-US" sz="2337" dirty="0">
              <a:solidFill>
                <a:srgbClr val="000000"/>
              </a:solidFill>
              <a:latin typeface="Canva Sans"/>
              <a:ea typeface="Canva Sans"/>
              <a:cs typeface="Canva Sans"/>
              <a:sym typeface="Canva Sans"/>
            </a:endParaRPr>
          </a:p>
        </p:txBody>
      </p:sp>
      <p:sp>
        <p:nvSpPr>
          <p:cNvPr id="15" name="Freeform 15"/>
          <p:cNvSpPr/>
          <p:nvPr/>
        </p:nvSpPr>
        <p:spPr>
          <a:xfrm>
            <a:off x="952577" y="6004598"/>
            <a:ext cx="7776503" cy="3499426"/>
          </a:xfrm>
          <a:custGeom>
            <a:avLst/>
            <a:gdLst/>
            <a:ahLst/>
            <a:cxnLst/>
            <a:rect l="l" t="t" r="r" b="b"/>
            <a:pathLst>
              <a:path w="7776503" h="3499426">
                <a:moveTo>
                  <a:pt x="0" y="0"/>
                </a:moveTo>
                <a:lnTo>
                  <a:pt x="7776503" y="0"/>
                </a:lnTo>
                <a:lnTo>
                  <a:pt x="7776503" y="3499427"/>
                </a:lnTo>
                <a:lnTo>
                  <a:pt x="0" y="3499427"/>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6" name="TextBox 16"/>
          <p:cNvSpPr txBox="1"/>
          <p:nvPr/>
        </p:nvSpPr>
        <p:spPr>
          <a:xfrm>
            <a:off x="1028700" y="6376679"/>
            <a:ext cx="7624257" cy="2688590"/>
          </a:xfrm>
          <a:prstGeom prst="rect">
            <a:avLst/>
          </a:prstGeom>
        </p:spPr>
        <p:txBody>
          <a:bodyPr lIns="0" tIns="0" rIns="0" bIns="0" rtlCol="0" anchor="t">
            <a:spAutoFit/>
          </a:bodyPr>
          <a:lstStyle/>
          <a:p>
            <a:pPr algn="ctr">
              <a:lnSpc>
                <a:spcPts val="4759"/>
              </a:lnSpc>
            </a:pPr>
            <a:r>
              <a:rPr lang="en-US" sz="3399" b="1">
                <a:solidFill>
                  <a:srgbClr val="000000"/>
                </a:solidFill>
                <a:latin typeface="Canva Sans Bold"/>
                <a:ea typeface="Canva Sans Bold"/>
                <a:cs typeface="Canva Sans Bold"/>
                <a:sym typeface="Canva Sans Bold"/>
              </a:rPr>
              <a:t>SQL-Based Analytics</a:t>
            </a:r>
          </a:p>
          <a:p>
            <a:pPr algn="just">
              <a:lnSpc>
                <a:spcPts val="3360"/>
              </a:lnSpc>
            </a:pPr>
            <a:r>
              <a:rPr lang="en-US" sz="2400">
                <a:solidFill>
                  <a:srgbClr val="000000"/>
                </a:solidFill>
                <a:latin typeface="Canva Sans"/>
                <a:ea typeface="Canva Sans"/>
                <a:cs typeface="Canva Sans"/>
                <a:sym typeface="Canva Sans"/>
              </a:rPr>
              <a:t> Create SQL queries using joins, filtering, grouping, and aggregate functions to generate information such as pending/resolved cases, lawyer workloads, hearing statistics, document counts, and average case duration.</a:t>
            </a:r>
          </a:p>
        </p:txBody>
      </p:sp>
      <p:sp>
        <p:nvSpPr>
          <p:cNvPr id="17" name="Freeform 17"/>
          <p:cNvSpPr/>
          <p:nvPr/>
        </p:nvSpPr>
        <p:spPr>
          <a:xfrm>
            <a:off x="9317149" y="6000866"/>
            <a:ext cx="7880781" cy="3546351"/>
          </a:xfrm>
          <a:custGeom>
            <a:avLst/>
            <a:gdLst/>
            <a:ahLst/>
            <a:cxnLst/>
            <a:rect l="l" t="t" r="r" b="b"/>
            <a:pathLst>
              <a:path w="7880781" h="3546351">
                <a:moveTo>
                  <a:pt x="0" y="0"/>
                </a:moveTo>
                <a:lnTo>
                  <a:pt x="7880781" y="0"/>
                </a:lnTo>
                <a:lnTo>
                  <a:pt x="7880781" y="3546352"/>
                </a:lnTo>
                <a:lnTo>
                  <a:pt x="0" y="354635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8" name="TextBox 18"/>
          <p:cNvSpPr txBox="1"/>
          <p:nvPr/>
        </p:nvSpPr>
        <p:spPr>
          <a:xfrm>
            <a:off x="9445411" y="6376679"/>
            <a:ext cx="7624257" cy="2269490"/>
          </a:xfrm>
          <a:prstGeom prst="rect">
            <a:avLst/>
          </a:prstGeom>
        </p:spPr>
        <p:txBody>
          <a:bodyPr lIns="0" tIns="0" rIns="0" bIns="0" rtlCol="0" anchor="t">
            <a:spAutoFit/>
          </a:bodyPr>
          <a:lstStyle/>
          <a:p>
            <a:pPr algn="ctr">
              <a:lnSpc>
                <a:spcPts val="4759"/>
              </a:lnSpc>
            </a:pPr>
            <a:r>
              <a:rPr lang="en-US" sz="3399" b="1" dirty="0">
                <a:solidFill>
                  <a:srgbClr val="000000"/>
                </a:solidFill>
                <a:latin typeface="Canva Sans Bold"/>
                <a:ea typeface="Canva Sans Bold"/>
                <a:cs typeface="Canva Sans Bold"/>
                <a:sym typeface="Canva Sans Bold"/>
              </a:rPr>
              <a:t>Dashboard &amp; Testing</a:t>
            </a:r>
          </a:p>
          <a:p>
            <a:pPr algn="just">
              <a:lnSpc>
                <a:spcPts val="3360"/>
              </a:lnSpc>
            </a:pPr>
            <a:r>
              <a:rPr lang="en-US" sz="2400" dirty="0">
                <a:solidFill>
                  <a:srgbClr val="000000"/>
                </a:solidFill>
                <a:latin typeface="Canva Sans"/>
                <a:ea typeface="Canva Sans"/>
                <a:cs typeface="Canva Sans"/>
                <a:sym typeface="Canva Sans"/>
              </a:rPr>
              <a:t> Present the analytical results through summary tables and dashboard metrics, and test the system to ensure that data can be correctly added, updated, retrieved, and analyzed.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24242"/>
        </a:solidFill>
        <a:effectLst/>
      </p:bgPr>
    </p:bg>
    <p:spTree>
      <p:nvGrpSpPr>
        <p:cNvPr id="1" name=""/>
        <p:cNvGrpSpPr/>
        <p:nvPr/>
      </p:nvGrpSpPr>
      <p:grpSpPr>
        <a:xfrm>
          <a:off x="0" y="0"/>
          <a:ext cx="0" cy="0"/>
          <a:chOff x="0" y="0"/>
          <a:chExt cx="0" cy="0"/>
        </a:xfrm>
      </p:grpSpPr>
      <p:sp>
        <p:nvSpPr>
          <p:cNvPr id="2" name="TextBox 2"/>
          <p:cNvSpPr txBox="1"/>
          <p:nvPr/>
        </p:nvSpPr>
        <p:spPr>
          <a:xfrm>
            <a:off x="197246" y="2061785"/>
            <a:ext cx="17348777" cy="2000794"/>
          </a:xfrm>
          <a:prstGeom prst="rect">
            <a:avLst/>
          </a:prstGeom>
        </p:spPr>
        <p:txBody>
          <a:bodyPr lIns="0" tIns="0" rIns="0" bIns="0" rtlCol="0" anchor="t">
            <a:spAutoFit/>
          </a:bodyPr>
          <a:lstStyle/>
          <a:p>
            <a:pPr algn="l">
              <a:lnSpc>
                <a:spcPts val="6548"/>
              </a:lnSpc>
            </a:pPr>
            <a:r>
              <a:rPr lang="en-US" sz="6966" b="1" spc="-327">
                <a:solidFill>
                  <a:srgbClr val="FFFFFF"/>
                </a:solidFill>
                <a:latin typeface="Times New Roman MT Ultra-Bold"/>
                <a:ea typeface="Times New Roman MT Ultra-Bold"/>
                <a:cs typeface="Times New Roman MT Ultra-Bold"/>
                <a:sym typeface="Times New Roman MT Ultra-Bold"/>
              </a:rPr>
              <a:t>1.  Software Used   </a:t>
            </a:r>
          </a:p>
          <a:p>
            <a:pPr algn="l">
              <a:lnSpc>
                <a:spcPts val="7582"/>
              </a:lnSpc>
            </a:pPr>
            <a:endParaRPr lang="en-US" sz="6966" b="1" spc="-327">
              <a:solidFill>
                <a:srgbClr val="FFFFFF"/>
              </a:solidFill>
              <a:latin typeface="Times New Roman MT Ultra-Bold"/>
              <a:ea typeface="Times New Roman MT Ultra-Bold"/>
              <a:cs typeface="Times New Roman MT Ultra-Bold"/>
              <a:sym typeface="Times New Roman MT Ultra-Bold"/>
            </a:endParaRPr>
          </a:p>
        </p:txBody>
      </p:sp>
      <p:grpSp>
        <p:nvGrpSpPr>
          <p:cNvPr id="3" name="Group 3"/>
          <p:cNvGrpSpPr/>
          <p:nvPr/>
        </p:nvGrpSpPr>
        <p:grpSpPr>
          <a:xfrm>
            <a:off x="1185135" y="3243671"/>
            <a:ext cx="16360888" cy="6307586"/>
            <a:chOff x="0" y="0"/>
            <a:chExt cx="4309041" cy="1661257"/>
          </a:xfrm>
        </p:grpSpPr>
        <p:sp>
          <p:nvSpPr>
            <p:cNvPr id="4" name="Freeform 4"/>
            <p:cNvSpPr/>
            <p:nvPr/>
          </p:nvSpPr>
          <p:spPr>
            <a:xfrm>
              <a:off x="0" y="0"/>
              <a:ext cx="4309040" cy="1661257"/>
            </a:xfrm>
            <a:custGeom>
              <a:avLst/>
              <a:gdLst/>
              <a:ahLst/>
              <a:cxnLst/>
              <a:rect l="l" t="t" r="r" b="b"/>
              <a:pathLst>
                <a:path w="4309040" h="1661257">
                  <a:moveTo>
                    <a:pt x="44007" y="0"/>
                  </a:moveTo>
                  <a:lnTo>
                    <a:pt x="4265033" y="0"/>
                  </a:lnTo>
                  <a:cubicBezTo>
                    <a:pt x="4276704" y="0"/>
                    <a:pt x="4287898" y="4636"/>
                    <a:pt x="4296151" y="12889"/>
                  </a:cubicBezTo>
                  <a:cubicBezTo>
                    <a:pt x="4304404" y="21142"/>
                    <a:pt x="4309040" y="32336"/>
                    <a:pt x="4309040" y="44007"/>
                  </a:cubicBezTo>
                  <a:lnTo>
                    <a:pt x="4309040" y="1617250"/>
                  </a:lnTo>
                  <a:cubicBezTo>
                    <a:pt x="4309040" y="1628922"/>
                    <a:pt x="4304404" y="1640115"/>
                    <a:pt x="4296151" y="1648368"/>
                  </a:cubicBezTo>
                  <a:cubicBezTo>
                    <a:pt x="4287898" y="1656621"/>
                    <a:pt x="4276704" y="1661257"/>
                    <a:pt x="4265033" y="1661257"/>
                  </a:cubicBezTo>
                  <a:lnTo>
                    <a:pt x="44007" y="1661257"/>
                  </a:lnTo>
                  <a:cubicBezTo>
                    <a:pt x="32336" y="1661257"/>
                    <a:pt x="21142" y="1656621"/>
                    <a:pt x="12889" y="1648368"/>
                  </a:cubicBezTo>
                  <a:cubicBezTo>
                    <a:pt x="4636" y="1640115"/>
                    <a:pt x="0" y="1628922"/>
                    <a:pt x="0" y="161725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id="5" name="TextBox 5"/>
            <p:cNvSpPr txBox="1"/>
            <p:nvPr/>
          </p:nvSpPr>
          <p:spPr>
            <a:xfrm>
              <a:off x="0" y="-28575"/>
              <a:ext cx="4309041" cy="1689832"/>
            </a:xfrm>
            <a:prstGeom prst="rect">
              <a:avLst/>
            </a:prstGeom>
          </p:spPr>
          <p:txBody>
            <a:bodyPr lIns="50800" tIns="50800" rIns="50800" bIns="50800" rtlCol="0" anchor="ctr"/>
            <a:lstStyle/>
            <a:p>
              <a:pPr algn="ctr">
                <a:lnSpc>
                  <a:spcPts val="2015"/>
                </a:lnSpc>
              </a:pPr>
              <a:endParaRPr/>
            </a:p>
          </p:txBody>
        </p:sp>
      </p:grpSp>
      <p:sp>
        <p:nvSpPr>
          <p:cNvPr id="6" name="TextBox 6"/>
          <p:cNvSpPr txBox="1"/>
          <p:nvPr/>
        </p:nvSpPr>
        <p:spPr>
          <a:xfrm>
            <a:off x="4416433" y="4257194"/>
            <a:ext cx="3823614" cy="5795077"/>
          </a:xfrm>
          <a:prstGeom prst="rect">
            <a:avLst/>
          </a:prstGeom>
        </p:spPr>
        <p:txBody>
          <a:bodyPr lIns="0" tIns="0" rIns="0" bIns="0" rtlCol="0" anchor="t">
            <a:spAutoFit/>
          </a:bodyPr>
          <a:lstStyle/>
          <a:p>
            <a:pPr marL="908829" lvl="1" indent="-454414" algn="l">
              <a:lnSpc>
                <a:spcPts val="5303"/>
              </a:lnSpc>
              <a:buFont typeface="Arial"/>
              <a:buChar char="•"/>
            </a:pPr>
            <a:r>
              <a:rPr lang="en-US" sz="4209" spc="-235">
                <a:solidFill>
                  <a:srgbClr val="FFFFFF"/>
                </a:solidFill>
                <a:latin typeface="Times New Roman MT"/>
                <a:ea typeface="Times New Roman MT"/>
                <a:cs typeface="Times New Roman MT"/>
                <a:sym typeface="Times New Roman MT"/>
              </a:rPr>
              <a:t>React                                                </a:t>
            </a:r>
          </a:p>
          <a:p>
            <a:pPr marL="908829" lvl="1" indent="-454414" algn="l">
              <a:lnSpc>
                <a:spcPts val="5303"/>
              </a:lnSpc>
              <a:buFont typeface="Arial"/>
              <a:buChar char="•"/>
            </a:pPr>
            <a:r>
              <a:rPr lang="en-US" sz="4209" spc="-235">
                <a:solidFill>
                  <a:srgbClr val="FFFFFF"/>
                </a:solidFill>
                <a:latin typeface="Times New Roman MT"/>
                <a:ea typeface="Times New Roman MT"/>
                <a:cs typeface="Times New Roman MT"/>
                <a:sym typeface="Times New Roman MT"/>
              </a:rPr>
              <a:t>HTML</a:t>
            </a:r>
          </a:p>
          <a:p>
            <a:pPr marL="908829" lvl="1" indent="-454414" algn="l">
              <a:lnSpc>
                <a:spcPts val="5303"/>
              </a:lnSpc>
              <a:buFont typeface="Arial"/>
              <a:buChar char="•"/>
            </a:pPr>
            <a:r>
              <a:rPr lang="en-US" sz="4209" spc="-235">
                <a:solidFill>
                  <a:srgbClr val="FFFFFF"/>
                </a:solidFill>
                <a:latin typeface="Times New Roman MT"/>
                <a:ea typeface="Times New Roman MT"/>
                <a:cs typeface="Times New Roman MT"/>
                <a:sym typeface="Times New Roman MT"/>
              </a:rPr>
              <a:t>CSS</a:t>
            </a:r>
          </a:p>
          <a:p>
            <a:pPr marL="908829" lvl="1" indent="-454414" algn="l">
              <a:lnSpc>
                <a:spcPts val="5303"/>
              </a:lnSpc>
              <a:buFont typeface="Arial"/>
              <a:buChar char="•"/>
            </a:pPr>
            <a:r>
              <a:rPr lang="en-US" sz="4209" spc="-235">
                <a:solidFill>
                  <a:srgbClr val="FFFFFF"/>
                </a:solidFill>
                <a:latin typeface="Times New Roman MT"/>
                <a:ea typeface="Times New Roman MT"/>
                <a:cs typeface="Times New Roman MT"/>
                <a:sym typeface="Times New Roman MT"/>
              </a:rPr>
              <a:t>JavaScript</a:t>
            </a:r>
          </a:p>
          <a:p>
            <a:pPr marL="908829" lvl="1" indent="-454414" algn="l">
              <a:lnSpc>
                <a:spcPts val="5303"/>
              </a:lnSpc>
              <a:buFont typeface="Arial"/>
              <a:buChar char="•"/>
            </a:pPr>
            <a:r>
              <a:rPr lang="en-US" sz="4209" spc="-235">
                <a:solidFill>
                  <a:srgbClr val="FFFFFF"/>
                </a:solidFill>
                <a:latin typeface="Times New Roman MT"/>
                <a:ea typeface="Times New Roman MT"/>
                <a:cs typeface="Times New Roman MT"/>
                <a:sym typeface="Times New Roman MT"/>
              </a:rPr>
              <a:t>Node.js</a:t>
            </a:r>
          </a:p>
          <a:p>
            <a:pPr algn="l">
              <a:lnSpc>
                <a:spcPts val="5303"/>
              </a:lnSpc>
            </a:pPr>
            <a:endParaRPr lang="en-US" sz="4209" spc="-235">
              <a:solidFill>
                <a:srgbClr val="FFFFFF"/>
              </a:solidFill>
              <a:latin typeface="Times New Roman MT"/>
              <a:ea typeface="Times New Roman MT"/>
              <a:cs typeface="Times New Roman MT"/>
              <a:sym typeface="Times New Roman MT"/>
            </a:endParaRPr>
          </a:p>
          <a:p>
            <a:pPr algn="l">
              <a:lnSpc>
                <a:spcPts val="4487"/>
              </a:lnSpc>
            </a:pPr>
            <a:endParaRPr lang="en-US" sz="4209" spc="-235">
              <a:solidFill>
                <a:srgbClr val="FFFFFF"/>
              </a:solidFill>
              <a:latin typeface="Times New Roman MT"/>
              <a:ea typeface="Times New Roman MT"/>
              <a:cs typeface="Times New Roman MT"/>
              <a:sym typeface="Times New Roman MT"/>
            </a:endParaRPr>
          </a:p>
          <a:p>
            <a:pPr algn="l">
              <a:lnSpc>
                <a:spcPts val="4487"/>
              </a:lnSpc>
            </a:pPr>
            <a:endParaRPr lang="en-US" sz="4209" spc="-235">
              <a:solidFill>
                <a:srgbClr val="FFFFFF"/>
              </a:solidFill>
              <a:latin typeface="Times New Roman MT"/>
              <a:ea typeface="Times New Roman MT"/>
              <a:cs typeface="Times New Roman MT"/>
              <a:sym typeface="Times New Roman MT"/>
            </a:endParaRPr>
          </a:p>
          <a:p>
            <a:pPr algn="ctr">
              <a:lnSpc>
                <a:spcPts val="4487"/>
              </a:lnSpc>
              <a:spcBef>
                <a:spcPct val="0"/>
              </a:spcBef>
            </a:pPr>
            <a:endParaRPr lang="en-US" sz="4209" spc="-235">
              <a:solidFill>
                <a:srgbClr val="FFFFFF"/>
              </a:solidFill>
              <a:latin typeface="Times New Roman MT"/>
              <a:ea typeface="Times New Roman MT"/>
              <a:cs typeface="Times New Roman MT"/>
              <a:sym typeface="Times New Roman MT"/>
            </a:endParaRPr>
          </a:p>
        </p:txBody>
      </p:sp>
      <p:sp>
        <p:nvSpPr>
          <p:cNvPr id="7" name="TextBox 7"/>
          <p:cNvSpPr txBox="1"/>
          <p:nvPr/>
        </p:nvSpPr>
        <p:spPr>
          <a:xfrm>
            <a:off x="9378519" y="3821115"/>
            <a:ext cx="3601978" cy="4913648"/>
          </a:xfrm>
          <a:prstGeom prst="rect">
            <a:avLst/>
          </a:prstGeom>
        </p:spPr>
        <p:txBody>
          <a:bodyPr lIns="0" tIns="0" rIns="0" bIns="0" rtlCol="0" anchor="t">
            <a:spAutoFit/>
          </a:bodyPr>
          <a:lstStyle/>
          <a:p>
            <a:pPr algn="l">
              <a:lnSpc>
                <a:spcPts val="4996"/>
              </a:lnSpc>
            </a:pPr>
            <a:endParaRPr/>
          </a:p>
          <a:p>
            <a:pPr marL="856148" lvl="1" indent="-428074" algn="l">
              <a:lnSpc>
                <a:spcPts val="4996"/>
              </a:lnSpc>
              <a:buFont typeface="Arial"/>
              <a:buChar char="•"/>
            </a:pPr>
            <a:r>
              <a:rPr lang="en-US" sz="3965" spc="-222">
                <a:solidFill>
                  <a:srgbClr val="FFFFFF"/>
                </a:solidFill>
                <a:latin typeface="Times New Roman MT"/>
                <a:ea typeface="Times New Roman MT"/>
                <a:cs typeface="Times New Roman MT"/>
                <a:sym typeface="Times New Roman MT"/>
              </a:rPr>
              <a:t>MongoDB</a:t>
            </a:r>
          </a:p>
          <a:p>
            <a:pPr marL="856148" lvl="1" indent="-428074" algn="l">
              <a:lnSpc>
                <a:spcPts val="4996"/>
              </a:lnSpc>
              <a:buFont typeface="Arial"/>
              <a:buChar char="•"/>
            </a:pPr>
            <a:r>
              <a:rPr lang="en-US" sz="3965" spc="-222">
                <a:solidFill>
                  <a:srgbClr val="FFFFFF"/>
                </a:solidFill>
                <a:latin typeface="Times New Roman MT"/>
                <a:ea typeface="Times New Roman MT"/>
                <a:cs typeface="Times New Roman MT"/>
                <a:sym typeface="Times New Roman MT"/>
              </a:rPr>
              <a:t>MYSQL</a:t>
            </a:r>
          </a:p>
          <a:p>
            <a:pPr marL="856148" lvl="1" indent="-428074" algn="l">
              <a:lnSpc>
                <a:spcPts val="4996"/>
              </a:lnSpc>
              <a:buFont typeface="Arial"/>
              <a:buChar char="•"/>
            </a:pPr>
            <a:r>
              <a:rPr lang="en-US" sz="3965" spc="-222">
                <a:solidFill>
                  <a:srgbClr val="FFFFFF"/>
                </a:solidFill>
                <a:latin typeface="Times New Roman MT"/>
                <a:ea typeface="Times New Roman MT"/>
                <a:cs typeface="Times New Roman MT"/>
                <a:sym typeface="Times New Roman MT"/>
              </a:rPr>
              <a:t> Workbench</a:t>
            </a:r>
          </a:p>
          <a:p>
            <a:pPr marL="856148" lvl="1" indent="-428074" algn="l">
              <a:lnSpc>
                <a:spcPts val="4996"/>
              </a:lnSpc>
              <a:buFont typeface="Arial"/>
              <a:buChar char="•"/>
            </a:pPr>
            <a:r>
              <a:rPr lang="en-US" sz="3965" spc="-222">
                <a:solidFill>
                  <a:srgbClr val="FFFFFF"/>
                </a:solidFill>
                <a:latin typeface="Times New Roman MT"/>
                <a:ea typeface="Times New Roman MT"/>
                <a:cs typeface="Times New Roman MT"/>
                <a:sym typeface="Times New Roman MT"/>
              </a:rPr>
              <a:t>VS Code</a:t>
            </a:r>
          </a:p>
          <a:p>
            <a:pPr marL="856148" lvl="1" indent="-428074" algn="l">
              <a:lnSpc>
                <a:spcPts val="4996"/>
              </a:lnSpc>
              <a:buFont typeface="Arial"/>
              <a:buChar char="•"/>
            </a:pPr>
            <a:r>
              <a:rPr lang="en-US" sz="3965" spc="-222">
                <a:solidFill>
                  <a:srgbClr val="FFFFFF"/>
                </a:solidFill>
                <a:latin typeface="Times New Roman MT"/>
                <a:ea typeface="Times New Roman MT"/>
                <a:cs typeface="Times New Roman MT"/>
                <a:sym typeface="Times New Roman MT"/>
              </a:rPr>
              <a:t>Git + GitHub</a:t>
            </a:r>
          </a:p>
          <a:p>
            <a:pPr algn="l">
              <a:lnSpc>
                <a:spcPts val="4227"/>
              </a:lnSpc>
            </a:pPr>
            <a:endParaRPr lang="en-US" sz="3965" spc="-222">
              <a:solidFill>
                <a:srgbClr val="FFFFFF"/>
              </a:solidFill>
              <a:latin typeface="Times New Roman MT"/>
              <a:ea typeface="Times New Roman MT"/>
              <a:cs typeface="Times New Roman MT"/>
              <a:sym typeface="Times New Roman MT"/>
            </a:endParaRPr>
          </a:p>
          <a:p>
            <a:pPr algn="ctr">
              <a:lnSpc>
                <a:spcPts val="4227"/>
              </a:lnSpc>
              <a:spcBef>
                <a:spcPct val="0"/>
              </a:spcBef>
            </a:pPr>
            <a:endParaRPr lang="en-US" sz="3965" spc="-222">
              <a:solidFill>
                <a:srgbClr val="FFFFFF"/>
              </a:solidFill>
              <a:latin typeface="Times New Roman MT"/>
              <a:ea typeface="Times New Roman MT"/>
              <a:cs typeface="Times New Roman MT"/>
              <a:sym typeface="Times New Roman MT"/>
            </a:endParaRPr>
          </a:p>
        </p:txBody>
      </p:sp>
      <p:sp>
        <p:nvSpPr>
          <p:cNvPr id="8" name="Freeform 8"/>
          <p:cNvSpPr/>
          <p:nvPr/>
        </p:nvSpPr>
        <p:spPr>
          <a:xfrm rot="1925852">
            <a:off x="11466076" y="-4040445"/>
            <a:ext cx="9386678" cy="10557613"/>
          </a:xfrm>
          <a:custGeom>
            <a:avLst/>
            <a:gdLst/>
            <a:ahLst/>
            <a:cxnLst/>
            <a:rect l="l" t="t" r="r" b="b"/>
            <a:pathLst>
              <a:path w="9386678" h="10557613">
                <a:moveTo>
                  <a:pt x="0" y="0"/>
                </a:moveTo>
                <a:lnTo>
                  <a:pt x="9386678" y="0"/>
                </a:lnTo>
                <a:lnTo>
                  <a:pt x="9386678" y="10557613"/>
                </a:lnTo>
                <a:lnTo>
                  <a:pt x="0" y="10557613"/>
                </a:lnTo>
                <a:lnTo>
                  <a:pt x="0" y="0"/>
                </a:lnTo>
                <a:close/>
              </a:path>
            </a:pathLst>
          </a:custGeom>
          <a:blipFill>
            <a:blip r:embed="rId2">
              <a:alphaModFix amt="20999"/>
            </a:blip>
            <a:stretch>
              <a:fillRect/>
            </a:stretch>
          </a:blipFill>
        </p:spPr>
      </p:sp>
      <p:sp>
        <p:nvSpPr>
          <p:cNvPr id="9" name="Freeform 9"/>
          <p:cNvSpPr/>
          <p:nvPr/>
        </p:nvSpPr>
        <p:spPr>
          <a:xfrm>
            <a:off x="-1231290" y="6163012"/>
            <a:ext cx="12299674" cy="5143500"/>
          </a:xfrm>
          <a:custGeom>
            <a:avLst/>
            <a:gdLst/>
            <a:ahLst/>
            <a:cxnLst/>
            <a:rect l="l" t="t" r="r" b="b"/>
            <a:pathLst>
              <a:path w="12299674" h="5143500">
                <a:moveTo>
                  <a:pt x="0" y="0"/>
                </a:moveTo>
                <a:lnTo>
                  <a:pt x="12299673" y="0"/>
                </a:lnTo>
                <a:lnTo>
                  <a:pt x="12299673" y="5143500"/>
                </a:lnTo>
                <a:lnTo>
                  <a:pt x="0" y="5143500"/>
                </a:lnTo>
                <a:lnTo>
                  <a:pt x="0" y="0"/>
                </a:lnTo>
                <a:close/>
              </a:path>
            </a:pathLst>
          </a:custGeom>
          <a:blipFill>
            <a:blip r:embed="rId3">
              <a:alphaModFix amt="10999"/>
            </a:blip>
            <a:stretch>
              <a:fillRect/>
            </a:stretch>
          </a:blipFill>
        </p:spPr>
      </p:sp>
      <p:sp>
        <p:nvSpPr>
          <p:cNvPr id="10" name="Freeform 10"/>
          <p:cNvSpPr/>
          <p:nvPr/>
        </p:nvSpPr>
        <p:spPr>
          <a:xfrm>
            <a:off x="0" y="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4"/>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1977201">
            <a:off x="8302125" y="-801031"/>
            <a:ext cx="12791303" cy="9442307"/>
          </a:xfrm>
          <a:custGeom>
            <a:avLst/>
            <a:gdLst/>
            <a:ahLst/>
            <a:cxnLst/>
            <a:rect l="l" t="t" r="r" b="b"/>
            <a:pathLst>
              <a:path w="12791303" h="9442307">
                <a:moveTo>
                  <a:pt x="0" y="0"/>
                </a:moveTo>
                <a:lnTo>
                  <a:pt x="12791302" y="0"/>
                </a:lnTo>
                <a:lnTo>
                  <a:pt x="12791302" y="9442307"/>
                </a:lnTo>
                <a:lnTo>
                  <a:pt x="0" y="9442307"/>
                </a:lnTo>
                <a:lnTo>
                  <a:pt x="0" y="0"/>
                </a:lnTo>
                <a:close/>
              </a:path>
            </a:pathLst>
          </a:custGeom>
          <a:blipFill>
            <a:blip r:embed="rId2">
              <a:alphaModFix amt="42000"/>
            </a:blip>
            <a:stretch>
              <a:fillRect/>
            </a:stretch>
          </a:blipFill>
        </p:spPr>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a:alphaModFix amt="2000"/>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542798" y="4357722"/>
            <a:ext cx="14976376" cy="1741227"/>
          </a:xfrm>
          <a:prstGeom prst="rect">
            <a:avLst/>
          </a:prstGeom>
        </p:spPr>
        <p:txBody>
          <a:bodyPr lIns="0" tIns="0" rIns="0" bIns="0" rtlCol="0" anchor="t">
            <a:spAutoFit/>
          </a:bodyPr>
          <a:lstStyle/>
          <a:p>
            <a:pPr algn="ctr">
              <a:lnSpc>
                <a:spcPts val="12724"/>
              </a:lnSpc>
            </a:pPr>
            <a:r>
              <a:rPr lang="en-US" sz="9088" b="1" spc="-427">
                <a:solidFill>
                  <a:srgbClr val="424242"/>
                </a:solidFill>
                <a:latin typeface="Times New Roman MT Ultra-Bold"/>
                <a:ea typeface="Times New Roman MT Ultra-Bold"/>
                <a:cs typeface="Times New Roman MT Ultra-Bold"/>
                <a:sym typeface="Times New Roman MT Ultra-Bold"/>
              </a:rPr>
              <a:t>THANK YOU</a:t>
            </a:r>
          </a:p>
        </p:txBody>
      </p:sp>
      <p:sp>
        <p:nvSpPr>
          <p:cNvPr id="6" name="AutoShape 6"/>
          <p:cNvSpPr/>
          <p:nvPr/>
        </p:nvSpPr>
        <p:spPr>
          <a:xfrm>
            <a:off x="1045163" y="1480091"/>
            <a:ext cx="16214137" cy="0"/>
          </a:xfrm>
          <a:prstGeom prst="line">
            <a:avLst/>
          </a:prstGeom>
          <a:ln w="19050" cap="flat">
            <a:solidFill>
              <a:srgbClr val="424242"/>
            </a:solidFill>
            <a:prstDash val="solid"/>
            <a:headEnd type="none" w="sm" len="sm"/>
            <a:tailEnd type="none" w="sm" len="sm"/>
          </a:ln>
        </p:spPr>
      </p:sp>
      <p:sp>
        <p:nvSpPr>
          <p:cNvPr id="7" name="Freeform 7"/>
          <p:cNvSpPr/>
          <p:nvPr/>
        </p:nvSpPr>
        <p:spPr>
          <a:xfrm>
            <a:off x="0" y="0"/>
            <a:ext cx="3594508" cy="1480091"/>
          </a:xfrm>
          <a:custGeom>
            <a:avLst/>
            <a:gdLst/>
            <a:ahLst/>
            <a:cxnLst/>
            <a:rect l="l" t="t" r="r" b="b"/>
            <a:pathLst>
              <a:path w="3594508" h="1480091">
                <a:moveTo>
                  <a:pt x="0" y="0"/>
                </a:moveTo>
                <a:lnTo>
                  <a:pt x="3594508" y="0"/>
                </a:lnTo>
                <a:lnTo>
                  <a:pt x="3594508" y="1480091"/>
                </a:lnTo>
                <a:lnTo>
                  <a:pt x="0" y="1480091"/>
                </a:lnTo>
                <a:lnTo>
                  <a:pt x="0" y="0"/>
                </a:lnTo>
                <a:close/>
              </a:path>
            </a:pathLst>
          </a:custGeom>
          <a:blipFill>
            <a:blip r:embed="rId5"/>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579</Words>
  <Application>Microsoft Office PowerPoint</Application>
  <PresentationFormat>Custom</PresentationFormat>
  <Paragraphs>38</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Times New Roman MT Ultra-Bold</vt:lpstr>
      <vt:lpstr>Open Sauce Light</vt:lpstr>
      <vt:lpstr>Canva Sans</vt:lpstr>
      <vt:lpstr>Times New Roman MT</vt:lpstr>
      <vt:lpstr>Calibri</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dc:title>
  <cp:lastModifiedBy>Neon Dash</cp:lastModifiedBy>
  <cp:revision>2</cp:revision>
  <dcterms:created xsi:type="dcterms:W3CDTF">2006-08-16T00:00:00Z</dcterms:created>
  <dcterms:modified xsi:type="dcterms:W3CDTF">2026-08-19T09:29:13Z</dcterms:modified>
  <dc:identifier>DAHSju0BKeA</dc:identifier>
</cp:coreProperties>
</file>