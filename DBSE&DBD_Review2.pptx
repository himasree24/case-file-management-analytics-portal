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Times New Roman MT Ultra-Bold" charset="1" panose="02030902070405020303"/>
      <p:regular r:id="rId22"/>
    </p:embeddedFont>
    <p:embeddedFont>
      <p:font typeface="Open Sauce Light" charset="1" panose="00000400000000000000"/>
      <p:regular r:id="rId23"/>
    </p:embeddedFont>
    <p:embeddedFont>
      <p:font typeface="Times New Roman MT" charset="1" panose="02030502070405020303"/>
      <p:regular r:id="rId24"/>
    </p:embeddedFont>
    <p:embeddedFont>
      <p:font typeface="Canva Sans Bold" charset="1" panose="020B0803030501040103"/>
      <p:regular r:id="rId25"/>
    </p:embeddedFont>
    <p:embeddedFont>
      <p:font typeface="Canva Sans" charset="1" panose="020B0503030501040103"/>
      <p:regular r:id="rId26"/>
    </p:embeddedFont>
    <p:embeddedFont>
      <p:font typeface="Times New Roman MT Bold" charset="1" panose="02030802070405020303"/>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 Id="rId4"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svg" Type="http://schemas.openxmlformats.org/officeDocument/2006/relationships/image"/><Relationship Id="rId11" Target="../media/image14.png" Type="http://schemas.openxmlformats.org/officeDocument/2006/relationships/image"/><Relationship Id="rId12" Target="../media/image15.svg" Type="http://schemas.openxmlformats.org/officeDocument/2006/relationships/image"/><Relationship Id="rId2" Target="../media/image8.png" Type="http://schemas.openxmlformats.org/officeDocument/2006/relationships/image"/><Relationship Id="rId3" Target="../media/image9.sv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 Id="rId6" Target="../media/image7.pn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 Id="rId9" Target="../media/image1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 Id="rId5" Target="../media/image16.png" Type="http://schemas.openxmlformats.org/officeDocument/2006/relationships/image"/><Relationship Id="rId6" Target="../media/image17.png" Type="http://schemas.openxmlformats.org/officeDocument/2006/relationships/image"/><Relationship Id="rId7" Target="../media/image1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 Id="rId5" Target="../media/image19.jpeg" Type="http://schemas.openxmlformats.org/officeDocument/2006/relationships/image"/><Relationship Id="rId6" Target="../media/image20.jpeg" Type="http://schemas.openxmlformats.org/officeDocument/2006/relationships/image"/><Relationship Id="rId7" Target="../media/image21.jpeg" Type="http://schemas.openxmlformats.org/officeDocument/2006/relationships/image"/><Relationship Id="rId8" Target="../media/image22.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6.png" Type="http://schemas.openxmlformats.org/officeDocument/2006/relationships/image"/><Relationship Id="rId11" Target="../media/image18.png" Type="http://schemas.openxmlformats.org/officeDocument/2006/relationships/image"/><Relationship Id="rId2" Target="../media/image5.pn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 Id="rId5" Target="../media/image23.png" Type="http://schemas.openxmlformats.org/officeDocument/2006/relationships/image"/><Relationship Id="rId6" Target="../media/image16.png" Type="http://schemas.openxmlformats.org/officeDocument/2006/relationships/image"/><Relationship Id="rId7" Target="../media/image17.png" Type="http://schemas.openxmlformats.org/officeDocument/2006/relationships/image"/><Relationship Id="rId8" Target="../media/image24.png" Type="http://schemas.openxmlformats.org/officeDocument/2006/relationships/image"/><Relationship Id="rId9" Target="../media/image2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 Id="rId5" Target="../media/image2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 Id="rId4" Target="../media/image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1977201">
            <a:off x="8302125" y="-801031"/>
            <a:ext cx="12791303" cy="9442307"/>
          </a:xfrm>
          <a:custGeom>
            <a:avLst/>
            <a:gdLst/>
            <a:ahLst/>
            <a:cxnLst/>
            <a:rect r="r" b="b" t="t" l="l"/>
            <a:pathLst>
              <a:path h="9442307" w="12791303">
                <a:moveTo>
                  <a:pt x="0" y="0"/>
                </a:moveTo>
                <a:lnTo>
                  <a:pt x="12791302" y="0"/>
                </a:lnTo>
                <a:lnTo>
                  <a:pt x="12791302" y="9442307"/>
                </a:lnTo>
                <a:lnTo>
                  <a:pt x="0" y="9442307"/>
                </a:lnTo>
                <a:lnTo>
                  <a:pt x="0" y="0"/>
                </a:lnTo>
                <a:close/>
              </a:path>
            </a:pathLst>
          </a:custGeom>
          <a:blipFill>
            <a:blip r:embed="rId2">
              <a:alphaModFix amt="42000"/>
            </a:blip>
            <a:stretch>
              <a:fillRect l="0" t="0" r="0" b="0"/>
            </a:stretch>
          </a:blipFill>
        </p:spPr>
      </p:sp>
      <p:sp>
        <p:nvSpPr>
          <p:cNvPr name="Freeform 3" id="3"/>
          <p:cNvSpPr/>
          <p:nvPr/>
        </p:nvSpPr>
        <p:spPr>
          <a:xfrm flipH="false" flipV="false" rot="-10659522">
            <a:off x="-1466084" y="-1104127"/>
            <a:ext cx="6017764" cy="3599717"/>
          </a:xfrm>
          <a:custGeom>
            <a:avLst/>
            <a:gdLst/>
            <a:ahLst/>
            <a:cxnLst/>
            <a:rect r="r" b="b" t="t" l="l"/>
            <a:pathLst>
              <a:path h="3599717" w="6017764">
                <a:moveTo>
                  <a:pt x="0" y="0"/>
                </a:moveTo>
                <a:lnTo>
                  <a:pt x="6017764" y="0"/>
                </a:lnTo>
                <a:lnTo>
                  <a:pt x="6017764" y="3599717"/>
                </a:lnTo>
                <a:lnTo>
                  <a:pt x="0" y="3599717"/>
                </a:lnTo>
                <a:lnTo>
                  <a:pt x="0" y="0"/>
                </a:lnTo>
                <a:close/>
              </a:path>
            </a:pathLst>
          </a:custGeom>
          <a:blipFill>
            <a:blip r:embed="rId3">
              <a:alphaModFix amt="12000"/>
            </a:blip>
            <a:stretch>
              <a:fillRect l="0" t="0" r="0" b="0"/>
            </a:stretch>
          </a:blipFill>
        </p:spPr>
      </p:sp>
      <p:sp>
        <p:nvSpPr>
          <p:cNvPr name="Freeform 4" id="4"/>
          <p:cNvSpPr/>
          <p:nvPr/>
        </p:nvSpPr>
        <p:spPr>
          <a:xfrm flipH="false" flipV="false" rot="0">
            <a:off x="-924022" y="5188961"/>
            <a:ext cx="4716981" cy="6251420"/>
          </a:xfrm>
          <a:custGeom>
            <a:avLst/>
            <a:gdLst/>
            <a:ahLst/>
            <a:cxnLst/>
            <a:rect r="r" b="b" t="t" l="l"/>
            <a:pathLst>
              <a:path h="6251420" w="4716981">
                <a:moveTo>
                  <a:pt x="0" y="0"/>
                </a:moveTo>
                <a:lnTo>
                  <a:pt x="4716981" y="0"/>
                </a:lnTo>
                <a:lnTo>
                  <a:pt x="4716981" y="6251421"/>
                </a:lnTo>
                <a:lnTo>
                  <a:pt x="0" y="6251421"/>
                </a:lnTo>
                <a:lnTo>
                  <a:pt x="0" y="0"/>
                </a:lnTo>
                <a:close/>
              </a:path>
            </a:pathLst>
          </a:custGeom>
          <a:blipFill>
            <a:blip r:embed="rId4">
              <a:alphaModFix amt="2000"/>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2384338" y="2596649"/>
            <a:ext cx="13017405" cy="2904496"/>
          </a:xfrm>
          <a:prstGeom prst="rect">
            <a:avLst/>
          </a:prstGeom>
        </p:spPr>
        <p:txBody>
          <a:bodyPr anchor="t" rtlCol="false" tIns="0" lIns="0" bIns="0" rIns="0">
            <a:spAutoFit/>
          </a:bodyPr>
          <a:lstStyle/>
          <a:p>
            <a:pPr algn="ctr">
              <a:lnSpc>
                <a:spcPts val="11059"/>
              </a:lnSpc>
            </a:pPr>
            <a:r>
              <a:rPr lang="en-US" b="true" sz="7899" spc="-371">
                <a:solidFill>
                  <a:srgbClr val="424242"/>
                </a:solidFill>
                <a:latin typeface="Times New Roman MT Ultra-Bold"/>
                <a:ea typeface="Times New Roman MT Ultra-Bold"/>
                <a:cs typeface="Times New Roman MT Ultra-Bold"/>
                <a:sym typeface="Times New Roman MT Ultra-Bold"/>
              </a:rPr>
              <a:t>Case File Management &amp; Analytics Portal (Legal Services)</a:t>
            </a:r>
          </a:p>
        </p:txBody>
      </p:sp>
      <p:sp>
        <p:nvSpPr>
          <p:cNvPr name="AutoShape 6" id="6"/>
          <p:cNvSpPr/>
          <p:nvPr/>
        </p:nvSpPr>
        <p:spPr>
          <a:xfrm>
            <a:off x="1045163" y="1694406"/>
            <a:ext cx="16214137" cy="0"/>
          </a:xfrm>
          <a:prstGeom prst="line">
            <a:avLst/>
          </a:prstGeom>
          <a:ln cap="flat" w="19050">
            <a:solidFill>
              <a:srgbClr val="424242"/>
            </a:solidFill>
            <a:prstDash val="solid"/>
            <a:headEnd type="none" len="sm" w="sm"/>
            <a:tailEnd type="none" len="sm" w="sm"/>
          </a:ln>
        </p:spPr>
      </p:sp>
      <p:sp>
        <p:nvSpPr>
          <p:cNvPr name="Freeform 7" id="7"/>
          <p:cNvSpPr/>
          <p:nvPr/>
        </p:nvSpPr>
        <p:spPr>
          <a:xfrm flipH="false" flipV="false" rot="0">
            <a:off x="0" y="0"/>
            <a:ext cx="3594508" cy="1480091"/>
          </a:xfrm>
          <a:custGeom>
            <a:avLst/>
            <a:gdLst/>
            <a:ahLst/>
            <a:cxnLst/>
            <a:rect r="r" b="b" t="t" l="l"/>
            <a:pathLst>
              <a:path h="1480091" w="3594508">
                <a:moveTo>
                  <a:pt x="0" y="0"/>
                </a:moveTo>
                <a:lnTo>
                  <a:pt x="3594508" y="0"/>
                </a:lnTo>
                <a:lnTo>
                  <a:pt x="3594508" y="1480091"/>
                </a:lnTo>
                <a:lnTo>
                  <a:pt x="0" y="1480091"/>
                </a:lnTo>
                <a:lnTo>
                  <a:pt x="0" y="0"/>
                </a:lnTo>
                <a:close/>
              </a:path>
            </a:pathLst>
          </a:custGeom>
          <a:blipFill>
            <a:blip r:embed="rId6"/>
            <a:stretch>
              <a:fillRect l="0" t="0" r="0" b="0"/>
            </a:stretch>
          </a:blipFill>
        </p:spPr>
      </p:sp>
      <p:sp>
        <p:nvSpPr>
          <p:cNvPr name="TextBox 8" id="8"/>
          <p:cNvSpPr txBox="true"/>
          <p:nvPr/>
        </p:nvSpPr>
        <p:spPr>
          <a:xfrm rot="0">
            <a:off x="6019851" y="5954346"/>
            <a:ext cx="5746380" cy="2377440"/>
          </a:xfrm>
          <a:prstGeom prst="rect">
            <a:avLst/>
          </a:prstGeom>
        </p:spPr>
        <p:txBody>
          <a:bodyPr anchor="t" rtlCol="false" tIns="0" lIns="0" bIns="0" rIns="0">
            <a:spAutoFit/>
          </a:bodyPr>
          <a:lstStyle/>
          <a:p>
            <a:pPr algn="ctr">
              <a:lnSpc>
                <a:spcPts val="3780"/>
              </a:lnSpc>
            </a:pPr>
            <a:r>
              <a:rPr lang="en-US" sz="3000" spc="-168">
                <a:solidFill>
                  <a:srgbClr val="424242"/>
                </a:solidFill>
                <a:latin typeface="Open Sauce Light"/>
                <a:ea typeface="Open Sauce Light"/>
                <a:cs typeface="Open Sauce Light"/>
                <a:sym typeface="Open Sauce Light"/>
              </a:rPr>
              <a:t>Team : 11 </a:t>
            </a:r>
          </a:p>
          <a:p>
            <a:pPr algn="ctr">
              <a:lnSpc>
                <a:spcPts val="3780"/>
              </a:lnSpc>
            </a:pPr>
            <a:r>
              <a:rPr lang="en-US" sz="3000" spc="-168">
                <a:solidFill>
                  <a:srgbClr val="424242"/>
                </a:solidFill>
                <a:latin typeface="Open Sauce Light"/>
                <a:ea typeface="Open Sauce Light"/>
                <a:cs typeface="Open Sauce Light"/>
                <a:sym typeface="Open Sauce Light"/>
              </a:rPr>
              <a:t>P.Ruhitha       2520080053</a:t>
            </a:r>
          </a:p>
          <a:p>
            <a:pPr algn="ctr">
              <a:lnSpc>
                <a:spcPts val="3780"/>
              </a:lnSpc>
            </a:pPr>
            <a:r>
              <a:rPr lang="en-US" sz="3000" spc="-168">
                <a:solidFill>
                  <a:srgbClr val="424242"/>
                </a:solidFill>
                <a:latin typeface="Open Sauce Light"/>
                <a:ea typeface="Open Sauce Light"/>
                <a:cs typeface="Open Sauce Light"/>
                <a:sym typeface="Open Sauce Light"/>
              </a:rPr>
              <a:t>M.Ananya      2520080069</a:t>
            </a:r>
          </a:p>
          <a:p>
            <a:pPr algn="ctr">
              <a:lnSpc>
                <a:spcPts val="3780"/>
              </a:lnSpc>
            </a:pPr>
            <a:r>
              <a:rPr lang="en-US" sz="3000" spc="-168">
                <a:solidFill>
                  <a:srgbClr val="424242"/>
                </a:solidFill>
                <a:latin typeface="Open Sauce Light"/>
                <a:ea typeface="Open Sauce Light"/>
                <a:cs typeface="Open Sauce Light"/>
                <a:sym typeface="Open Sauce Light"/>
              </a:rPr>
              <a:t>S.Himasree       2520090181</a:t>
            </a:r>
          </a:p>
          <a:p>
            <a:pPr algn="l">
              <a:lnSpc>
                <a:spcPts val="3780"/>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424242"/>
        </a:solidFill>
      </p:bgPr>
    </p:bg>
    <p:spTree>
      <p:nvGrpSpPr>
        <p:cNvPr id="1" name=""/>
        <p:cNvGrpSpPr/>
        <p:nvPr/>
      </p:nvGrpSpPr>
      <p:grpSpPr>
        <a:xfrm>
          <a:off x="0" y="0"/>
          <a:ext cx="0" cy="0"/>
          <a:chOff x="0" y="0"/>
          <a:chExt cx="0" cy="0"/>
        </a:xfrm>
      </p:grpSpPr>
      <p:sp>
        <p:nvSpPr>
          <p:cNvPr name="Freeform 2" id="2"/>
          <p:cNvSpPr/>
          <p:nvPr/>
        </p:nvSpPr>
        <p:spPr>
          <a:xfrm flipH="false" flipV="false" rot="1925852">
            <a:off x="11466076" y="-4040445"/>
            <a:ext cx="9386678" cy="10557613"/>
          </a:xfrm>
          <a:custGeom>
            <a:avLst/>
            <a:gdLst/>
            <a:ahLst/>
            <a:cxnLst/>
            <a:rect r="r" b="b" t="t" l="l"/>
            <a:pathLst>
              <a:path h="10557613" w="9386678">
                <a:moveTo>
                  <a:pt x="0" y="0"/>
                </a:moveTo>
                <a:lnTo>
                  <a:pt x="9386678" y="0"/>
                </a:lnTo>
                <a:lnTo>
                  <a:pt x="9386678" y="10557613"/>
                </a:lnTo>
                <a:lnTo>
                  <a:pt x="0" y="10557613"/>
                </a:lnTo>
                <a:lnTo>
                  <a:pt x="0" y="0"/>
                </a:lnTo>
                <a:close/>
              </a:path>
            </a:pathLst>
          </a:custGeom>
          <a:blipFill>
            <a:blip r:embed="rId2">
              <a:alphaModFix amt="20999"/>
            </a:blip>
            <a:stretch>
              <a:fillRect l="0" t="0" r="0" b="0"/>
            </a:stretch>
          </a:blipFill>
        </p:spPr>
      </p:sp>
      <p:sp>
        <p:nvSpPr>
          <p:cNvPr name="Freeform 3" id="3"/>
          <p:cNvSpPr/>
          <p:nvPr/>
        </p:nvSpPr>
        <p:spPr>
          <a:xfrm flipH="false" flipV="false" rot="0">
            <a:off x="-1964581" y="6163012"/>
            <a:ext cx="12299674" cy="5143500"/>
          </a:xfrm>
          <a:custGeom>
            <a:avLst/>
            <a:gdLst/>
            <a:ahLst/>
            <a:cxnLst/>
            <a:rect r="r" b="b" t="t" l="l"/>
            <a:pathLst>
              <a:path h="5143500" w="12299674">
                <a:moveTo>
                  <a:pt x="0" y="0"/>
                </a:moveTo>
                <a:lnTo>
                  <a:pt x="12299674" y="0"/>
                </a:lnTo>
                <a:lnTo>
                  <a:pt x="12299674" y="5143500"/>
                </a:lnTo>
                <a:lnTo>
                  <a:pt x="0" y="5143500"/>
                </a:lnTo>
                <a:lnTo>
                  <a:pt x="0" y="0"/>
                </a:lnTo>
                <a:close/>
              </a:path>
            </a:pathLst>
          </a:custGeom>
          <a:blipFill>
            <a:blip r:embed="rId3">
              <a:alphaModFix amt="10999"/>
            </a:blip>
            <a:stretch>
              <a:fillRect l="0" t="0" r="0" b="0"/>
            </a:stretch>
          </a:blipFill>
        </p:spPr>
      </p:sp>
      <p:grpSp>
        <p:nvGrpSpPr>
          <p:cNvPr name="Group 4" id="4"/>
          <p:cNvGrpSpPr/>
          <p:nvPr/>
        </p:nvGrpSpPr>
        <p:grpSpPr>
          <a:xfrm rot="0">
            <a:off x="885291" y="3243671"/>
            <a:ext cx="16360888" cy="6307586"/>
            <a:chOff x="0" y="0"/>
            <a:chExt cx="4309041" cy="1661257"/>
          </a:xfrm>
        </p:grpSpPr>
        <p:sp>
          <p:nvSpPr>
            <p:cNvPr name="Freeform 5" id="5"/>
            <p:cNvSpPr/>
            <p:nvPr/>
          </p:nvSpPr>
          <p:spPr>
            <a:xfrm flipH="false" flipV="false" rot="0">
              <a:off x="0" y="0"/>
              <a:ext cx="4309040" cy="1661257"/>
            </a:xfrm>
            <a:custGeom>
              <a:avLst/>
              <a:gdLst/>
              <a:ahLst/>
              <a:cxnLst/>
              <a:rect r="r" b="b" t="t" l="l"/>
              <a:pathLst>
                <a:path h="1661257" w="4309040">
                  <a:moveTo>
                    <a:pt x="44007" y="0"/>
                  </a:moveTo>
                  <a:lnTo>
                    <a:pt x="4265033" y="0"/>
                  </a:lnTo>
                  <a:cubicBezTo>
                    <a:pt x="4276704" y="0"/>
                    <a:pt x="4287898" y="4636"/>
                    <a:pt x="4296151" y="12889"/>
                  </a:cubicBezTo>
                  <a:cubicBezTo>
                    <a:pt x="4304404" y="21142"/>
                    <a:pt x="4309040" y="32336"/>
                    <a:pt x="4309040" y="44007"/>
                  </a:cubicBezTo>
                  <a:lnTo>
                    <a:pt x="4309040" y="1617250"/>
                  </a:lnTo>
                  <a:cubicBezTo>
                    <a:pt x="4309040" y="1628922"/>
                    <a:pt x="4304404" y="1640115"/>
                    <a:pt x="4296151" y="1648368"/>
                  </a:cubicBezTo>
                  <a:cubicBezTo>
                    <a:pt x="4287898" y="1656621"/>
                    <a:pt x="4276704" y="1661257"/>
                    <a:pt x="4265033" y="1661257"/>
                  </a:cubicBezTo>
                  <a:lnTo>
                    <a:pt x="44007" y="1661257"/>
                  </a:lnTo>
                  <a:cubicBezTo>
                    <a:pt x="32336" y="1661257"/>
                    <a:pt x="21142" y="1656621"/>
                    <a:pt x="12889" y="1648368"/>
                  </a:cubicBezTo>
                  <a:cubicBezTo>
                    <a:pt x="4636" y="1640115"/>
                    <a:pt x="0" y="1628922"/>
                    <a:pt x="0" y="1617250"/>
                  </a:cubicBezTo>
                  <a:lnTo>
                    <a:pt x="0" y="44007"/>
                  </a:lnTo>
                  <a:cubicBezTo>
                    <a:pt x="0" y="32336"/>
                    <a:pt x="4636" y="21142"/>
                    <a:pt x="12889" y="12889"/>
                  </a:cubicBezTo>
                  <a:cubicBezTo>
                    <a:pt x="21142" y="4636"/>
                    <a:pt x="32336" y="0"/>
                    <a:pt x="44007" y="0"/>
                  </a:cubicBezTo>
                  <a:close/>
                </a:path>
              </a:pathLst>
            </a:custGeom>
            <a:solidFill>
              <a:srgbClr val="424242"/>
            </a:solidFill>
            <a:ln w="19050" cap="rnd">
              <a:solidFill>
                <a:srgbClr val="D0D7DD"/>
              </a:solidFill>
              <a:prstDash val="solid"/>
              <a:round/>
            </a:ln>
          </p:spPr>
        </p:sp>
        <p:sp>
          <p:nvSpPr>
            <p:cNvPr name="TextBox 6" id="6"/>
            <p:cNvSpPr txBox="true"/>
            <p:nvPr/>
          </p:nvSpPr>
          <p:spPr>
            <a:xfrm>
              <a:off x="0" y="-28575"/>
              <a:ext cx="4309041" cy="1689832"/>
            </a:xfrm>
            <a:prstGeom prst="rect">
              <a:avLst/>
            </a:prstGeom>
          </p:spPr>
          <p:txBody>
            <a:bodyPr anchor="ctr" rtlCol="false" tIns="50800" lIns="50800" bIns="50800" rIns="50800"/>
            <a:lstStyle/>
            <a:p>
              <a:pPr algn="ctr">
                <a:lnSpc>
                  <a:spcPts val="2015"/>
                </a:lnSpc>
              </a:pPr>
            </a:p>
          </p:txBody>
        </p:sp>
      </p:grpSp>
      <p:sp>
        <p:nvSpPr>
          <p:cNvPr name="TextBox 7" id="7"/>
          <p:cNvSpPr txBox="true"/>
          <p:nvPr/>
        </p:nvSpPr>
        <p:spPr>
          <a:xfrm rot="0">
            <a:off x="1105241" y="1831322"/>
            <a:ext cx="13389009" cy="1199803"/>
          </a:xfrm>
          <a:prstGeom prst="rect">
            <a:avLst/>
          </a:prstGeom>
        </p:spPr>
        <p:txBody>
          <a:bodyPr anchor="t" rtlCol="false" tIns="0" lIns="0" bIns="0" rIns="0">
            <a:spAutoFit/>
          </a:bodyPr>
          <a:lstStyle/>
          <a:p>
            <a:pPr algn="l">
              <a:lnSpc>
                <a:spcPts val="7582"/>
              </a:lnSpc>
            </a:pPr>
            <a:r>
              <a:rPr lang="en-US" sz="8066" spc="-379" b="true">
                <a:solidFill>
                  <a:srgbClr val="FFFFFF"/>
                </a:solidFill>
                <a:latin typeface="Times New Roman MT Ultra-Bold"/>
                <a:ea typeface="Times New Roman MT Ultra-Bold"/>
                <a:cs typeface="Times New Roman MT Ultra-Bold"/>
                <a:sym typeface="Times New Roman MT Ultra-Bold"/>
              </a:rPr>
              <a:t>Problem Statement</a:t>
            </a:r>
          </a:p>
        </p:txBody>
      </p:sp>
      <p:sp>
        <p:nvSpPr>
          <p:cNvPr name="Freeform 8" id="8"/>
          <p:cNvSpPr/>
          <p:nvPr/>
        </p:nvSpPr>
        <p:spPr>
          <a:xfrm flipH="false" flipV="false" rot="0">
            <a:off x="-43895" y="-55280"/>
            <a:ext cx="3594508" cy="1480091"/>
          </a:xfrm>
          <a:custGeom>
            <a:avLst/>
            <a:gdLst/>
            <a:ahLst/>
            <a:cxnLst/>
            <a:rect r="r" b="b" t="t" l="l"/>
            <a:pathLst>
              <a:path h="1480091" w="3594508">
                <a:moveTo>
                  <a:pt x="0" y="0"/>
                </a:moveTo>
                <a:lnTo>
                  <a:pt x="3594508" y="0"/>
                </a:lnTo>
                <a:lnTo>
                  <a:pt x="3594508" y="1480091"/>
                </a:lnTo>
                <a:lnTo>
                  <a:pt x="0" y="1480091"/>
                </a:lnTo>
                <a:lnTo>
                  <a:pt x="0" y="0"/>
                </a:lnTo>
                <a:close/>
              </a:path>
            </a:pathLst>
          </a:custGeom>
          <a:blipFill>
            <a:blip r:embed="rId4"/>
            <a:stretch>
              <a:fillRect l="0" t="0" r="0" b="0"/>
            </a:stretch>
          </a:blipFill>
        </p:spPr>
      </p:sp>
      <p:sp>
        <p:nvSpPr>
          <p:cNvPr name="TextBox 9" id="9"/>
          <p:cNvSpPr txBox="true"/>
          <p:nvPr/>
        </p:nvSpPr>
        <p:spPr>
          <a:xfrm rot="0">
            <a:off x="2707822" y="3316875"/>
            <a:ext cx="12715826" cy="5355336"/>
          </a:xfrm>
          <a:prstGeom prst="rect">
            <a:avLst/>
          </a:prstGeom>
        </p:spPr>
        <p:txBody>
          <a:bodyPr anchor="t" rtlCol="false" tIns="0" lIns="0" bIns="0" rIns="0">
            <a:spAutoFit/>
          </a:bodyPr>
          <a:lstStyle/>
          <a:p>
            <a:pPr algn="r">
              <a:lnSpc>
                <a:spcPts val="3906"/>
              </a:lnSpc>
              <a:spcBef>
                <a:spcPct val="0"/>
              </a:spcBef>
            </a:pPr>
          </a:p>
          <a:p>
            <a:pPr algn="just">
              <a:lnSpc>
                <a:spcPts val="4788"/>
              </a:lnSpc>
              <a:spcBef>
                <a:spcPct val="0"/>
              </a:spcBef>
            </a:pPr>
            <a:r>
              <a:rPr lang="en-US" sz="3800" spc="-212">
                <a:solidFill>
                  <a:srgbClr val="FFFFFF"/>
                </a:solidFill>
                <a:latin typeface="Times New Roman MT"/>
                <a:ea typeface="Times New Roman MT"/>
                <a:cs typeface="Times New Roman MT"/>
                <a:sym typeface="Times New Roman MT"/>
              </a:rPr>
              <a:t>Legal case information is often maintained across multiple files, documents, and manual records, making it difficult to efficiently store, retrieve, update, and track case details. This can result in data duplication, inconsistent records, difficulty in monitoring hearings and case status, and delays in accessing important information. There is a need for a centralized database system that organizes legal case records and enables efficient retrieval, tracking, and analysis of case-related information.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424242"/>
        </a:solidFill>
      </p:bgPr>
    </p:bg>
    <p:spTree>
      <p:nvGrpSpPr>
        <p:cNvPr id="1" name=""/>
        <p:cNvGrpSpPr/>
        <p:nvPr/>
      </p:nvGrpSpPr>
      <p:grpSpPr>
        <a:xfrm>
          <a:off x="0" y="0"/>
          <a:ext cx="0" cy="0"/>
          <a:chOff x="0" y="0"/>
          <a:chExt cx="0" cy="0"/>
        </a:xfrm>
      </p:grpSpPr>
      <p:grpSp>
        <p:nvGrpSpPr>
          <p:cNvPr name="Group 2" id="2"/>
          <p:cNvGrpSpPr/>
          <p:nvPr/>
        </p:nvGrpSpPr>
        <p:grpSpPr>
          <a:xfrm rot="0">
            <a:off x="885291" y="3243671"/>
            <a:ext cx="16360888" cy="6307586"/>
            <a:chOff x="0" y="0"/>
            <a:chExt cx="4309041" cy="1661257"/>
          </a:xfrm>
        </p:grpSpPr>
        <p:sp>
          <p:nvSpPr>
            <p:cNvPr name="Freeform 3" id="3"/>
            <p:cNvSpPr/>
            <p:nvPr/>
          </p:nvSpPr>
          <p:spPr>
            <a:xfrm flipH="false" flipV="false" rot="0">
              <a:off x="0" y="0"/>
              <a:ext cx="4309040" cy="1661257"/>
            </a:xfrm>
            <a:custGeom>
              <a:avLst/>
              <a:gdLst/>
              <a:ahLst/>
              <a:cxnLst/>
              <a:rect r="r" b="b" t="t" l="l"/>
              <a:pathLst>
                <a:path h="1661257" w="4309040">
                  <a:moveTo>
                    <a:pt x="44007" y="0"/>
                  </a:moveTo>
                  <a:lnTo>
                    <a:pt x="4265033" y="0"/>
                  </a:lnTo>
                  <a:cubicBezTo>
                    <a:pt x="4276704" y="0"/>
                    <a:pt x="4287898" y="4636"/>
                    <a:pt x="4296151" y="12889"/>
                  </a:cubicBezTo>
                  <a:cubicBezTo>
                    <a:pt x="4304404" y="21142"/>
                    <a:pt x="4309040" y="32336"/>
                    <a:pt x="4309040" y="44007"/>
                  </a:cubicBezTo>
                  <a:lnTo>
                    <a:pt x="4309040" y="1617250"/>
                  </a:lnTo>
                  <a:cubicBezTo>
                    <a:pt x="4309040" y="1628922"/>
                    <a:pt x="4304404" y="1640115"/>
                    <a:pt x="4296151" y="1648368"/>
                  </a:cubicBezTo>
                  <a:cubicBezTo>
                    <a:pt x="4287898" y="1656621"/>
                    <a:pt x="4276704" y="1661257"/>
                    <a:pt x="4265033" y="1661257"/>
                  </a:cubicBezTo>
                  <a:lnTo>
                    <a:pt x="44007" y="1661257"/>
                  </a:lnTo>
                  <a:cubicBezTo>
                    <a:pt x="32336" y="1661257"/>
                    <a:pt x="21142" y="1656621"/>
                    <a:pt x="12889" y="1648368"/>
                  </a:cubicBezTo>
                  <a:cubicBezTo>
                    <a:pt x="4636" y="1640115"/>
                    <a:pt x="0" y="1628922"/>
                    <a:pt x="0" y="1617250"/>
                  </a:cubicBezTo>
                  <a:lnTo>
                    <a:pt x="0" y="44007"/>
                  </a:lnTo>
                  <a:cubicBezTo>
                    <a:pt x="0" y="32336"/>
                    <a:pt x="4636" y="21142"/>
                    <a:pt x="12889" y="12889"/>
                  </a:cubicBezTo>
                  <a:cubicBezTo>
                    <a:pt x="21142" y="4636"/>
                    <a:pt x="32336" y="0"/>
                    <a:pt x="44007" y="0"/>
                  </a:cubicBezTo>
                  <a:close/>
                </a:path>
              </a:pathLst>
            </a:custGeom>
            <a:solidFill>
              <a:srgbClr val="424242"/>
            </a:solidFill>
            <a:ln w="19050" cap="rnd">
              <a:solidFill>
                <a:srgbClr val="D0D7DD"/>
              </a:solidFill>
              <a:prstDash val="solid"/>
              <a:round/>
            </a:ln>
          </p:spPr>
        </p:sp>
        <p:sp>
          <p:nvSpPr>
            <p:cNvPr name="TextBox 4" id="4"/>
            <p:cNvSpPr txBox="true"/>
            <p:nvPr/>
          </p:nvSpPr>
          <p:spPr>
            <a:xfrm>
              <a:off x="0" y="-28575"/>
              <a:ext cx="4309041" cy="1689832"/>
            </a:xfrm>
            <a:prstGeom prst="rect">
              <a:avLst/>
            </a:prstGeom>
          </p:spPr>
          <p:txBody>
            <a:bodyPr anchor="ctr" rtlCol="false" tIns="50800" lIns="50800" bIns="50800" rIns="50800"/>
            <a:lstStyle/>
            <a:p>
              <a:pPr algn="ctr">
                <a:lnSpc>
                  <a:spcPts val="2015"/>
                </a:lnSpc>
              </a:pPr>
            </a:p>
          </p:txBody>
        </p:sp>
      </p:grpSp>
      <p:sp>
        <p:nvSpPr>
          <p:cNvPr name="TextBox 5" id="5"/>
          <p:cNvSpPr txBox="true"/>
          <p:nvPr/>
        </p:nvSpPr>
        <p:spPr>
          <a:xfrm rot="0">
            <a:off x="1105241" y="1831322"/>
            <a:ext cx="13389009" cy="1197898"/>
          </a:xfrm>
          <a:prstGeom prst="rect">
            <a:avLst/>
          </a:prstGeom>
        </p:spPr>
        <p:txBody>
          <a:bodyPr anchor="t" rtlCol="false" tIns="0" lIns="0" bIns="0" rIns="0">
            <a:spAutoFit/>
          </a:bodyPr>
          <a:lstStyle/>
          <a:p>
            <a:pPr algn="l">
              <a:lnSpc>
                <a:spcPts val="7582"/>
              </a:lnSpc>
            </a:pPr>
            <a:r>
              <a:rPr lang="en-US" sz="8066" spc="-379" b="true">
                <a:solidFill>
                  <a:srgbClr val="FFFFFF"/>
                </a:solidFill>
                <a:latin typeface="Times New Roman MT Ultra-Bold"/>
                <a:ea typeface="Times New Roman MT Ultra-Bold"/>
                <a:cs typeface="Times New Roman MT Ultra-Bold"/>
                <a:sym typeface="Times New Roman MT Ultra-Bold"/>
              </a:rPr>
              <a:t>Abstract</a:t>
            </a:r>
          </a:p>
        </p:txBody>
      </p:sp>
      <p:sp>
        <p:nvSpPr>
          <p:cNvPr name="TextBox 6" id="6"/>
          <p:cNvSpPr txBox="true"/>
          <p:nvPr/>
        </p:nvSpPr>
        <p:spPr>
          <a:xfrm rot="0">
            <a:off x="1639073" y="3704925"/>
            <a:ext cx="14853325" cy="5299352"/>
          </a:xfrm>
          <a:prstGeom prst="rect">
            <a:avLst/>
          </a:prstGeom>
        </p:spPr>
        <p:txBody>
          <a:bodyPr anchor="t" rtlCol="false" tIns="0" lIns="0" bIns="0" rIns="0">
            <a:spAutoFit/>
          </a:bodyPr>
          <a:lstStyle/>
          <a:p>
            <a:pPr algn="just">
              <a:lnSpc>
                <a:spcPts val="4154"/>
              </a:lnSpc>
              <a:spcBef>
                <a:spcPct val="0"/>
              </a:spcBef>
            </a:pPr>
            <a:r>
              <a:rPr lang="en-US" sz="3296" spc="-184">
                <a:solidFill>
                  <a:srgbClr val="FFFFFF"/>
                </a:solidFill>
                <a:latin typeface="Times New Roman MT"/>
                <a:ea typeface="Times New Roman MT"/>
                <a:cs typeface="Times New Roman MT"/>
                <a:sym typeface="Times New Roman MT"/>
              </a:rPr>
              <a:t> Legal case management involves handling a large amount of information, such as case details, clients, lawyers, judges, hearings, documents, and judgments. When these records are managed manually or stored across different files, it can become difficult to find information, track case progress, monitor hearings, and understand the workload of legal professionals. The proposed Case File Management &amp; Analytics Portal is a centralized web application designed to make legal case management simpler and more organized. The system will store case-related information in a structured MySQL database, allowing users to easily add, update, search, and retrieve records. By connecting cases with their clients, lawyers, judges, hearings, documents, and judgments, the system provides a clear view of the complete history and current status of each case</a:t>
            </a:r>
            <a:r>
              <a:rPr lang="en-US" sz="3296" spc="-184">
                <a:solidFill>
                  <a:srgbClr val="FFFFFF"/>
                </a:solidFill>
                <a:latin typeface="Times New Roman MT"/>
                <a:ea typeface="Times New Roman MT"/>
                <a:cs typeface="Times New Roman MT"/>
                <a:sym typeface="Times New Roman MT"/>
              </a:rPr>
              <a:t>. </a:t>
            </a:r>
          </a:p>
        </p:txBody>
      </p:sp>
      <p:sp>
        <p:nvSpPr>
          <p:cNvPr name="Freeform 7" id="7"/>
          <p:cNvSpPr/>
          <p:nvPr/>
        </p:nvSpPr>
        <p:spPr>
          <a:xfrm flipH="false" flipV="false" rot="0">
            <a:off x="0" y="0"/>
            <a:ext cx="3594508" cy="1480091"/>
          </a:xfrm>
          <a:custGeom>
            <a:avLst/>
            <a:gdLst/>
            <a:ahLst/>
            <a:cxnLst/>
            <a:rect r="r" b="b" t="t" l="l"/>
            <a:pathLst>
              <a:path h="1480091" w="3594508">
                <a:moveTo>
                  <a:pt x="0" y="0"/>
                </a:moveTo>
                <a:lnTo>
                  <a:pt x="3594508" y="0"/>
                </a:lnTo>
                <a:lnTo>
                  <a:pt x="3594508" y="1480091"/>
                </a:lnTo>
                <a:lnTo>
                  <a:pt x="0" y="1480091"/>
                </a:lnTo>
                <a:lnTo>
                  <a:pt x="0" y="0"/>
                </a:lnTo>
                <a:close/>
              </a:path>
            </a:pathLst>
          </a:custGeom>
          <a:blipFill>
            <a:blip r:embed="rId2"/>
            <a:stretch>
              <a:fillRect l="0" t="0" r="0" b="0"/>
            </a:stretch>
          </a:blipFill>
        </p:spPr>
      </p:sp>
      <p:sp>
        <p:nvSpPr>
          <p:cNvPr name="Freeform 8" id="8"/>
          <p:cNvSpPr/>
          <p:nvPr/>
        </p:nvSpPr>
        <p:spPr>
          <a:xfrm flipH="false" flipV="false" rot="1925852">
            <a:off x="11466076" y="-4040445"/>
            <a:ext cx="9386678" cy="10557613"/>
          </a:xfrm>
          <a:custGeom>
            <a:avLst/>
            <a:gdLst/>
            <a:ahLst/>
            <a:cxnLst/>
            <a:rect r="r" b="b" t="t" l="l"/>
            <a:pathLst>
              <a:path h="10557613" w="9386678">
                <a:moveTo>
                  <a:pt x="0" y="0"/>
                </a:moveTo>
                <a:lnTo>
                  <a:pt x="9386678" y="0"/>
                </a:lnTo>
                <a:lnTo>
                  <a:pt x="9386678" y="10557613"/>
                </a:lnTo>
                <a:lnTo>
                  <a:pt x="0" y="10557613"/>
                </a:lnTo>
                <a:lnTo>
                  <a:pt x="0" y="0"/>
                </a:lnTo>
                <a:close/>
              </a:path>
            </a:pathLst>
          </a:custGeom>
          <a:blipFill>
            <a:blip r:embed="rId3">
              <a:alphaModFix amt="20999"/>
            </a:blip>
            <a:stretch>
              <a:fillRect l="0" t="0" r="0" b="0"/>
            </a:stretch>
          </a:blipFill>
        </p:spPr>
      </p:sp>
      <p:sp>
        <p:nvSpPr>
          <p:cNvPr name="Freeform 9" id="9"/>
          <p:cNvSpPr/>
          <p:nvPr/>
        </p:nvSpPr>
        <p:spPr>
          <a:xfrm flipH="false" flipV="false" rot="0">
            <a:off x="-1231290" y="6163012"/>
            <a:ext cx="12299674" cy="5143500"/>
          </a:xfrm>
          <a:custGeom>
            <a:avLst/>
            <a:gdLst/>
            <a:ahLst/>
            <a:cxnLst/>
            <a:rect r="r" b="b" t="t" l="l"/>
            <a:pathLst>
              <a:path h="5143500" w="12299674">
                <a:moveTo>
                  <a:pt x="0" y="0"/>
                </a:moveTo>
                <a:lnTo>
                  <a:pt x="12299673" y="0"/>
                </a:lnTo>
                <a:lnTo>
                  <a:pt x="12299673" y="5143500"/>
                </a:lnTo>
                <a:lnTo>
                  <a:pt x="0" y="5143500"/>
                </a:lnTo>
                <a:lnTo>
                  <a:pt x="0" y="0"/>
                </a:lnTo>
                <a:close/>
              </a:path>
            </a:pathLst>
          </a:custGeom>
          <a:blipFill>
            <a:blip r:embed="rId4">
              <a:alphaModFix amt="10999"/>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424242"/>
        </a:solidFill>
      </p:bgPr>
    </p:bg>
    <p:spTree>
      <p:nvGrpSpPr>
        <p:cNvPr id="1" name=""/>
        <p:cNvGrpSpPr/>
        <p:nvPr/>
      </p:nvGrpSpPr>
      <p:grpSpPr>
        <a:xfrm>
          <a:off x="0" y="0"/>
          <a:ext cx="0" cy="0"/>
          <a:chOff x="0" y="0"/>
          <a:chExt cx="0" cy="0"/>
        </a:xfrm>
      </p:grpSpPr>
      <p:grpSp>
        <p:nvGrpSpPr>
          <p:cNvPr name="Group 2" id="2"/>
          <p:cNvGrpSpPr/>
          <p:nvPr/>
        </p:nvGrpSpPr>
        <p:grpSpPr>
          <a:xfrm rot="0">
            <a:off x="885291" y="3243671"/>
            <a:ext cx="16360888" cy="6307586"/>
            <a:chOff x="0" y="0"/>
            <a:chExt cx="4309041" cy="1661257"/>
          </a:xfrm>
        </p:grpSpPr>
        <p:sp>
          <p:nvSpPr>
            <p:cNvPr name="Freeform 3" id="3"/>
            <p:cNvSpPr/>
            <p:nvPr/>
          </p:nvSpPr>
          <p:spPr>
            <a:xfrm flipH="false" flipV="false" rot="0">
              <a:off x="0" y="0"/>
              <a:ext cx="4309040" cy="1661257"/>
            </a:xfrm>
            <a:custGeom>
              <a:avLst/>
              <a:gdLst/>
              <a:ahLst/>
              <a:cxnLst/>
              <a:rect r="r" b="b" t="t" l="l"/>
              <a:pathLst>
                <a:path h="1661257" w="4309040">
                  <a:moveTo>
                    <a:pt x="44007" y="0"/>
                  </a:moveTo>
                  <a:lnTo>
                    <a:pt x="4265033" y="0"/>
                  </a:lnTo>
                  <a:cubicBezTo>
                    <a:pt x="4276704" y="0"/>
                    <a:pt x="4287898" y="4636"/>
                    <a:pt x="4296151" y="12889"/>
                  </a:cubicBezTo>
                  <a:cubicBezTo>
                    <a:pt x="4304404" y="21142"/>
                    <a:pt x="4309040" y="32336"/>
                    <a:pt x="4309040" y="44007"/>
                  </a:cubicBezTo>
                  <a:lnTo>
                    <a:pt x="4309040" y="1617250"/>
                  </a:lnTo>
                  <a:cubicBezTo>
                    <a:pt x="4309040" y="1628922"/>
                    <a:pt x="4304404" y="1640115"/>
                    <a:pt x="4296151" y="1648368"/>
                  </a:cubicBezTo>
                  <a:cubicBezTo>
                    <a:pt x="4287898" y="1656621"/>
                    <a:pt x="4276704" y="1661257"/>
                    <a:pt x="4265033" y="1661257"/>
                  </a:cubicBezTo>
                  <a:lnTo>
                    <a:pt x="44007" y="1661257"/>
                  </a:lnTo>
                  <a:cubicBezTo>
                    <a:pt x="32336" y="1661257"/>
                    <a:pt x="21142" y="1656621"/>
                    <a:pt x="12889" y="1648368"/>
                  </a:cubicBezTo>
                  <a:cubicBezTo>
                    <a:pt x="4636" y="1640115"/>
                    <a:pt x="0" y="1628922"/>
                    <a:pt x="0" y="1617250"/>
                  </a:cubicBezTo>
                  <a:lnTo>
                    <a:pt x="0" y="44007"/>
                  </a:lnTo>
                  <a:cubicBezTo>
                    <a:pt x="0" y="32336"/>
                    <a:pt x="4636" y="21142"/>
                    <a:pt x="12889" y="12889"/>
                  </a:cubicBezTo>
                  <a:cubicBezTo>
                    <a:pt x="21142" y="4636"/>
                    <a:pt x="32336" y="0"/>
                    <a:pt x="44007" y="0"/>
                  </a:cubicBezTo>
                  <a:close/>
                </a:path>
              </a:pathLst>
            </a:custGeom>
            <a:solidFill>
              <a:srgbClr val="424242"/>
            </a:solidFill>
            <a:ln w="19050" cap="rnd">
              <a:solidFill>
                <a:srgbClr val="D0D7DD"/>
              </a:solidFill>
              <a:prstDash val="solid"/>
              <a:round/>
            </a:ln>
          </p:spPr>
        </p:sp>
        <p:sp>
          <p:nvSpPr>
            <p:cNvPr name="TextBox 4" id="4"/>
            <p:cNvSpPr txBox="true"/>
            <p:nvPr/>
          </p:nvSpPr>
          <p:spPr>
            <a:xfrm>
              <a:off x="0" y="-28575"/>
              <a:ext cx="4309041" cy="1689832"/>
            </a:xfrm>
            <a:prstGeom prst="rect">
              <a:avLst/>
            </a:prstGeom>
          </p:spPr>
          <p:txBody>
            <a:bodyPr anchor="ctr" rtlCol="false" tIns="50800" lIns="50800" bIns="50800" rIns="50800"/>
            <a:lstStyle/>
            <a:p>
              <a:pPr algn="ctr">
                <a:lnSpc>
                  <a:spcPts val="2015"/>
                </a:lnSpc>
              </a:pPr>
            </a:p>
          </p:txBody>
        </p:sp>
      </p:grpSp>
      <p:sp>
        <p:nvSpPr>
          <p:cNvPr name="TextBox 5" id="5"/>
          <p:cNvSpPr txBox="true"/>
          <p:nvPr/>
        </p:nvSpPr>
        <p:spPr>
          <a:xfrm rot="0">
            <a:off x="1105241" y="1831322"/>
            <a:ext cx="13389009" cy="1197898"/>
          </a:xfrm>
          <a:prstGeom prst="rect">
            <a:avLst/>
          </a:prstGeom>
        </p:spPr>
        <p:txBody>
          <a:bodyPr anchor="t" rtlCol="false" tIns="0" lIns="0" bIns="0" rIns="0">
            <a:spAutoFit/>
          </a:bodyPr>
          <a:lstStyle/>
          <a:p>
            <a:pPr algn="l">
              <a:lnSpc>
                <a:spcPts val="7582"/>
              </a:lnSpc>
            </a:pPr>
            <a:r>
              <a:rPr lang="en-US" sz="8066" spc="-379" b="true">
                <a:solidFill>
                  <a:srgbClr val="FFFFFF"/>
                </a:solidFill>
                <a:latin typeface="Times New Roman MT Ultra-Bold"/>
                <a:ea typeface="Times New Roman MT Ultra-Bold"/>
                <a:cs typeface="Times New Roman MT Ultra-Bold"/>
                <a:sym typeface="Times New Roman MT Ultra-Bold"/>
              </a:rPr>
              <a:t>Abstract</a:t>
            </a:r>
          </a:p>
        </p:txBody>
      </p:sp>
      <p:sp>
        <p:nvSpPr>
          <p:cNvPr name="TextBox 6" id="6"/>
          <p:cNvSpPr txBox="true"/>
          <p:nvPr/>
        </p:nvSpPr>
        <p:spPr>
          <a:xfrm rot="0">
            <a:off x="1639073" y="3704925"/>
            <a:ext cx="14853325" cy="4775477"/>
          </a:xfrm>
          <a:prstGeom prst="rect">
            <a:avLst/>
          </a:prstGeom>
        </p:spPr>
        <p:txBody>
          <a:bodyPr anchor="t" rtlCol="false" tIns="0" lIns="0" bIns="0" rIns="0">
            <a:spAutoFit/>
          </a:bodyPr>
          <a:lstStyle/>
          <a:p>
            <a:pPr algn="just">
              <a:lnSpc>
                <a:spcPts val="4154"/>
              </a:lnSpc>
              <a:spcBef>
                <a:spcPct val="0"/>
              </a:spcBef>
            </a:pPr>
            <a:r>
              <a:rPr lang="en-US" sz="3296" spc="-184">
                <a:solidFill>
                  <a:srgbClr val="FFFFFF"/>
                </a:solidFill>
                <a:latin typeface="Times New Roman MT"/>
                <a:ea typeface="Times New Roman MT"/>
                <a:cs typeface="Times New Roman MT"/>
                <a:sym typeface="Times New Roman MT"/>
              </a:rPr>
              <a:t>The portal will also include SQL-based analytics to provide useful insights, such as pending and resolved cases, case distribution by type and status, active cases handled by lawyers, hearing statistics, document counts, and average case duration. These results will be presented through summary tables and dashboard metrics to make the information easier to understand. Overall, the project aims to improve the organization, consistency, accessibility, and retrieval of legal information while demonstrating key Database Management System concepts such as relational schema design, normalization, primary and foreign keys, constraints, joins, filtering, grouping, and aggregate queries. The system will be developed using React for the frontend, Node.js for the backend, and MySQL for database management.</a:t>
            </a:r>
          </a:p>
        </p:txBody>
      </p:sp>
      <p:sp>
        <p:nvSpPr>
          <p:cNvPr name="Freeform 7" id="7"/>
          <p:cNvSpPr/>
          <p:nvPr/>
        </p:nvSpPr>
        <p:spPr>
          <a:xfrm flipH="false" flipV="false" rot="0">
            <a:off x="0" y="0"/>
            <a:ext cx="3594508" cy="1480091"/>
          </a:xfrm>
          <a:custGeom>
            <a:avLst/>
            <a:gdLst/>
            <a:ahLst/>
            <a:cxnLst/>
            <a:rect r="r" b="b" t="t" l="l"/>
            <a:pathLst>
              <a:path h="1480091" w="3594508">
                <a:moveTo>
                  <a:pt x="0" y="0"/>
                </a:moveTo>
                <a:lnTo>
                  <a:pt x="3594508" y="0"/>
                </a:lnTo>
                <a:lnTo>
                  <a:pt x="3594508" y="1480091"/>
                </a:lnTo>
                <a:lnTo>
                  <a:pt x="0" y="1480091"/>
                </a:lnTo>
                <a:lnTo>
                  <a:pt x="0" y="0"/>
                </a:lnTo>
                <a:close/>
              </a:path>
            </a:pathLst>
          </a:custGeom>
          <a:blipFill>
            <a:blip r:embed="rId2"/>
            <a:stretch>
              <a:fillRect l="0" t="0" r="0" b="0"/>
            </a:stretch>
          </a:blipFill>
        </p:spPr>
      </p:sp>
      <p:sp>
        <p:nvSpPr>
          <p:cNvPr name="Freeform 8" id="8"/>
          <p:cNvSpPr/>
          <p:nvPr/>
        </p:nvSpPr>
        <p:spPr>
          <a:xfrm flipH="false" flipV="false" rot="1925852">
            <a:off x="11466076" y="-4040445"/>
            <a:ext cx="9386678" cy="10557613"/>
          </a:xfrm>
          <a:custGeom>
            <a:avLst/>
            <a:gdLst/>
            <a:ahLst/>
            <a:cxnLst/>
            <a:rect r="r" b="b" t="t" l="l"/>
            <a:pathLst>
              <a:path h="10557613" w="9386678">
                <a:moveTo>
                  <a:pt x="0" y="0"/>
                </a:moveTo>
                <a:lnTo>
                  <a:pt x="9386678" y="0"/>
                </a:lnTo>
                <a:lnTo>
                  <a:pt x="9386678" y="10557613"/>
                </a:lnTo>
                <a:lnTo>
                  <a:pt x="0" y="10557613"/>
                </a:lnTo>
                <a:lnTo>
                  <a:pt x="0" y="0"/>
                </a:lnTo>
                <a:close/>
              </a:path>
            </a:pathLst>
          </a:custGeom>
          <a:blipFill>
            <a:blip r:embed="rId3">
              <a:alphaModFix amt="20999"/>
            </a:blip>
            <a:stretch>
              <a:fillRect l="0" t="0" r="0" b="0"/>
            </a:stretch>
          </a:blipFill>
        </p:spPr>
      </p:sp>
      <p:sp>
        <p:nvSpPr>
          <p:cNvPr name="Freeform 9" id="9"/>
          <p:cNvSpPr/>
          <p:nvPr/>
        </p:nvSpPr>
        <p:spPr>
          <a:xfrm flipH="false" flipV="false" rot="0">
            <a:off x="-1231290" y="6163012"/>
            <a:ext cx="12299674" cy="5143500"/>
          </a:xfrm>
          <a:custGeom>
            <a:avLst/>
            <a:gdLst/>
            <a:ahLst/>
            <a:cxnLst/>
            <a:rect r="r" b="b" t="t" l="l"/>
            <a:pathLst>
              <a:path h="5143500" w="12299674">
                <a:moveTo>
                  <a:pt x="0" y="0"/>
                </a:moveTo>
                <a:lnTo>
                  <a:pt x="12299673" y="0"/>
                </a:lnTo>
                <a:lnTo>
                  <a:pt x="12299673" y="5143500"/>
                </a:lnTo>
                <a:lnTo>
                  <a:pt x="0" y="5143500"/>
                </a:lnTo>
                <a:lnTo>
                  <a:pt x="0" y="0"/>
                </a:lnTo>
                <a:close/>
              </a:path>
            </a:pathLst>
          </a:custGeom>
          <a:blipFill>
            <a:blip r:embed="rId4">
              <a:alphaModFix amt="10999"/>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424242"/>
        </a:solidFill>
      </p:bgPr>
    </p:bg>
    <p:spTree>
      <p:nvGrpSpPr>
        <p:cNvPr id="1" name=""/>
        <p:cNvGrpSpPr/>
        <p:nvPr/>
      </p:nvGrpSpPr>
      <p:grpSpPr>
        <a:xfrm>
          <a:off x="0" y="0"/>
          <a:ext cx="0" cy="0"/>
          <a:chOff x="0" y="0"/>
          <a:chExt cx="0" cy="0"/>
        </a:xfrm>
      </p:grpSpPr>
      <p:grpSp>
        <p:nvGrpSpPr>
          <p:cNvPr name="Group 2" id="2"/>
          <p:cNvGrpSpPr/>
          <p:nvPr/>
        </p:nvGrpSpPr>
        <p:grpSpPr>
          <a:xfrm rot="0">
            <a:off x="885291" y="3243671"/>
            <a:ext cx="16360888" cy="6307586"/>
            <a:chOff x="0" y="0"/>
            <a:chExt cx="4309041" cy="1661257"/>
          </a:xfrm>
        </p:grpSpPr>
        <p:sp>
          <p:nvSpPr>
            <p:cNvPr name="Freeform 3" id="3"/>
            <p:cNvSpPr/>
            <p:nvPr/>
          </p:nvSpPr>
          <p:spPr>
            <a:xfrm flipH="false" flipV="false" rot="0">
              <a:off x="0" y="0"/>
              <a:ext cx="4309040" cy="1661257"/>
            </a:xfrm>
            <a:custGeom>
              <a:avLst/>
              <a:gdLst/>
              <a:ahLst/>
              <a:cxnLst/>
              <a:rect r="r" b="b" t="t" l="l"/>
              <a:pathLst>
                <a:path h="1661257" w="4309040">
                  <a:moveTo>
                    <a:pt x="44007" y="0"/>
                  </a:moveTo>
                  <a:lnTo>
                    <a:pt x="4265033" y="0"/>
                  </a:lnTo>
                  <a:cubicBezTo>
                    <a:pt x="4276704" y="0"/>
                    <a:pt x="4287898" y="4636"/>
                    <a:pt x="4296151" y="12889"/>
                  </a:cubicBezTo>
                  <a:cubicBezTo>
                    <a:pt x="4304404" y="21142"/>
                    <a:pt x="4309040" y="32336"/>
                    <a:pt x="4309040" y="44007"/>
                  </a:cubicBezTo>
                  <a:lnTo>
                    <a:pt x="4309040" y="1617250"/>
                  </a:lnTo>
                  <a:cubicBezTo>
                    <a:pt x="4309040" y="1628922"/>
                    <a:pt x="4304404" y="1640115"/>
                    <a:pt x="4296151" y="1648368"/>
                  </a:cubicBezTo>
                  <a:cubicBezTo>
                    <a:pt x="4287898" y="1656621"/>
                    <a:pt x="4276704" y="1661257"/>
                    <a:pt x="4265033" y="1661257"/>
                  </a:cubicBezTo>
                  <a:lnTo>
                    <a:pt x="44007" y="1661257"/>
                  </a:lnTo>
                  <a:cubicBezTo>
                    <a:pt x="32336" y="1661257"/>
                    <a:pt x="21142" y="1656621"/>
                    <a:pt x="12889" y="1648368"/>
                  </a:cubicBezTo>
                  <a:cubicBezTo>
                    <a:pt x="4636" y="1640115"/>
                    <a:pt x="0" y="1628922"/>
                    <a:pt x="0" y="1617250"/>
                  </a:cubicBezTo>
                  <a:lnTo>
                    <a:pt x="0" y="44007"/>
                  </a:lnTo>
                  <a:cubicBezTo>
                    <a:pt x="0" y="32336"/>
                    <a:pt x="4636" y="21142"/>
                    <a:pt x="12889" y="12889"/>
                  </a:cubicBezTo>
                  <a:cubicBezTo>
                    <a:pt x="21142" y="4636"/>
                    <a:pt x="32336" y="0"/>
                    <a:pt x="44007" y="0"/>
                  </a:cubicBezTo>
                  <a:close/>
                </a:path>
              </a:pathLst>
            </a:custGeom>
            <a:solidFill>
              <a:srgbClr val="424242"/>
            </a:solidFill>
            <a:ln w="19050" cap="rnd">
              <a:solidFill>
                <a:srgbClr val="D0D7DD"/>
              </a:solidFill>
              <a:prstDash val="solid"/>
              <a:round/>
            </a:ln>
          </p:spPr>
        </p:sp>
        <p:sp>
          <p:nvSpPr>
            <p:cNvPr name="TextBox 4" id="4"/>
            <p:cNvSpPr txBox="true"/>
            <p:nvPr/>
          </p:nvSpPr>
          <p:spPr>
            <a:xfrm>
              <a:off x="0" y="-28575"/>
              <a:ext cx="4309041" cy="1689832"/>
            </a:xfrm>
            <a:prstGeom prst="rect">
              <a:avLst/>
            </a:prstGeom>
          </p:spPr>
          <p:txBody>
            <a:bodyPr anchor="ctr" rtlCol="false" tIns="50800" lIns="50800" bIns="50800" rIns="50800"/>
            <a:lstStyle/>
            <a:p>
              <a:pPr algn="ctr">
                <a:lnSpc>
                  <a:spcPts val="2015"/>
                </a:lnSpc>
              </a:pPr>
            </a:p>
          </p:txBody>
        </p:sp>
      </p:grpSp>
      <p:sp>
        <p:nvSpPr>
          <p:cNvPr name="TextBox 5" id="5"/>
          <p:cNvSpPr txBox="true"/>
          <p:nvPr/>
        </p:nvSpPr>
        <p:spPr>
          <a:xfrm rot="0">
            <a:off x="1398557" y="1915127"/>
            <a:ext cx="13389009" cy="1197898"/>
          </a:xfrm>
          <a:prstGeom prst="rect">
            <a:avLst/>
          </a:prstGeom>
        </p:spPr>
        <p:txBody>
          <a:bodyPr anchor="t" rtlCol="false" tIns="0" lIns="0" bIns="0" rIns="0">
            <a:spAutoFit/>
          </a:bodyPr>
          <a:lstStyle/>
          <a:p>
            <a:pPr algn="l">
              <a:lnSpc>
                <a:spcPts val="7582"/>
              </a:lnSpc>
            </a:pPr>
            <a:r>
              <a:rPr lang="en-US" sz="8066" spc="-379" b="true">
                <a:solidFill>
                  <a:srgbClr val="FFFFFF"/>
                </a:solidFill>
                <a:latin typeface="Times New Roman MT Ultra-Bold"/>
                <a:ea typeface="Times New Roman MT Ultra-Bold"/>
                <a:cs typeface="Times New Roman MT Ultra-Bold"/>
                <a:sym typeface="Times New Roman MT Ultra-Bold"/>
              </a:rPr>
              <a:t>Objectives</a:t>
            </a:r>
          </a:p>
        </p:txBody>
      </p:sp>
      <p:sp>
        <p:nvSpPr>
          <p:cNvPr name="TextBox 6" id="6"/>
          <p:cNvSpPr txBox="true"/>
          <p:nvPr/>
        </p:nvSpPr>
        <p:spPr>
          <a:xfrm rot="0">
            <a:off x="1639073" y="3436874"/>
            <a:ext cx="14520342" cy="6197209"/>
          </a:xfrm>
          <a:prstGeom prst="rect">
            <a:avLst/>
          </a:prstGeom>
        </p:spPr>
        <p:txBody>
          <a:bodyPr anchor="t" rtlCol="false" tIns="0" lIns="0" bIns="0" rIns="0">
            <a:spAutoFit/>
          </a:bodyPr>
          <a:lstStyle/>
          <a:p>
            <a:pPr algn="just" marL="695852" indent="-347926" lvl="1">
              <a:lnSpc>
                <a:spcPts val="4061"/>
              </a:lnSpc>
              <a:buFont typeface="Arial"/>
              <a:buChar char="•"/>
            </a:pPr>
            <a:r>
              <a:rPr lang="en-US" sz="3223" spc="-180">
                <a:solidFill>
                  <a:srgbClr val="FFFFFF"/>
                </a:solidFill>
                <a:latin typeface="Times New Roman MT"/>
                <a:ea typeface="Times New Roman MT"/>
                <a:cs typeface="Times New Roman MT"/>
                <a:sym typeface="Times New Roman MT"/>
              </a:rPr>
              <a:t>To develop a centralized system for storing and managing legal case information.</a:t>
            </a:r>
          </a:p>
          <a:p>
            <a:pPr algn="just" marL="695852" indent="-347926" lvl="1">
              <a:lnSpc>
                <a:spcPts val="4061"/>
              </a:lnSpc>
              <a:buFont typeface="Arial"/>
              <a:buChar char="•"/>
            </a:pPr>
            <a:r>
              <a:rPr lang="en-US" sz="3223" spc="-180">
                <a:solidFill>
                  <a:srgbClr val="FFFFFF"/>
                </a:solidFill>
                <a:latin typeface="Times New Roman MT"/>
                <a:ea typeface="Times New Roman MT"/>
                <a:cs typeface="Times New Roman MT"/>
                <a:sym typeface="Times New Roman MT"/>
              </a:rPr>
              <a:t>To reduce data duplication and inconsistencies caused by maintaining records across multiple files.</a:t>
            </a:r>
          </a:p>
          <a:p>
            <a:pPr algn="just" marL="695852" indent="-347926" lvl="1">
              <a:lnSpc>
                <a:spcPts val="4061"/>
              </a:lnSpc>
              <a:buFont typeface="Arial"/>
              <a:buChar char="•"/>
            </a:pPr>
            <a:r>
              <a:rPr lang="en-US" sz="3223" spc="-180">
                <a:solidFill>
                  <a:srgbClr val="FFFFFF"/>
                </a:solidFill>
                <a:latin typeface="Times New Roman MT"/>
                <a:ea typeface="Times New Roman MT"/>
                <a:cs typeface="Times New Roman MT"/>
                <a:sym typeface="Times New Roman MT"/>
              </a:rPr>
              <a:t>To provide easy access to case details, clients, lawyers, judges, hearings, documents, and judgments.</a:t>
            </a:r>
          </a:p>
          <a:p>
            <a:pPr algn="just" marL="695852" indent="-347926" lvl="1">
              <a:lnSpc>
                <a:spcPts val="4061"/>
              </a:lnSpc>
              <a:buFont typeface="Arial"/>
              <a:buChar char="•"/>
            </a:pPr>
            <a:r>
              <a:rPr lang="en-US" sz="3223" spc="-180">
                <a:solidFill>
                  <a:srgbClr val="FFFFFF"/>
                </a:solidFill>
                <a:latin typeface="Times New Roman MT"/>
                <a:ea typeface="Times New Roman MT"/>
                <a:cs typeface="Times New Roman MT"/>
                <a:sym typeface="Times New Roman MT"/>
              </a:rPr>
              <a:t>To enable efficient searching, updating, and retrieval of case information.</a:t>
            </a:r>
          </a:p>
          <a:p>
            <a:pPr algn="just" marL="695852" indent="-347926" lvl="1">
              <a:lnSpc>
                <a:spcPts val="4061"/>
              </a:lnSpc>
              <a:buFont typeface="Arial"/>
              <a:buChar char="•"/>
            </a:pPr>
            <a:r>
              <a:rPr lang="en-US" sz="3223" spc="-180">
                <a:solidFill>
                  <a:srgbClr val="FFFFFF"/>
                </a:solidFill>
                <a:latin typeface="Times New Roman MT"/>
                <a:ea typeface="Times New Roman MT"/>
                <a:cs typeface="Times New Roman MT"/>
                <a:sym typeface="Times New Roman MT"/>
              </a:rPr>
              <a:t>To track case status, hearing schedules, and case progress.</a:t>
            </a:r>
          </a:p>
          <a:p>
            <a:pPr algn="just" marL="695852" indent="-347926" lvl="1">
              <a:lnSpc>
                <a:spcPts val="4061"/>
              </a:lnSpc>
              <a:buFont typeface="Arial"/>
              <a:buChar char="•"/>
            </a:pPr>
            <a:r>
              <a:rPr lang="en-US" sz="3223" spc="-180">
                <a:solidFill>
                  <a:srgbClr val="FFFFFF"/>
                </a:solidFill>
                <a:latin typeface="Times New Roman MT"/>
                <a:ea typeface="Times New Roman MT"/>
                <a:cs typeface="Times New Roman MT"/>
                <a:sym typeface="Times New Roman MT"/>
              </a:rPr>
              <a:t>To generate useful analytics such as pending/resolved cases, case distribution, lawyer workload, and hearing statistics.</a:t>
            </a:r>
          </a:p>
          <a:p>
            <a:pPr algn="just" marL="695852" indent="-347926" lvl="1">
              <a:lnSpc>
                <a:spcPts val="4061"/>
              </a:lnSpc>
              <a:buFont typeface="Arial"/>
              <a:buChar char="•"/>
            </a:pPr>
            <a:r>
              <a:rPr lang="en-US" sz="3223" spc="-180">
                <a:solidFill>
                  <a:srgbClr val="FFFFFF"/>
                </a:solidFill>
                <a:latin typeface="Times New Roman MT"/>
                <a:ea typeface="Times New Roman MT"/>
                <a:cs typeface="Times New Roman MT"/>
                <a:sym typeface="Times New Roman MT"/>
              </a:rPr>
              <a:t>To demonstrate DBMS concepts such as normalization, primary keys, foreign keys, constraints, joins, grouping, and aggregate queries.</a:t>
            </a:r>
          </a:p>
          <a:p>
            <a:pPr algn="just">
              <a:lnSpc>
                <a:spcPts val="4061"/>
              </a:lnSpc>
              <a:spcBef>
                <a:spcPct val="0"/>
              </a:spcBef>
            </a:pPr>
          </a:p>
        </p:txBody>
      </p:sp>
      <p:sp>
        <p:nvSpPr>
          <p:cNvPr name="Freeform 7" id="7"/>
          <p:cNvSpPr/>
          <p:nvPr/>
        </p:nvSpPr>
        <p:spPr>
          <a:xfrm flipH="false" flipV="false" rot="0">
            <a:off x="0" y="0"/>
            <a:ext cx="3594508" cy="1480091"/>
          </a:xfrm>
          <a:custGeom>
            <a:avLst/>
            <a:gdLst/>
            <a:ahLst/>
            <a:cxnLst/>
            <a:rect r="r" b="b" t="t" l="l"/>
            <a:pathLst>
              <a:path h="1480091" w="3594508">
                <a:moveTo>
                  <a:pt x="0" y="0"/>
                </a:moveTo>
                <a:lnTo>
                  <a:pt x="3594508" y="0"/>
                </a:lnTo>
                <a:lnTo>
                  <a:pt x="3594508" y="1480091"/>
                </a:lnTo>
                <a:lnTo>
                  <a:pt x="0" y="1480091"/>
                </a:lnTo>
                <a:lnTo>
                  <a:pt x="0" y="0"/>
                </a:lnTo>
                <a:close/>
              </a:path>
            </a:pathLst>
          </a:custGeom>
          <a:blipFill>
            <a:blip r:embed="rId2"/>
            <a:stretch>
              <a:fillRect l="0" t="0" r="0" b="0"/>
            </a:stretch>
          </a:blipFill>
        </p:spPr>
      </p:sp>
      <p:sp>
        <p:nvSpPr>
          <p:cNvPr name="Freeform 8" id="8"/>
          <p:cNvSpPr/>
          <p:nvPr/>
        </p:nvSpPr>
        <p:spPr>
          <a:xfrm flipH="false" flipV="false" rot="1925852">
            <a:off x="11466076" y="-4040445"/>
            <a:ext cx="9386678" cy="10557613"/>
          </a:xfrm>
          <a:custGeom>
            <a:avLst/>
            <a:gdLst/>
            <a:ahLst/>
            <a:cxnLst/>
            <a:rect r="r" b="b" t="t" l="l"/>
            <a:pathLst>
              <a:path h="10557613" w="9386678">
                <a:moveTo>
                  <a:pt x="0" y="0"/>
                </a:moveTo>
                <a:lnTo>
                  <a:pt x="9386678" y="0"/>
                </a:lnTo>
                <a:lnTo>
                  <a:pt x="9386678" y="10557613"/>
                </a:lnTo>
                <a:lnTo>
                  <a:pt x="0" y="10557613"/>
                </a:lnTo>
                <a:lnTo>
                  <a:pt x="0" y="0"/>
                </a:lnTo>
                <a:close/>
              </a:path>
            </a:pathLst>
          </a:custGeom>
          <a:blipFill>
            <a:blip r:embed="rId3">
              <a:alphaModFix amt="20999"/>
            </a:blip>
            <a:stretch>
              <a:fillRect l="0" t="0" r="0" b="0"/>
            </a:stretch>
          </a:blipFill>
        </p:spPr>
      </p:sp>
      <p:sp>
        <p:nvSpPr>
          <p:cNvPr name="Freeform 9" id="9"/>
          <p:cNvSpPr/>
          <p:nvPr/>
        </p:nvSpPr>
        <p:spPr>
          <a:xfrm flipH="false" flipV="false" rot="0">
            <a:off x="-1231290" y="6163012"/>
            <a:ext cx="12299674" cy="5143500"/>
          </a:xfrm>
          <a:custGeom>
            <a:avLst/>
            <a:gdLst/>
            <a:ahLst/>
            <a:cxnLst/>
            <a:rect r="r" b="b" t="t" l="l"/>
            <a:pathLst>
              <a:path h="5143500" w="12299674">
                <a:moveTo>
                  <a:pt x="0" y="0"/>
                </a:moveTo>
                <a:lnTo>
                  <a:pt x="12299673" y="0"/>
                </a:lnTo>
                <a:lnTo>
                  <a:pt x="12299673" y="5143500"/>
                </a:lnTo>
                <a:lnTo>
                  <a:pt x="0" y="5143500"/>
                </a:lnTo>
                <a:lnTo>
                  <a:pt x="0" y="0"/>
                </a:lnTo>
                <a:close/>
              </a:path>
            </a:pathLst>
          </a:custGeom>
          <a:blipFill>
            <a:blip r:embed="rId4">
              <a:alphaModFix amt="10999"/>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424242"/>
        </a:solidFill>
      </p:bgPr>
    </p:bg>
    <p:spTree>
      <p:nvGrpSpPr>
        <p:cNvPr id="1" name=""/>
        <p:cNvGrpSpPr/>
        <p:nvPr/>
      </p:nvGrpSpPr>
      <p:grpSpPr>
        <a:xfrm>
          <a:off x="0" y="0"/>
          <a:ext cx="0" cy="0"/>
          <a:chOff x="0" y="0"/>
          <a:chExt cx="0" cy="0"/>
        </a:xfrm>
      </p:grpSpPr>
      <p:grpSp>
        <p:nvGrpSpPr>
          <p:cNvPr name="Group 2" id="2"/>
          <p:cNvGrpSpPr/>
          <p:nvPr/>
        </p:nvGrpSpPr>
        <p:grpSpPr>
          <a:xfrm rot="0">
            <a:off x="885291" y="3243671"/>
            <a:ext cx="16360888" cy="6307586"/>
            <a:chOff x="0" y="0"/>
            <a:chExt cx="4309041" cy="1661257"/>
          </a:xfrm>
        </p:grpSpPr>
        <p:sp>
          <p:nvSpPr>
            <p:cNvPr name="Freeform 3" id="3"/>
            <p:cNvSpPr/>
            <p:nvPr/>
          </p:nvSpPr>
          <p:spPr>
            <a:xfrm flipH="false" flipV="false" rot="0">
              <a:off x="0" y="0"/>
              <a:ext cx="4309040" cy="1661257"/>
            </a:xfrm>
            <a:custGeom>
              <a:avLst/>
              <a:gdLst/>
              <a:ahLst/>
              <a:cxnLst/>
              <a:rect r="r" b="b" t="t" l="l"/>
              <a:pathLst>
                <a:path h="1661257" w="4309040">
                  <a:moveTo>
                    <a:pt x="44007" y="0"/>
                  </a:moveTo>
                  <a:lnTo>
                    <a:pt x="4265033" y="0"/>
                  </a:lnTo>
                  <a:cubicBezTo>
                    <a:pt x="4276704" y="0"/>
                    <a:pt x="4287898" y="4636"/>
                    <a:pt x="4296151" y="12889"/>
                  </a:cubicBezTo>
                  <a:cubicBezTo>
                    <a:pt x="4304404" y="21142"/>
                    <a:pt x="4309040" y="32336"/>
                    <a:pt x="4309040" y="44007"/>
                  </a:cubicBezTo>
                  <a:lnTo>
                    <a:pt x="4309040" y="1617250"/>
                  </a:lnTo>
                  <a:cubicBezTo>
                    <a:pt x="4309040" y="1628922"/>
                    <a:pt x="4304404" y="1640115"/>
                    <a:pt x="4296151" y="1648368"/>
                  </a:cubicBezTo>
                  <a:cubicBezTo>
                    <a:pt x="4287898" y="1656621"/>
                    <a:pt x="4276704" y="1661257"/>
                    <a:pt x="4265033" y="1661257"/>
                  </a:cubicBezTo>
                  <a:lnTo>
                    <a:pt x="44007" y="1661257"/>
                  </a:lnTo>
                  <a:cubicBezTo>
                    <a:pt x="32336" y="1661257"/>
                    <a:pt x="21142" y="1656621"/>
                    <a:pt x="12889" y="1648368"/>
                  </a:cubicBezTo>
                  <a:cubicBezTo>
                    <a:pt x="4636" y="1640115"/>
                    <a:pt x="0" y="1628922"/>
                    <a:pt x="0" y="1617250"/>
                  </a:cubicBezTo>
                  <a:lnTo>
                    <a:pt x="0" y="44007"/>
                  </a:lnTo>
                  <a:cubicBezTo>
                    <a:pt x="0" y="32336"/>
                    <a:pt x="4636" y="21142"/>
                    <a:pt x="12889" y="12889"/>
                  </a:cubicBezTo>
                  <a:cubicBezTo>
                    <a:pt x="21142" y="4636"/>
                    <a:pt x="32336" y="0"/>
                    <a:pt x="44007" y="0"/>
                  </a:cubicBezTo>
                  <a:close/>
                </a:path>
              </a:pathLst>
            </a:custGeom>
            <a:solidFill>
              <a:srgbClr val="424242"/>
            </a:solidFill>
            <a:ln w="19050" cap="rnd">
              <a:solidFill>
                <a:srgbClr val="D0D7DD"/>
              </a:solidFill>
              <a:prstDash val="solid"/>
              <a:round/>
            </a:ln>
          </p:spPr>
        </p:sp>
        <p:sp>
          <p:nvSpPr>
            <p:cNvPr name="TextBox 4" id="4"/>
            <p:cNvSpPr txBox="true"/>
            <p:nvPr/>
          </p:nvSpPr>
          <p:spPr>
            <a:xfrm>
              <a:off x="0" y="-28575"/>
              <a:ext cx="4309041" cy="1689832"/>
            </a:xfrm>
            <a:prstGeom prst="rect">
              <a:avLst/>
            </a:prstGeom>
          </p:spPr>
          <p:txBody>
            <a:bodyPr anchor="ctr" rtlCol="false" tIns="50800" lIns="50800" bIns="50800" rIns="50800"/>
            <a:lstStyle/>
            <a:p>
              <a:pPr algn="ctr">
                <a:lnSpc>
                  <a:spcPts val="2015"/>
                </a:lnSpc>
              </a:pPr>
            </a:p>
          </p:txBody>
        </p:sp>
      </p:grpSp>
      <p:sp>
        <p:nvSpPr>
          <p:cNvPr name="TextBox 5" id="5"/>
          <p:cNvSpPr txBox="true"/>
          <p:nvPr/>
        </p:nvSpPr>
        <p:spPr>
          <a:xfrm rot="0">
            <a:off x="1028700" y="1781982"/>
            <a:ext cx="13389009" cy="1197898"/>
          </a:xfrm>
          <a:prstGeom prst="rect">
            <a:avLst/>
          </a:prstGeom>
        </p:spPr>
        <p:txBody>
          <a:bodyPr anchor="t" rtlCol="false" tIns="0" lIns="0" bIns="0" rIns="0">
            <a:spAutoFit/>
          </a:bodyPr>
          <a:lstStyle/>
          <a:p>
            <a:pPr algn="l">
              <a:lnSpc>
                <a:spcPts val="7582"/>
              </a:lnSpc>
            </a:pPr>
            <a:r>
              <a:rPr lang="en-US" sz="8066" spc="-379" b="true">
                <a:solidFill>
                  <a:srgbClr val="FFFFFF"/>
                </a:solidFill>
                <a:latin typeface="Times New Roman MT Ultra-Bold"/>
                <a:ea typeface="Times New Roman MT Ultra-Bold"/>
                <a:cs typeface="Times New Roman MT Ultra-Bold"/>
                <a:sym typeface="Times New Roman MT Ultra-Bold"/>
              </a:rPr>
              <a:t>Proposed System</a:t>
            </a:r>
          </a:p>
        </p:txBody>
      </p:sp>
      <p:sp>
        <p:nvSpPr>
          <p:cNvPr name="TextBox 6" id="6"/>
          <p:cNvSpPr txBox="true"/>
          <p:nvPr/>
        </p:nvSpPr>
        <p:spPr>
          <a:xfrm rot="0">
            <a:off x="1306090" y="3160855"/>
            <a:ext cx="14853325" cy="6347102"/>
          </a:xfrm>
          <a:prstGeom prst="rect">
            <a:avLst/>
          </a:prstGeom>
        </p:spPr>
        <p:txBody>
          <a:bodyPr anchor="t" rtlCol="false" tIns="0" lIns="0" bIns="0" rIns="0">
            <a:spAutoFit/>
          </a:bodyPr>
          <a:lstStyle/>
          <a:p>
            <a:pPr algn="just">
              <a:lnSpc>
                <a:spcPts val="4154"/>
              </a:lnSpc>
            </a:pPr>
          </a:p>
          <a:p>
            <a:pPr algn="just">
              <a:lnSpc>
                <a:spcPts val="4154"/>
              </a:lnSpc>
            </a:pPr>
            <a:r>
              <a:rPr lang="en-US" sz="3296" spc="-184">
                <a:solidFill>
                  <a:srgbClr val="FFFFFF"/>
                </a:solidFill>
                <a:latin typeface="Times New Roman MT"/>
                <a:ea typeface="Times New Roman MT"/>
                <a:cs typeface="Times New Roman MT"/>
                <a:sym typeface="Times New Roman MT"/>
              </a:rPr>
              <a:t>Main Features:</a:t>
            </a:r>
          </a:p>
          <a:p>
            <a:pPr algn="just" marL="711809" indent="-355905" lvl="1">
              <a:lnSpc>
                <a:spcPts val="4154"/>
              </a:lnSpc>
              <a:buFont typeface="Arial"/>
              <a:buChar char="•"/>
            </a:pPr>
            <a:r>
              <a:rPr lang="en-US" sz="3296" spc="-184">
                <a:solidFill>
                  <a:srgbClr val="FFFFFF"/>
                </a:solidFill>
                <a:latin typeface="Times New Roman MT"/>
                <a:ea typeface="Times New Roman MT"/>
                <a:cs typeface="Times New Roman MT"/>
                <a:sym typeface="Times New Roman MT"/>
              </a:rPr>
              <a:t>Case Management – Add, update, search, and track legal cases.</a:t>
            </a:r>
          </a:p>
          <a:p>
            <a:pPr algn="just" marL="711809" indent="-355905" lvl="1">
              <a:lnSpc>
                <a:spcPts val="4154"/>
              </a:lnSpc>
              <a:buFont typeface="Arial"/>
              <a:buChar char="•"/>
            </a:pPr>
            <a:r>
              <a:rPr lang="en-US" sz="3296" spc="-184">
                <a:solidFill>
                  <a:srgbClr val="FFFFFF"/>
                </a:solidFill>
                <a:latin typeface="Times New Roman MT"/>
                <a:ea typeface="Times New Roman MT"/>
                <a:cs typeface="Times New Roman MT"/>
                <a:sym typeface="Times New Roman MT"/>
              </a:rPr>
              <a:t>Client Management – Maintain client information and link clients with their cases.</a:t>
            </a:r>
          </a:p>
          <a:p>
            <a:pPr algn="just" marL="711809" indent="-355905" lvl="1">
              <a:lnSpc>
                <a:spcPts val="4154"/>
              </a:lnSpc>
              <a:buFont typeface="Arial"/>
              <a:buChar char="•"/>
            </a:pPr>
            <a:r>
              <a:rPr lang="en-US" sz="3296" spc="-184">
                <a:solidFill>
                  <a:srgbClr val="FFFFFF"/>
                </a:solidFill>
                <a:latin typeface="Times New Roman MT"/>
                <a:ea typeface="Times New Roman MT"/>
                <a:cs typeface="Times New Roman MT"/>
                <a:sym typeface="Times New Roman MT"/>
              </a:rPr>
              <a:t>Lawyer Management – Store lawyer details and track their active cases.</a:t>
            </a:r>
          </a:p>
          <a:p>
            <a:pPr algn="just" marL="711809" indent="-355905" lvl="1">
              <a:lnSpc>
                <a:spcPts val="4154"/>
              </a:lnSpc>
              <a:buFont typeface="Arial"/>
              <a:buChar char="•"/>
            </a:pPr>
            <a:r>
              <a:rPr lang="en-US" sz="3296" spc="-184">
                <a:solidFill>
                  <a:srgbClr val="FFFFFF"/>
                </a:solidFill>
                <a:latin typeface="Times New Roman MT"/>
                <a:ea typeface="Times New Roman MT"/>
                <a:cs typeface="Times New Roman MT"/>
                <a:sym typeface="Times New Roman MT"/>
              </a:rPr>
              <a:t>Judge Management – Maintain information about judges handling cases.</a:t>
            </a:r>
          </a:p>
          <a:p>
            <a:pPr algn="just" marL="711809" indent="-355905" lvl="1">
              <a:lnSpc>
                <a:spcPts val="4154"/>
              </a:lnSpc>
              <a:buFont typeface="Arial"/>
              <a:buChar char="•"/>
            </a:pPr>
            <a:r>
              <a:rPr lang="en-US" sz="3296" spc="-184">
                <a:solidFill>
                  <a:srgbClr val="FFFFFF"/>
                </a:solidFill>
                <a:latin typeface="Times New Roman MT"/>
                <a:ea typeface="Times New Roman MT"/>
                <a:cs typeface="Times New Roman MT"/>
                <a:sym typeface="Times New Roman MT"/>
              </a:rPr>
              <a:t>Hearing Management – Record hearing dates, outcomes, and next hearing dates.</a:t>
            </a:r>
          </a:p>
          <a:p>
            <a:pPr algn="just" marL="711809" indent="-355905" lvl="1">
              <a:lnSpc>
                <a:spcPts val="4154"/>
              </a:lnSpc>
              <a:buFont typeface="Arial"/>
              <a:buChar char="•"/>
            </a:pPr>
            <a:r>
              <a:rPr lang="en-US" sz="3296" spc="-184">
                <a:solidFill>
                  <a:srgbClr val="FFFFFF"/>
                </a:solidFill>
                <a:latin typeface="Times New Roman MT"/>
                <a:ea typeface="Times New Roman MT"/>
                <a:cs typeface="Times New Roman MT"/>
                <a:sym typeface="Times New Roman MT"/>
              </a:rPr>
              <a:t>Document Management – Maintain case-related document records.</a:t>
            </a:r>
          </a:p>
          <a:p>
            <a:pPr algn="just" marL="711809" indent="-355905" lvl="1">
              <a:lnSpc>
                <a:spcPts val="4154"/>
              </a:lnSpc>
              <a:buFont typeface="Arial"/>
              <a:buChar char="•"/>
            </a:pPr>
            <a:r>
              <a:rPr lang="en-US" sz="3296" spc="-184">
                <a:solidFill>
                  <a:srgbClr val="FFFFFF"/>
                </a:solidFill>
                <a:latin typeface="Times New Roman MT"/>
                <a:ea typeface="Times New Roman MT"/>
                <a:cs typeface="Times New Roman MT"/>
                <a:sym typeface="Times New Roman MT"/>
              </a:rPr>
              <a:t>Judgment Management – Store judgment details and final decisions.</a:t>
            </a:r>
          </a:p>
          <a:p>
            <a:pPr algn="just" marL="711809" indent="-355905" lvl="1">
              <a:lnSpc>
                <a:spcPts val="4154"/>
              </a:lnSpc>
              <a:buFont typeface="Arial"/>
              <a:buChar char="•"/>
            </a:pPr>
            <a:r>
              <a:rPr lang="en-US" sz="3296" spc="-184">
                <a:solidFill>
                  <a:srgbClr val="FFFFFF"/>
                </a:solidFill>
                <a:latin typeface="Times New Roman MT"/>
                <a:ea typeface="Times New Roman MT"/>
                <a:cs typeface="Times New Roman MT"/>
                <a:sym typeface="Times New Roman MT"/>
              </a:rPr>
              <a:t>Analytics Dashboard – Display statistics about case status, types, hearings, workload, and duration.</a:t>
            </a:r>
          </a:p>
          <a:p>
            <a:pPr algn="just">
              <a:lnSpc>
                <a:spcPts val="4154"/>
              </a:lnSpc>
              <a:spcBef>
                <a:spcPct val="0"/>
              </a:spcBef>
            </a:pPr>
          </a:p>
        </p:txBody>
      </p:sp>
      <p:sp>
        <p:nvSpPr>
          <p:cNvPr name="Freeform 7" id="7"/>
          <p:cNvSpPr/>
          <p:nvPr/>
        </p:nvSpPr>
        <p:spPr>
          <a:xfrm flipH="false" flipV="false" rot="0">
            <a:off x="0" y="0"/>
            <a:ext cx="3594508" cy="1480091"/>
          </a:xfrm>
          <a:custGeom>
            <a:avLst/>
            <a:gdLst/>
            <a:ahLst/>
            <a:cxnLst/>
            <a:rect r="r" b="b" t="t" l="l"/>
            <a:pathLst>
              <a:path h="1480091" w="3594508">
                <a:moveTo>
                  <a:pt x="0" y="0"/>
                </a:moveTo>
                <a:lnTo>
                  <a:pt x="3594508" y="0"/>
                </a:lnTo>
                <a:lnTo>
                  <a:pt x="3594508" y="1480091"/>
                </a:lnTo>
                <a:lnTo>
                  <a:pt x="0" y="1480091"/>
                </a:lnTo>
                <a:lnTo>
                  <a:pt x="0" y="0"/>
                </a:lnTo>
                <a:close/>
              </a:path>
            </a:pathLst>
          </a:custGeom>
          <a:blipFill>
            <a:blip r:embed="rId2"/>
            <a:stretch>
              <a:fillRect l="0" t="0" r="0" b="0"/>
            </a:stretch>
          </a:blipFill>
        </p:spPr>
      </p:sp>
      <p:sp>
        <p:nvSpPr>
          <p:cNvPr name="Freeform 8" id="8"/>
          <p:cNvSpPr/>
          <p:nvPr/>
        </p:nvSpPr>
        <p:spPr>
          <a:xfrm flipH="false" flipV="false" rot="1925852">
            <a:off x="11466076" y="-4040445"/>
            <a:ext cx="9386678" cy="10557613"/>
          </a:xfrm>
          <a:custGeom>
            <a:avLst/>
            <a:gdLst/>
            <a:ahLst/>
            <a:cxnLst/>
            <a:rect r="r" b="b" t="t" l="l"/>
            <a:pathLst>
              <a:path h="10557613" w="9386678">
                <a:moveTo>
                  <a:pt x="0" y="0"/>
                </a:moveTo>
                <a:lnTo>
                  <a:pt x="9386678" y="0"/>
                </a:lnTo>
                <a:lnTo>
                  <a:pt x="9386678" y="10557613"/>
                </a:lnTo>
                <a:lnTo>
                  <a:pt x="0" y="10557613"/>
                </a:lnTo>
                <a:lnTo>
                  <a:pt x="0" y="0"/>
                </a:lnTo>
                <a:close/>
              </a:path>
            </a:pathLst>
          </a:custGeom>
          <a:blipFill>
            <a:blip r:embed="rId3">
              <a:alphaModFix amt="20999"/>
            </a:blip>
            <a:stretch>
              <a:fillRect l="0" t="0" r="0" b="0"/>
            </a:stretch>
          </a:blipFill>
        </p:spPr>
      </p:sp>
      <p:sp>
        <p:nvSpPr>
          <p:cNvPr name="Freeform 9" id="9"/>
          <p:cNvSpPr/>
          <p:nvPr/>
        </p:nvSpPr>
        <p:spPr>
          <a:xfrm flipH="false" flipV="false" rot="0">
            <a:off x="-1231290" y="6163012"/>
            <a:ext cx="12299674" cy="5143500"/>
          </a:xfrm>
          <a:custGeom>
            <a:avLst/>
            <a:gdLst/>
            <a:ahLst/>
            <a:cxnLst/>
            <a:rect r="r" b="b" t="t" l="l"/>
            <a:pathLst>
              <a:path h="5143500" w="12299674">
                <a:moveTo>
                  <a:pt x="0" y="0"/>
                </a:moveTo>
                <a:lnTo>
                  <a:pt x="12299673" y="0"/>
                </a:lnTo>
                <a:lnTo>
                  <a:pt x="12299673" y="5143500"/>
                </a:lnTo>
                <a:lnTo>
                  <a:pt x="0" y="5143500"/>
                </a:lnTo>
                <a:lnTo>
                  <a:pt x="0" y="0"/>
                </a:lnTo>
                <a:close/>
              </a:path>
            </a:pathLst>
          </a:custGeom>
          <a:blipFill>
            <a:blip r:embed="rId4">
              <a:alphaModFix amt="10999"/>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424242"/>
        </a:solidFill>
      </p:bgPr>
    </p:bg>
    <p:spTree>
      <p:nvGrpSpPr>
        <p:cNvPr id="1" name=""/>
        <p:cNvGrpSpPr/>
        <p:nvPr/>
      </p:nvGrpSpPr>
      <p:grpSpPr>
        <a:xfrm>
          <a:off x="0" y="0"/>
          <a:ext cx="0" cy="0"/>
          <a:chOff x="0" y="0"/>
          <a:chExt cx="0" cy="0"/>
        </a:xfrm>
      </p:grpSpPr>
      <p:grpSp>
        <p:nvGrpSpPr>
          <p:cNvPr name="Group 2" id="2"/>
          <p:cNvGrpSpPr/>
          <p:nvPr/>
        </p:nvGrpSpPr>
        <p:grpSpPr>
          <a:xfrm rot="0">
            <a:off x="885291" y="3243671"/>
            <a:ext cx="16863716" cy="6496147"/>
            <a:chOff x="0" y="0"/>
            <a:chExt cx="4441473" cy="1710919"/>
          </a:xfrm>
        </p:grpSpPr>
        <p:sp>
          <p:nvSpPr>
            <p:cNvPr name="Freeform 3" id="3"/>
            <p:cNvSpPr/>
            <p:nvPr/>
          </p:nvSpPr>
          <p:spPr>
            <a:xfrm flipH="false" flipV="false" rot="0">
              <a:off x="0" y="0"/>
              <a:ext cx="4441473" cy="1710919"/>
            </a:xfrm>
            <a:custGeom>
              <a:avLst/>
              <a:gdLst/>
              <a:ahLst/>
              <a:cxnLst/>
              <a:rect r="r" b="b" t="t" l="l"/>
              <a:pathLst>
                <a:path h="1710919" w="4441473">
                  <a:moveTo>
                    <a:pt x="42695" y="0"/>
                  </a:moveTo>
                  <a:lnTo>
                    <a:pt x="4398778" y="0"/>
                  </a:lnTo>
                  <a:cubicBezTo>
                    <a:pt x="4410101" y="0"/>
                    <a:pt x="4420961" y="4498"/>
                    <a:pt x="4428968" y="12505"/>
                  </a:cubicBezTo>
                  <a:cubicBezTo>
                    <a:pt x="4436975" y="20512"/>
                    <a:pt x="4441473" y="31372"/>
                    <a:pt x="4441473" y="42695"/>
                  </a:cubicBezTo>
                  <a:lnTo>
                    <a:pt x="4441473" y="1668224"/>
                  </a:lnTo>
                  <a:cubicBezTo>
                    <a:pt x="4441473" y="1679547"/>
                    <a:pt x="4436975" y="1690407"/>
                    <a:pt x="4428968" y="1698414"/>
                  </a:cubicBezTo>
                  <a:cubicBezTo>
                    <a:pt x="4420961" y="1706421"/>
                    <a:pt x="4410101" y="1710919"/>
                    <a:pt x="4398778" y="1710919"/>
                  </a:cubicBezTo>
                  <a:lnTo>
                    <a:pt x="42695" y="1710919"/>
                  </a:lnTo>
                  <a:cubicBezTo>
                    <a:pt x="31372" y="1710919"/>
                    <a:pt x="20512" y="1706421"/>
                    <a:pt x="12505" y="1698414"/>
                  </a:cubicBezTo>
                  <a:cubicBezTo>
                    <a:pt x="4498" y="1690407"/>
                    <a:pt x="0" y="1679547"/>
                    <a:pt x="0" y="1668224"/>
                  </a:cubicBezTo>
                  <a:lnTo>
                    <a:pt x="0" y="42695"/>
                  </a:lnTo>
                  <a:cubicBezTo>
                    <a:pt x="0" y="31372"/>
                    <a:pt x="4498" y="20512"/>
                    <a:pt x="12505" y="12505"/>
                  </a:cubicBezTo>
                  <a:cubicBezTo>
                    <a:pt x="20512" y="4498"/>
                    <a:pt x="31372" y="0"/>
                    <a:pt x="42695" y="0"/>
                  </a:cubicBezTo>
                  <a:close/>
                </a:path>
              </a:pathLst>
            </a:custGeom>
            <a:solidFill>
              <a:srgbClr val="424242"/>
            </a:solidFill>
            <a:ln w="19050" cap="rnd">
              <a:solidFill>
                <a:srgbClr val="D0D7DD"/>
              </a:solidFill>
              <a:prstDash val="solid"/>
              <a:round/>
            </a:ln>
          </p:spPr>
        </p:sp>
        <p:sp>
          <p:nvSpPr>
            <p:cNvPr name="TextBox 4" id="4"/>
            <p:cNvSpPr txBox="true"/>
            <p:nvPr/>
          </p:nvSpPr>
          <p:spPr>
            <a:xfrm>
              <a:off x="0" y="-28575"/>
              <a:ext cx="4441473" cy="1739494"/>
            </a:xfrm>
            <a:prstGeom prst="rect">
              <a:avLst/>
            </a:prstGeom>
          </p:spPr>
          <p:txBody>
            <a:bodyPr anchor="ctr" rtlCol="false" tIns="50800" lIns="50800" bIns="50800" rIns="50800"/>
            <a:lstStyle/>
            <a:p>
              <a:pPr algn="ctr">
                <a:lnSpc>
                  <a:spcPts val="2015"/>
                </a:lnSpc>
              </a:pPr>
            </a:p>
          </p:txBody>
        </p:sp>
      </p:grpSp>
      <p:sp>
        <p:nvSpPr>
          <p:cNvPr name="Freeform 5" id="5"/>
          <p:cNvSpPr/>
          <p:nvPr/>
        </p:nvSpPr>
        <p:spPr>
          <a:xfrm flipH="false" flipV="false" rot="0">
            <a:off x="1002853" y="3488439"/>
            <a:ext cx="5304586" cy="2387064"/>
          </a:xfrm>
          <a:custGeom>
            <a:avLst/>
            <a:gdLst/>
            <a:ahLst/>
            <a:cxnLst/>
            <a:rect r="r" b="b" t="t" l="l"/>
            <a:pathLst>
              <a:path h="2387064" w="5304586">
                <a:moveTo>
                  <a:pt x="0" y="0"/>
                </a:moveTo>
                <a:lnTo>
                  <a:pt x="5304586" y="0"/>
                </a:lnTo>
                <a:lnTo>
                  <a:pt x="5304586" y="2387064"/>
                </a:lnTo>
                <a:lnTo>
                  <a:pt x="0" y="2387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105241" y="1831322"/>
            <a:ext cx="13389009" cy="1197898"/>
          </a:xfrm>
          <a:prstGeom prst="rect">
            <a:avLst/>
          </a:prstGeom>
        </p:spPr>
        <p:txBody>
          <a:bodyPr anchor="t" rtlCol="false" tIns="0" lIns="0" bIns="0" rIns="0">
            <a:spAutoFit/>
          </a:bodyPr>
          <a:lstStyle/>
          <a:p>
            <a:pPr algn="l">
              <a:lnSpc>
                <a:spcPts val="7582"/>
              </a:lnSpc>
            </a:pPr>
            <a:r>
              <a:rPr lang="en-US" sz="8066" spc="-379" b="true">
                <a:solidFill>
                  <a:srgbClr val="FFFFFF"/>
                </a:solidFill>
                <a:latin typeface="Times New Roman MT Ultra-Bold"/>
                <a:ea typeface="Times New Roman MT Ultra-Bold"/>
                <a:cs typeface="Times New Roman MT Ultra-Bold"/>
                <a:sym typeface="Times New Roman MT Ultra-Bold"/>
              </a:rPr>
              <a:t>Methodology</a:t>
            </a:r>
          </a:p>
        </p:txBody>
      </p:sp>
      <p:sp>
        <p:nvSpPr>
          <p:cNvPr name="Freeform 7" id="7"/>
          <p:cNvSpPr/>
          <p:nvPr/>
        </p:nvSpPr>
        <p:spPr>
          <a:xfrm flipH="false" flipV="false" rot="0">
            <a:off x="0" y="0"/>
            <a:ext cx="3594508" cy="1480091"/>
          </a:xfrm>
          <a:custGeom>
            <a:avLst/>
            <a:gdLst/>
            <a:ahLst/>
            <a:cxnLst/>
            <a:rect r="r" b="b" t="t" l="l"/>
            <a:pathLst>
              <a:path h="1480091" w="3594508">
                <a:moveTo>
                  <a:pt x="0" y="0"/>
                </a:moveTo>
                <a:lnTo>
                  <a:pt x="3594508" y="0"/>
                </a:lnTo>
                <a:lnTo>
                  <a:pt x="3594508" y="1480091"/>
                </a:lnTo>
                <a:lnTo>
                  <a:pt x="0" y="1480091"/>
                </a:lnTo>
                <a:lnTo>
                  <a:pt x="0" y="0"/>
                </a:lnTo>
                <a:close/>
              </a:path>
            </a:pathLst>
          </a:custGeom>
          <a:blipFill>
            <a:blip r:embed="rId4"/>
            <a:stretch>
              <a:fillRect l="0" t="0" r="0" b="0"/>
            </a:stretch>
          </a:blipFill>
        </p:spPr>
      </p:sp>
      <p:sp>
        <p:nvSpPr>
          <p:cNvPr name="Freeform 8" id="8"/>
          <p:cNvSpPr/>
          <p:nvPr/>
        </p:nvSpPr>
        <p:spPr>
          <a:xfrm flipH="false" flipV="false" rot="1925852">
            <a:off x="11466076" y="-4040445"/>
            <a:ext cx="9386678" cy="10557613"/>
          </a:xfrm>
          <a:custGeom>
            <a:avLst/>
            <a:gdLst/>
            <a:ahLst/>
            <a:cxnLst/>
            <a:rect r="r" b="b" t="t" l="l"/>
            <a:pathLst>
              <a:path h="10557613" w="9386678">
                <a:moveTo>
                  <a:pt x="0" y="0"/>
                </a:moveTo>
                <a:lnTo>
                  <a:pt x="9386678" y="0"/>
                </a:lnTo>
                <a:lnTo>
                  <a:pt x="9386678" y="10557613"/>
                </a:lnTo>
                <a:lnTo>
                  <a:pt x="0" y="10557613"/>
                </a:lnTo>
                <a:lnTo>
                  <a:pt x="0" y="0"/>
                </a:lnTo>
                <a:close/>
              </a:path>
            </a:pathLst>
          </a:custGeom>
          <a:blipFill>
            <a:blip r:embed="rId5">
              <a:alphaModFix amt="20999"/>
            </a:blip>
            <a:stretch>
              <a:fillRect l="0" t="0" r="0" b="0"/>
            </a:stretch>
          </a:blipFill>
        </p:spPr>
      </p:sp>
      <p:sp>
        <p:nvSpPr>
          <p:cNvPr name="Freeform 9" id="9"/>
          <p:cNvSpPr/>
          <p:nvPr/>
        </p:nvSpPr>
        <p:spPr>
          <a:xfrm flipH="false" flipV="false" rot="0">
            <a:off x="-1231290" y="6163012"/>
            <a:ext cx="12299674" cy="5143500"/>
          </a:xfrm>
          <a:custGeom>
            <a:avLst/>
            <a:gdLst/>
            <a:ahLst/>
            <a:cxnLst/>
            <a:rect r="r" b="b" t="t" l="l"/>
            <a:pathLst>
              <a:path h="5143500" w="12299674">
                <a:moveTo>
                  <a:pt x="0" y="0"/>
                </a:moveTo>
                <a:lnTo>
                  <a:pt x="12299673" y="0"/>
                </a:lnTo>
                <a:lnTo>
                  <a:pt x="12299673" y="5143500"/>
                </a:lnTo>
                <a:lnTo>
                  <a:pt x="0" y="5143500"/>
                </a:lnTo>
                <a:lnTo>
                  <a:pt x="0" y="0"/>
                </a:lnTo>
                <a:close/>
              </a:path>
            </a:pathLst>
          </a:custGeom>
          <a:blipFill>
            <a:blip r:embed="rId6">
              <a:alphaModFix amt="10999"/>
            </a:blip>
            <a:stretch>
              <a:fillRect l="0" t="0" r="0" b="0"/>
            </a:stretch>
          </a:blipFill>
        </p:spPr>
      </p:sp>
      <p:sp>
        <p:nvSpPr>
          <p:cNvPr name="TextBox 10" id="10"/>
          <p:cNvSpPr txBox="true"/>
          <p:nvPr/>
        </p:nvSpPr>
        <p:spPr>
          <a:xfrm rot="0">
            <a:off x="1028700" y="3513503"/>
            <a:ext cx="5424386" cy="2269490"/>
          </a:xfrm>
          <a:prstGeom prst="rect">
            <a:avLst/>
          </a:prstGeom>
        </p:spPr>
        <p:txBody>
          <a:bodyPr anchor="t" rtlCol="false" tIns="0" lIns="0" bIns="0" rIns="0">
            <a:spAutoFit/>
          </a:bodyPr>
          <a:lstStyle/>
          <a:p>
            <a:pPr algn="ctr">
              <a:lnSpc>
                <a:spcPts val="4759"/>
              </a:lnSpc>
            </a:pPr>
            <a:r>
              <a:rPr lang="en-US" sz="3399" b="true">
                <a:solidFill>
                  <a:srgbClr val="000000"/>
                </a:solidFill>
                <a:latin typeface="Canva Sans Bold"/>
                <a:ea typeface="Canva Sans Bold"/>
                <a:cs typeface="Canva Sans Bold"/>
                <a:sym typeface="Canva Sans Bold"/>
              </a:rPr>
              <a:t>Requirement Analysis</a:t>
            </a:r>
          </a:p>
          <a:p>
            <a:pPr algn="l">
              <a:lnSpc>
                <a:spcPts val="3360"/>
              </a:lnSpc>
            </a:pPr>
            <a:r>
              <a:rPr lang="en-US" sz="2400">
                <a:solidFill>
                  <a:srgbClr val="000000"/>
                </a:solidFill>
                <a:latin typeface="Canva Sans"/>
                <a:ea typeface="Canva Sans"/>
                <a:cs typeface="Canva Sans"/>
                <a:sym typeface="Canva Sans"/>
              </a:rPr>
              <a:t>Identify the information that needs to be managed, including cases, clients, lawyers, judges, hearings, documents, and judgments.</a:t>
            </a:r>
          </a:p>
        </p:txBody>
      </p:sp>
      <p:sp>
        <p:nvSpPr>
          <p:cNvPr name="Freeform 11" id="11"/>
          <p:cNvSpPr/>
          <p:nvPr/>
        </p:nvSpPr>
        <p:spPr>
          <a:xfrm flipH="false" flipV="false" rot="0">
            <a:off x="6453086" y="3425817"/>
            <a:ext cx="5722332" cy="2575049"/>
          </a:xfrm>
          <a:custGeom>
            <a:avLst/>
            <a:gdLst/>
            <a:ahLst/>
            <a:cxnLst/>
            <a:rect r="r" b="b" t="t" l="l"/>
            <a:pathLst>
              <a:path h="2575049" w="5722332">
                <a:moveTo>
                  <a:pt x="0" y="0"/>
                </a:moveTo>
                <a:lnTo>
                  <a:pt x="5722332" y="0"/>
                </a:lnTo>
                <a:lnTo>
                  <a:pt x="5722332" y="2575049"/>
                </a:lnTo>
                <a:lnTo>
                  <a:pt x="0" y="257504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2" id="12"/>
          <p:cNvSpPr txBox="true"/>
          <p:nvPr/>
        </p:nvSpPr>
        <p:spPr>
          <a:xfrm rot="0">
            <a:off x="7043430" y="3500549"/>
            <a:ext cx="4575307" cy="2414326"/>
          </a:xfrm>
          <a:prstGeom prst="rect">
            <a:avLst/>
          </a:prstGeom>
        </p:spPr>
        <p:txBody>
          <a:bodyPr anchor="t" rtlCol="false" tIns="0" lIns="0" bIns="0" rIns="0">
            <a:spAutoFit/>
          </a:bodyPr>
          <a:lstStyle/>
          <a:p>
            <a:pPr algn="ctr">
              <a:lnSpc>
                <a:spcPts val="4279"/>
              </a:lnSpc>
            </a:pPr>
            <a:r>
              <a:rPr lang="en-US" sz="3056" b="true">
                <a:solidFill>
                  <a:srgbClr val="000000"/>
                </a:solidFill>
                <a:latin typeface="Canva Sans Bold"/>
                <a:ea typeface="Canva Sans Bold"/>
                <a:cs typeface="Canva Sans Bold"/>
                <a:sym typeface="Canva Sans Bold"/>
              </a:rPr>
              <a:t>Frontend Development</a:t>
            </a:r>
          </a:p>
          <a:p>
            <a:pPr algn="l">
              <a:lnSpc>
                <a:spcPts val="3020"/>
              </a:lnSpc>
            </a:pPr>
            <a:r>
              <a:rPr lang="en-US" sz="2157">
                <a:solidFill>
                  <a:srgbClr val="000000"/>
                </a:solidFill>
                <a:latin typeface="Canva Sans"/>
                <a:ea typeface="Canva Sans"/>
                <a:cs typeface="Canva Sans"/>
                <a:sym typeface="Canva Sans"/>
              </a:rPr>
              <a:t> Develop the user interface using React, HTML, CSS, and JavaScript. The interface will allow users to add, update, search, and retrieve case information.</a:t>
            </a:r>
          </a:p>
        </p:txBody>
      </p:sp>
      <p:sp>
        <p:nvSpPr>
          <p:cNvPr name="Freeform 13" id="13"/>
          <p:cNvSpPr/>
          <p:nvPr/>
        </p:nvSpPr>
        <p:spPr>
          <a:xfrm flipH="false" flipV="false" rot="0">
            <a:off x="12209081" y="3488054"/>
            <a:ext cx="5304586" cy="2387064"/>
          </a:xfrm>
          <a:custGeom>
            <a:avLst/>
            <a:gdLst/>
            <a:ahLst/>
            <a:cxnLst/>
            <a:rect r="r" b="b" t="t" l="l"/>
            <a:pathLst>
              <a:path h="2387064" w="5304586">
                <a:moveTo>
                  <a:pt x="0" y="0"/>
                </a:moveTo>
                <a:lnTo>
                  <a:pt x="5304586" y="0"/>
                </a:lnTo>
                <a:lnTo>
                  <a:pt x="5304586" y="2387064"/>
                </a:lnTo>
                <a:lnTo>
                  <a:pt x="0" y="238706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4" id="14"/>
          <p:cNvSpPr txBox="true"/>
          <p:nvPr/>
        </p:nvSpPr>
        <p:spPr>
          <a:xfrm rot="0">
            <a:off x="12589033" y="3513503"/>
            <a:ext cx="4670267" cy="2783801"/>
          </a:xfrm>
          <a:prstGeom prst="rect">
            <a:avLst/>
          </a:prstGeom>
        </p:spPr>
        <p:txBody>
          <a:bodyPr anchor="t" rtlCol="false" tIns="0" lIns="0" bIns="0" rIns="0">
            <a:spAutoFit/>
          </a:bodyPr>
          <a:lstStyle/>
          <a:p>
            <a:pPr algn="ctr">
              <a:lnSpc>
                <a:spcPts val="4635"/>
              </a:lnSpc>
            </a:pPr>
            <a:r>
              <a:rPr lang="en-US" sz="3310" b="true">
                <a:solidFill>
                  <a:srgbClr val="000000"/>
                </a:solidFill>
                <a:latin typeface="Canva Sans Bold"/>
                <a:ea typeface="Canva Sans Bold"/>
                <a:cs typeface="Canva Sans Bold"/>
                <a:sym typeface="Canva Sans Bold"/>
              </a:rPr>
              <a:t>Backend Development</a:t>
            </a:r>
          </a:p>
          <a:p>
            <a:pPr algn="l">
              <a:lnSpc>
                <a:spcPts val="3272"/>
              </a:lnSpc>
            </a:pPr>
            <a:r>
              <a:rPr lang="en-US" sz="2337">
                <a:solidFill>
                  <a:srgbClr val="000000"/>
                </a:solidFill>
                <a:latin typeface="Canva Sans"/>
                <a:ea typeface="Canva Sans"/>
                <a:cs typeface="Canva Sans"/>
                <a:sym typeface="Canva Sans"/>
              </a:rPr>
              <a:t> Use Node.js to handle communication between the frontend and MySQL database and process user requests.</a:t>
            </a:r>
          </a:p>
          <a:p>
            <a:pPr algn="ctr">
              <a:lnSpc>
                <a:spcPts val="4635"/>
              </a:lnSpc>
            </a:pPr>
          </a:p>
        </p:txBody>
      </p:sp>
      <p:sp>
        <p:nvSpPr>
          <p:cNvPr name="Freeform 15" id="15"/>
          <p:cNvSpPr/>
          <p:nvPr/>
        </p:nvSpPr>
        <p:spPr>
          <a:xfrm flipH="false" flipV="false" rot="0">
            <a:off x="952577" y="6004598"/>
            <a:ext cx="7776503" cy="3499426"/>
          </a:xfrm>
          <a:custGeom>
            <a:avLst/>
            <a:gdLst/>
            <a:ahLst/>
            <a:cxnLst/>
            <a:rect r="r" b="b" t="t" l="l"/>
            <a:pathLst>
              <a:path h="3499426" w="7776503">
                <a:moveTo>
                  <a:pt x="0" y="0"/>
                </a:moveTo>
                <a:lnTo>
                  <a:pt x="7776503" y="0"/>
                </a:lnTo>
                <a:lnTo>
                  <a:pt x="7776503" y="3499427"/>
                </a:lnTo>
                <a:lnTo>
                  <a:pt x="0" y="349942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6" id="16"/>
          <p:cNvSpPr txBox="true"/>
          <p:nvPr/>
        </p:nvSpPr>
        <p:spPr>
          <a:xfrm rot="0">
            <a:off x="1028700" y="6376679"/>
            <a:ext cx="7624257" cy="2688590"/>
          </a:xfrm>
          <a:prstGeom prst="rect">
            <a:avLst/>
          </a:prstGeom>
        </p:spPr>
        <p:txBody>
          <a:bodyPr anchor="t" rtlCol="false" tIns="0" lIns="0" bIns="0" rIns="0">
            <a:spAutoFit/>
          </a:bodyPr>
          <a:lstStyle/>
          <a:p>
            <a:pPr algn="ctr">
              <a:lnSpc>
                <a:spcPts val="4759"/>
              </a:lnSpc>
            </a:pPr>
            <a:r>
              <a:rPr lang="en-US" sz="3399" b="true">
                <a:solidFill>
                  <a:srgbClr val="000000"/>
                </a:solidFill>
                <a:latin typeface="Canva Sans Bold"/>
                <a:ea typeface="Canva Sans Bold"/>
                <a:cs typeface="Canva Sans Bold"/>
                <a:sym typeface="Canva Sans Bold"/>
              </a:rPr>
              <a:t>SQL-Based Analytics</a:t>
            </a:r>
          </a:p>
          <a:p>
            <a:pPr algn="just">
              <a:lnSpc>
                <a:spcPts val="3360"/>
              </a:lnSpc>
            </a:pPr>
            <a:r>
              <a:rPr lang="en-US" sz="2400">
                <a:solidFill>
                  <a:srgbClr val="000000"/>
                </a:solidFill>
                <a:latin typeface="Canva Sans"/>
                <a:ea typeface="Canva Sans"/>
                <a:cs typeface="Canva Sans"/>
                <a:sym typeface="Canva Sans"/>
              </a:rPr>
              <a:t> Create SQL queries using joins, filtering, grouping, and aggregate functions to generate information such as pending/resolved cases, lawyer workloads, hearing statistics, document counts, and average case duration.</a:t>
            </a:r>
          </a:p>
        </p:txBody>
      </p:sp>
      <p:sp>
        <p:nvSpPr>
          <p:cNvPr name="Freeform 17" id="17"/>
          <p:cNvSpPr/>
          <p:nvPr/>
        </p:nvSpPr>
        <p:spPr>
          <a:xfrm flipH="false" flipV="false" rot="0">
            <a:off x="9317149" y="6000866"/>
            <a:ext cx="7880781" cy="3546351"/>
          </a:xfrm>
          <a:custGeom>
            <a:avLst/>
            <a:gdLst/>
            <a:ahLst/>
            <a:cxnLst/>
            <a:rect r="r" b="b" t="t" l="l"/>
            <a:pathLst>
              <a:path h="3546351" w="7880781">
                <a:moveTo>
                  <a:pt x="0" y="0"/>
                </a:moveTo>
                <a:lnTo>
                  <a:pt x="7880781" y="0"/>
                </a:lnTo>
                <a:lnTo>
                  <a:pt x="7880781" y="3546352"/>
                </a:lnTo>
                <a:lnTo>
                  <a:pt x="0" y="35463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8" id="18"/>
          <p:cNvSpPr txBox="true"/>
          <p:nvPr/>
        </p:nvSpPr>
        <p:spPr>
          <a:xfrm rot="0">
            <a:off x="9445411" y="6376679"/>
            <a:ext cx="7624257" cy="2269490"/>
          </a:xfrm>
          <a:prstGeom prst="rect">
            <a:avLst/>
          </a:prstGeom>
        </p:spPr>
        <p:txBody>
          <a:bodyPr anchor="t" rtlCol="false" tIns="0" lIns="0" bIns="0" rIns="0">
            <a:spAutoFit/>
          </a:bodyPr>
          <a:lstStyle/>
          <a:p>
            <a:pPr algn="ctr">
              <a:lnSpc>
                <a:spcPts val="4759"/>
              </a:lnSpc>
            </a:pPr>
            <a:r>
              <a:rPr lang="en-US" sz="3399" b="true">
                <a:solidFill>
                  <a:srgbClr val="000000"/>
                </a:solidFill>
                <a:latin typeface="Canva Sans Bold"/>
                <a:ea typeface="Canva Sans Bold"/>
                <a:cs typeface="Canva Sans Bold"/>
                <a:sym typeface="Canva Sans Bold"/>
              </a:rPr>
              <a:t>Dashboard &amp; Testing</a:t>
            </a:r>
          </a:p>
          <a:p>
            <a:pPr algn="just">
              <a:lnSpc>
                <a:spcPts val="3360"/>
              </a:lnSpc>
            </a:pPr>
            <a:r>
              <a:rPr lang="en-US" sz="2400">
                <a:solidFill>
                  <a:srgbClr val="000000"/>
                </a:solidFill>
                <a:latin typeface="Canva Sans"/>
                <a:ea typeface="Canva Sans"/>
                <a:cs typeface="Canva Sans"/>
                <a:sym typeface="Canva Sans"/>
              </a:rPr>
              <a:t> Present the analytical results through summary tables and dashboard metrics, and test the system to ensure that data can be correctly added, updated, retrieved, and analyzed.</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424242"/>
        </a:solidFill>
      </p:bgPr>
    </p:bg>
    <p:spTree>
      <p:nvGrpSpPr>
        <p:cNvPr id="1" name=""/>
        <p:cNvGrpSpPr/>
        <p:nvPr/>
      </p:nvGrpSpPr>
      <p:grpSpPr>
        <a:xfrm>
          <a:off x="0" y="0"/>
          <a:ext cx="0" cy="0"/>
          <a:chOff x="0" y="0"/>
          <a:chExt cx="0" cy="0"/>
        </a:xfrm>
      </p:grpSpPr>
      <p:grpSp>
        <p:nvGrpSpPr>
          <p:cNvPr name="Group 2" id="2"/>
          <p:cNvGrpSpPr/>
          <p:nvPr/>
        </p:nvGrpSpPr>
        <p:grpSpPr>
          <a:xfrm rot="0">
            <a:off x="286999" y="3126288"/>
            <a:ext cx="17157398" cy="6328202"/>
            <a:chOff x="0" y="0"/>
            <a:chExt cx="4518821" cy="1666687"/>
          </a:xfrm>
        </p:grpSpPr>
        <p:sp>
          <p:nvSpPr>
            <p:cNvPr name="Freeform 3" id="3"/>
            <p:cNvSpPr/>
            <p:nvPr/>
          </p:nvSpPr>
          <p:spPr>
            <a:xfrm flipH="false" flipV="false" rot="0">
              <a:off x="0" y="0"/>
              <a:ext cx="4518821" cy="1666687"/>
            </a:xfrm>
            <a:custGeom>
              <a:avLst/>
              <a:gdLst/>
              <a:ahLst/>
              <a:cxnLst/>
              <a:rect r="r" b="b" t="t" l="l"/>
              <a:pathLst>
                <a:path h="1666687" w="4518821">
                  <a:moveTo>
                    <a:pt x="41964" y="0"/>
                  </a:moveTo>
                  <a:lnTo>
                    <a:pt x="4476856" y="0"/>
                  </a:lnTo>
                  <a:cubicBezTo>
                    <a:pt x="4487986" y="0"/>
                    <a:pt x="4498660" y="4421"/>
                    <a:pt x="4506530" y="12291"/>
                  </a:cubicBezTo>
                  <a:cubicBezTo>
                    <a:pt x="4514400" y="20161"/>
                    <a:pt x="4518821" y="30835"/>
                    <a:pt x="4518821" y="41964"/>
                  </a:cubicBezTo>
                  <a:lnTo>
                    <a:pt x="4518821" y="1624723"/>
                  </a:lnTo>
                  <a:cubicBezTo>
                    <a:pt x="4518821" y="1635852"/>
                    <a:pt x="4514400" y="1646526"/>
                    <a:pt x="4506530" y="1654396"/>
                  </a:cubicBezTo>
                  <a:cubicBezTo>
                    <a:pt x="4498660" y="1662266"/>
                    <a:pt x="4487986" y="1666687"/>
                    <a:pt x="4476856" y="1666687"/>
                  </a:cubicBezTo>
                  <a:lnTo>
                    <a:pt x="41964" y="1666687"/>
                  </a:lnTo>
                  <a:cubicBezTo>
                    <a:pt x="30835" y="1666687"/>
                    <a:pt x="20161" y="1662266"/>
                    <a:pt x="12291" y="1654396"/>
                  </a:cubicBezTo>
                  <a:cubicBezTo>
                    <a:pt x="4421" y="1646526"/>
                    <a:pt x="0" y="1635852"/>
                    <a:pt x="0" y="1624723"/>
                  </a:cubicBezTo>
                  <a:lnTo>
                    <a:pt x="0" y="41964"/>
                  </a:lnTo>
                  <a:cubicBezTo>
                    <a:pt x="0" y="30835"/>
                    <a:pt x="4421" y="20161"/>
                    <a:pt x="12291" y="12291"/>
                  </a:cubicBezTo>
                  <a:cubicBezTo>
                    <a:pt x="20161" y="4421"/>
                    <a:pt x="30835" y="0"/>
                    <a:pt x="41964" y="0"/>
                  </a:cubicBezTo>
                  <a:close/>
                </a:path>
              </a:pathLst>
            </a:custGeom>
            <a:solidFill>
              <a:srgbClr val="424242"/>
            </a:solidFill>
            <a:ln w="19050" cap="rnd">
              <a:solidFill>
                <a:srgbClr val="D0D7DD"/>
              </a:solidFill>
              <a:prstDash val="solid"/>
              <a:round/>
            </a:ln>
          </p:spPr>
        </p:sp>
        <p:sp>
          <p:nvSpPr>
            <p:cNvPr name="TextBox 4" id="4"/>
            <p:cNvSpPr txBox="true"/>
            <p:nvPr/>
          </p:nvSpPr>
          <p:spPr>
            <a:xfrm>
              <a:off x="0" y="-28575"/>
              <a:ext cx="4518821" cy="1695262"/>
            </a:xfrm>
            <a:prstGeom prst="rect">
              <a:avLst/>
            </a:prstGeom>
          </p:spPr>
          <p:txBody>
            <a:bodyPr anchor="ctr" rtlCol="false" tIns="50800" lIns="50800" bIns="50800" rIns="50800"/>
            <a:lstStyle/>
            <a:p>
              <a:pPr algn="ctr">
                <a:lnSpc>
                  <a:spcPts val="2015"/>
                </a:lnSpc>
              </a:pPr>
            </a:p>
          </p:txBody>
        </p:sp>
      </p:grpSp>
      <p:sp>
        <p:nvSpPr>
          <p:cNvPr name="TextBox 5" id="5"/>
          <p:cNvSpPr txBox="true"/>
          <p:nvPr/>
        </p:nvSpPr>
        <p:spPr>
          <a:xfrm rot="0">
            <a:off x="1028700" y="1781982"/>
            <a:ext cx="13389009" cy="1190278"/>
          </a:xfrm>
          <a:prstGeom prst="rect">
            <a:avLst/>
          </a:prstGeom>
        </p:spPr>
        <p:txBody>
          <a:bodyPr anchor="t" rtlCol="false" tIns="0" lIns="0" bIns="0" rIns="0">
            <a:spAutoFit/>
          </a:bodyPr>
          <a:lstStyle/>
          <a:p>
            <a:pPr algn="l">
              <a:lnSpc>
                <a:spcPts val="7582"/>
              </a:lnSpc>
            </a:pPr>
            <a:r>
              <a:rPr lang="en-US" sz="8066" spc="-379" b="true">
                <a:solidFill>
                  <a:srgbClr val="FFFFFF"/>
                </a:solidFill>
                <a:latin typeface="Times New Roman MT Bold"/>
                <a:ea typeface="Times New Roman MT Bold"/>
                <a:cs typeface="Times New Roman MT Bold"/>
                <a:sym typeface="Times New Roman MT Bold"/>
              </a:rPr>
              <a:t>Frontend Design</a:t>
            </a:r>
          </a:p>
        </p:txBody>
      </p:sp>
      <p:sp>
        <p:nvSpPr>
          <p:cNvPr name="Freeform 6" id="6"/>
          <p:cNvSpPr/>
          <p:nvPr/>
        </p:nvSpPr>
        <p:spPr>
          <a:xfrm flipH="false" flipV="false" rot="0">
            <a:off x="0" y="0"/>
            <a:ext cx="3594508" cy="1480091"/>
          </a:xfrm>
          <a:custGeom>
            <a:avLst/>
            <a:gdLst/>
            <a:ahLst/>
            <a:cxnLst/>
            <a:rect r="r" b="b" t="t" l="l"/>
            <a:pathLst>
              <a:path h="1480091" w="3594508">
                <a:moveTo>
                  <a:pt x="0" y="0"/>
                </a:moveTo>
                <a:lnTo>
                  <a:pt x="3594508" y="0"/>
                </a:lnTo>
                <a:lnTo>
                  <a:pt x="3594508" y="1480091"/>
                </a:lnTo>
                <a:lnTo>
                  <a:pt x="0" y="1480091"/>
                </a:lnTo>
                <a:lnTo>
                  <a:pt x="0" y="0"/>
                </a:lnTo>
                <a:close/>
              </a:path>
            </a:pathLst>
          </a:custGeom>
          <a:blipFill>
            <a:blip r:embed="rId2"/>
            <a:stretch>
              <a:fillRect l="0" t="0" r="0" b="0"/>
            </a:stretch>
          </a:blipFill>
        </p:spPr>
      </p:sp>
      <p:sp>
        <p:nvSpPr>
          <p:cNvPr name="Freeform 7" id="7"/>
          <p:cNvSpPr/>
          <p:nvPr/>
        </p:nvSpPr>
        <p:spPr>
          <a:xfrm flipH="false" flipV="false" rot="1925852">
            <a:off x="11466076" y="-3935689"/>
            <a:ext cx="9386678" cy="10557613"/>
          </a:xfrm>
          <a:custGeom>
            <a:avLst/>
            <a:gdLst/>
            <a:ahLst/>
            <a:cxnLst/>
            <a:rect r="r" b="b" t="t" l="l"/>
            <a:pathLst>
              <a:path h="10557613" w="9386678">
                <a:moveTo>
                  <a:pt x="0" y="0"/>
                </a:moveTo>
                <a:lnTo>
                  <a:pt x="9386678" y="0"/>
                </a:lnTo>
                <a:lnTo>
                  <a:pt x="9386678" y="10557613"/>
                </a:lnTo>
                <a:lnTo>
                  <a:pt x="0" y="10557613"/>
                </a:lnTo>
                <a:lnTo>
                  <a:pt x="0" y="0"/>
                </a:lnTo>
                <a:close/>
              </a:path>
            </a:pathLst>
          </a:custGeom>
          <a:blipFill>
            <a:blip r:embed="rId3">
              <a:alphaModFix amt="20999"/>
            </a:blip>
            <a:stretch>
              <a:fillRect l="0" t="0" r="0" b="0"/>
            </a:stretch>
          </a:blipFill>
        </p:spPr>
      </p:sp>
      <p:sp>
        <p:nvSpPr>
          <p:cNvPr name="Freeform 8" id="8"/>
          <p:cNvSpPr/>
          <p:nvPr/>
        </p:nvSpPr>
        <p:spPr>
          <a:xfrm flipH="false" flipV="false" rot="0">
            <a:off x="-1231290" y="6163012"/>
            <a:ext cx="12299674" cy="5143500"/>
          </a:xfrm>
          <a:custGeom>
            <a:avLst/>
            <a:gdLst/>
            <a:ahLst/>
            <a:cxnLst/>
            <a:rect r="r" b="b" t="t" l="l"/>
            <a:pathLst>
              <a:path h="5143500" w="12299674">
                <a:moveTo>
                  <a:pt x="0" y="0"/>
                </a:moveTo>
                <a:lnTo>
                  <a:pt x="12299673" y="0"/>
                </a:lnTo>
                <a:lnTo>
                  <a:pt x="12299673" y="5143500"/>
                </a:lnTo>
                <a:lnTo>
                  <a:pt x="0" y="5143500"/>
                </a:lnTo>
                <a:lnTo>
                  <a:pt x="0" y="0"/>
                </a:lnTo>
                <a:close/>
              </a:path>
            </a:pathLst>
          </a:custGeom>
          <a:blipFill>
            <a:blip r:embed="rId4">
              <a:alphaModFix amt="10999"/>
            </a:blip>
            <a:stretch>
              <a:fillRect l="0" t="0" r="0" b="0"/>
            </a:stretch>
          </a:blipFill>
        </p:spPr>
      </p:sp>
      <p:grpSp>
        <p:nvGrpSpPr>
          <p:cNvPr name="Group 9" id="9"/>
          <p:cNvGrpSpPr/>
          <p:nvPr/>
        </p:nvGrpSpPr>
        <p:grpSpPr>
          <a:xfrm rot="0">
            <a:off x="1028700" y="4179378"/>
            <a:ext cx="4364260" cy="1788934"/>
            <a:chOff x="0" y="0"/>
            <a:chExt cx="1149435" cy="471159"/>
          </a:xfrm>
        </p:grpSpPr>
        <p:sp>
          <p:nvSpPr>
            <p:cNvPr name="Freeform 10" id="10"/>
            <p:cNvSpPr/>
            <p:nvPr/>
          </p:nvSpPr>
          <p:spPr>
            <a:xfrm flipH="false" flipV="false" rot="0">
              <a:off x="0" y="0"/>
              <a:ext cx="1149435" cy="471159"/>
            </a:xfrm>
            <a:custGeom>
              <a:avLst/>
              <a:gdLst/>
              <a:ahLst/>
              <a:cxnLst/>
              <a:rect r="r" b="b" t="t" l="l"/>
              <a:pathLst>
                <a:path h="471159" w="1149435">
                  <a:moveTo>
                    <a:pt x="0" y="0"/>
                  </a:moveTo>
                  <a:lnTo>
                    <a:pt x="1149435" y="0"/>
                  </a:lnTo>
                  <a:lnTo>
                    <a:pt x="1149435" y="471159"/>
                  </a:lnTo>
                  <a:lnTo>
                    <a:pt x="0" y="471159"/>
                  </a:lnTo>
                  <a:close/>
                </a:path>
              </a:pathLst>
            </a:custGeom>
            <a:solidFill>
              <a:srgbClr val="C8D1D9"/>
            </a:solidFill>
          </p:spPr>
        </p:sp>
        <p:sp>
          <p:nvSpPr>
            <p:cNvPr name="TextBox 11" id="11"/>
            <p:cNvSpPr txBox="true"/>
            <p:nvPr/>
          </p:nvSpPr>
          <p:spPr>
            <a:xfrm>
              <a:off x="0" y="-9525"/>
              <a:ext cx="1149435" cy="480684"/>
            </a:xfrm>
            <a:prstGeom prst="rect">
              <a:avLst/>
            </a:prstGeom>
          </p:spPr>
          <p:txBody>
            <a:bodyPr anchor="ctr" rtlCol="false" tIns="50800" lIns="50800" bIns="50800" rIns="50800"/>
            <a:lstStyle/>
            <a:p>
              <a:pPr algn="ctr">
                <a:lnSpc>
                  <a:spcPts val="2771"/>
                </a:lnSpc>
              </a:pPr>
              <a:r>
                <a:rPr lang="en-US" b="true" sz="2199" spc="-123">
                  <a:solidFill>
                    <a:srgbClr val="000000"/>
                  </a:solidFill>
                  <a:latin typeface="Canva Sans Bold"/>
                  <a:ea typeface="Canva Sans Bold"/>
                  <a:cs typeface="Canva Sans Bold"/>
                  <a:sym typeface="Canva Sans Bold"/>
                </a:rPr>
                <a:t>Separate interfaces for Lawyer and Client users.</a:t>
              </a:r>
            </a:p>
            <a:p>
              <a:pPr algn="ctr">
                <a:lnSpc>
                  <a:spcPts val="2771"/>
                </a:lnSpc>
              </a:pPr>
            </a:p>
            <a:p>
              <a:pPr algn="ctr">
                <a:lnSpc>
                  <a:spcPts val="2015"/>
                </a:lnSpc>
              </a:pPr>
            </a:p>
          </p:txBody>
        </p:sp>
      </p:grpSp>
      <p:sp>
        <p:nvSpPr>
          <p:cNvPr name="Freeform 12" id="12"/>
          <p:cNvSpPr/>
          <p:nvPr/>
        </p:nvSpPr>
        <p:spPr>
          <a:xfrm flipH="false" flipV="false" rot="0">
            <a:off x="7370684" y="3467633"/>
            <a:ext cx="3250129" cy="570229"/>
          </a:xfrm>
          <a:custGeom>
            <a:avLst/>
            <a:gdLst/>
            <a:ahLst/>
            <a:cxnLst/>
            <a:rect r="r" b="b" t="t" l="l"/>
            <a:pathLst>
              <a:path h="570229" w="3250129">
                <a:moveTo>
                  <a:pt x="0" y="0"/>
                </a:moveTo>
                <a:lnTo>
                  <a:pt x="3250128" y="0"/>
                </a:lnTo>
                <a:lnTo>
                  <a:pt x="3250128" y="570230"/>
                </a:lnTo>
                <a:lnTo>
                  <a:pt x="0" y="570230"/>
                </a:lnTo>
                <a:lnTo>
                  <a:pt x="0" y="0"/>
                </a:lnTo>
                <a:close/>
              </a:path>
            </a:pathLst>
          </a:custGeom>
          <a:blipFill>
            <a:blip r:embed="rId5"/>
            <a:stretch>
              <a:fillRect l="-160323" t="-2176" r="-5074" b="-139070"/>
            </a:stretch>
          </a:blipFill>
        </p:spPr>
      </p:sp>
      <p:grpSp>
        <p:nvGrpSpPr>
          <p:cNvPr name="Group 13" id="13"/>
          <p:cNvGrpSpPr/>
          <p:nvPr/>
        </p:nvGrpSpPr>
        <p:grpSpPr>
          <a:xfrm rot="0">
            <a:off x="7370684" y="4037863"/>
            <a:ext cx="3281605" cy="1808937"/>
            <a:chOff x="0" y="0"/>
            <a:chExt cx="864291" cy="476428"/>
          </a:xfrm>
        </p:grpSpPr>
        <p:sp>
          <p:nvSpPr>
            <p:cNvPr name="Freeform 14" id="14"/>
            <p:cNvSpPr/>
            <p:nvPr/>
          </p:nvSpPr>
          <p:spPr>
            <a:xfrm flipH="false" flipV="false" rot="0">
              <a:off x="0" y="0"/>
              <a:ext cx="864291" cy="476428"/>
            </a:xfrm>
            <a:custGeom>
              <a:avLst/>
              <a:gdLst/>
              <a:ahLst/>
              <a:cxnLst/>
              <a:rect r="r" b="b" t="t" l="l"/>
              <a:pathLst>
                <a:path h="476428" w="864291">
                  <a:moveTo>
                    <a:pt x="0" y="0"/>
                  </a:moveTo>
                  <a:lnTo>
                    <a:pt x="864291" y="0"/>
                  </a:lnTo>
                  <a:lnTo>
                    <a:pt x="864291" y="476428"/>
                  </a:lnTo>
                  <a:lnTo>
                    <a:pt x="0" y="476428"/>
                  </a:lnTo>
                  <a:close/>
                </a:path>
              </a:pathLst>
            </a:custGeom>
            <a:solidFill>
              <a:srgbClr val="C8D1D9"/>
            </a:solidFill>
          </p:spPr>
        </p:sp>
        <p:sp>
          <p:nvSpPr>
            <p:cNvPr name="TextBox 15" id="15"/>
            <p:cNvSpPr txBox="true"/>
            <p:nvPr/>
          </p:nvSpPr>
          <p:spPr>
            <a:xfrm>
              <a:off x="0" y="-9525"/>
              <a:ext cx="864291" cy="485953"/>
            </a:xfrm>
            <a:prstGeom prst="rect">
              <a:avLst/>
            </a:prstGeom>
          </p:spPr>
          <p:txBody>
            <a:bodyPr anchor="ctr" rtlCol="false" tIns="50800" lIns="50800" bIns="50800" rIns="50800"/>
            <a:lstStyle/>
            <a:p>
              <a:pPr algn="ctr">
                <a:lnSpc>
                  <a:spcPts val="2771"/>
                </a:lnSpc>
              </a:pPr>
              <a:r>
                <a:rPr lang="en-US" b="true" sz="2199" spc="-123">
                  <a:solidFill>
                    <a:srgbClr val="000000"/>
                  </a:solidFill>
                  <a:latin typeface="Canva Sans Bold"/>
                  <a:ea typeface="Canva Sans Bold"/>
                  <a:cs typeface="Canva Sans Bold"/>
                  <a:sym typeface="Canva Sans Bold"/>
                </a:rPr>
                <a:t>Sidebar navigation for cases, hearings, documents and analytics</a:t>
              </a:r>
              <a:r>
                <a:rPr lang="en-US" sz="2199" spc="-123">
                  <a:solidFill>
                    <a:srgbClr val="000000"/>
                  </a:solidFill>
                  <a:latin typeface="Canva Sans"/>
                  <a:ea typeface="Canva Sans"/>
                  <a:cs typeface="Canva Sans"/>
                  <a:sym typeface="Canva Sans"/>
                </a:rPr>
                <a:t>.</a:t>
              </a:r>
            </a:p>
            <a:p>
              <a:pPr algn="ctr">
                <a:lnSpc>
                  <a:spcPts val="2771"/>
                </a:lnSpc>
              </a:pPr>
            </a:p>
            <a:p>
              <a:pPr algn="ctr">
                <a:lnSpc>
                  <a:spcPts val="2015"/>
                </a:lnSpc>
              </a:pPr>
            </a:p>
          </p:txBody>
        </p:sp>
      </p:grpSp>
      <p:sp>
        <p:nvSpPr>
          <p:cNvPr name="Freeform 16" id="16"/>
          <p:cNvSpPr/>
          <p:nvPr/>
        </p:nvSpPr>
        <p:spPr>
          <a:xfrm flipH="false" flipV="false" rot="0">
            <a:off x="11983989" y="3571708"/>
            <a:ext cx="3638347" cy="570229"/>
          </a:xfrm>
          <a:custGeom>
            <a:avLst/>
            <a:gdLst/>
            <a:ahLst/>
            <a:cxnLst/>
            <a:rect r="r" b="b" t="t" l="l"/>
            <a:pathLst>
              <a:path h="570229" w="3638347">
                <a:moveTo>
                  <a:pt x="0" y="0"/>
                </a:moveTo>
                <a:lnTo>
                  <a:pt x="3638348" y="0"/>
                </a:lnTo>
                <a:lnTo>
                  <a:pt x="3638348" y="570229"/>
                </a:lnTo>
                <a:lnTo>
                  <a:pt x="0" y="570229"/>
                </a:lnTo>
                <a:lnTo>
                  <a:pt x="0" y="0"/>
                </a:lnTo>
                <a:close/>
              </a:path>
            </a:pathLst>
          </a:custGeom>
          <a:blipFill>
            <a:blip r:embed="rId6"/>
            <a:stretch>
              <a:fillRect l="-4621" t="-40256" r="-172253" b="-141485"/>
            </a:stretch>
          </a:blipFill>
        </p:spPr>
      </p:sp>
      <p:grpSp>
        <p:nvGrpSpPr>
          <p:cNvPr name="Group 17" id="17"/>
          <p:cNvGrpSpPr/>
          <p:nvPr/>
        </p:nvGrpSpPr>
        <p:grpSpPr>
          <a:xfrm rot="0">
            <a:off x="11980071" y="4141937"/>
            <a:ext cx="3638347" cy="1766709"/>
            <a:chOff x="0" y="0"/>
            <a:chExt cx="958248" cy="465306"/>
          </a:xfrm>
        </p:grpSpPr>
        <p:sp>
          <p:nvSpPr>
            <p:cNvPr name="Freeform 18" id="18"/>
            <p:cNvSpPr/>
            <p:nvPr/>
          </p:nvSpPr>
          <p:spPr>
            <a:xfrm flipH="false" flipV="false" rot="0">
              <a:off x="0" y="0"/>
              <a:ext cx="958248" cy="465306"/>
            </a:xfrm>
            <a:custGeom>
              <a:avLst/>
              <a:gdLst/>
              <a:ahLst/>
              <a:cxnLst/>
              <a:rect r="r" b="b" t="t" l="l"/>
              <a:pathLst>
                <a:path h="465306" w="958248">
                  <a:moveTo>
                    <a:pt x="0" y="0"/>
                  </a:moveTo>
                  <a:lnTo>
                    <a:pt x="958248" y="0"/>
                  </a:lnTo>
                  <a:lnTo>
                    <a:pt x="958248" y="465306"/>
                  </a:lnTo>
                  <a:lnTo>
                    <a:pt x="0" y="465306"/>
                  </a:lnTo>
                  <a:close/>
                </a:path>
              </a:pathLst>
            </a:custGeom>
            <a:solidFill>
              <a:srgbClr val="C8D1D9"/>
            </a:solidFill>
          </p:spPr>
        </p:sp>
        <p:sp>
          <p:nvSpPr>
            <p:cNvPr name="TextBox 19" id="19"/>
            <p:cNvSpPr txBox="true"/>
            <p:nvPr/>
          </p:nvSpPr>
          <p:spPr>
            <a:xfrm>
              <a:off x="0" y="-9525"/>
              <a:ext cx="958248" cy="474831"/>
            </a:xfrm>
            <a:prstGeom prst="rect">
              <a:avLst/>
            </a:prstGeom>
          </p:spPr>
          <p:txBody>
            <a:bodyPr anchor="ctr" rtlCol="false" tIns="50800" lIns="50800" bIns="50800" rIns="50800"/>
            <a:lstStyle/>
            <a:p>
              <a:pPr algn="ctr">
                <a:lnSpc>
                  <a:spcPts val="2771"/>
                </a:lnSpc>
              </a:pPr>
              <a:r>
                <a:rPr lang="en-US" b="true" sz="2199" spc="-123">
                  <a:solidFill>
                    <a:srgbClr val="000000"/>
                  </a:solidFill>
                  <a:latin typeface="Canva Sans Bold"/>
                  <a:ea typeface="Canva Sans Bold"/>
                  <a:cs typeface="Canva Sans Bold"/>
                  <a:sym typeface="Canva Sans Bold"/>
                </a:rPr>
                <a:t>Search, filter and track cases using clear status indicators.</a:t>
              </a:r>
            </a:p>
            <a:p>
              <a:pPr algn="ctr">
                <a:lnSpc>
                  <a:spcPts val="2771"/>
                </a:lnSpc>
              </a:pPr>
            </a:p>
          </p:txBody>
        </p:sp>
      </p:grpSp>
      <p:grpSp>
        <p:nvGrpSpPr>
          <p:cNvPr name="Group 20" id="20"/>
          <p:cNvGrpSpPr/>
          <p:nvPr/>
        </p:nvGrpSpPr>
        <p:grpSpPr>
          <a:xfrm rot="0">
            <a:off x="1028700" y="6896981"/>
            <a:ext cx="4426107" cy="1692330"/>
            <a:chOff x="0" y="0"/>
            <a:chExt cx="1165724" cy="445717"/>
          </a:xfrm>
        </p:grpSpPr>
        <p:sp>
          <p:nvSpPr>
            <p:cNvPr name="Freeform 21" id="21"/>
            <p:cNvSpPr/>
            <p:nvPr/>
          </p:nvSpPr>
          <p:spPr>
            <a:xfrm flipH="false" flipV="false" rot="0">
              <a:off x="0" y="0"/>
              <a:ext cx="1165724" cy="445716"/>
            </a:xfrm>
            <a:custGeom>
              <a:avLst/>
              <a:gdLst/>
              <a:ahLst/>
              <a:cxnLst/>
              <a:rect r="r" b="b" t="t" l="l"/>
              <a:pathLst>
                <a:path h="445716" w="1165724">
                  <a:moveTo>
                    <a:pt x="0" y="0"/>
                  </a:moveTo>
                  <a:lnTo>
                    <a:pt x="1165724" y="0"/>
                  </a:lnTo>
                  <a:lnTo>
                    <a:pt x="1165724" y="445716"/>
                  </a:lnTo>
                  <a:lnTo>
                    <a:pt x="0" y="445716"/>
                  </a:lnTo>
                  <a:close/>
                </a:path>
              </a:pathLst>
            </a:custGeom>
            <a:solidFill>
              <a:srgbClr val="C8D1D9"/>
            </a:solidFill>
          </p:spPr>
        </p:sp>
        <p:sp>
          <p:nvSpPr>
            <p:cNvPr name="TextBox 22" id="22"/>
            <p:cNvSpPr txBox="true"/>
            <p:nvPr/>
          </p:nvSpPr>
          <p:spPr>
            <a:xfrm>
              <a:off x="0" y="-9525"/>
              <a:ext cx="1165724" cy="455242"/>
            </a:xfrm>
            <a:prstGeom prst="rect">
              <a:avLst/>
            </a:prstGeom>
          </p:spPr>
          <p:txBody>
            <a:bodyPr anchor="ctr" rtlCol="false" tIns="50800" lIns="50800" bIns="50800" rIns="50800"/>
            <a:lstStyle/>
            <a:p>
              <a:pPr algn="ctr">
                <a:lnSpc>
                  <a:spcPts val="2771"/>
                </a:lnSpc>
              </a:pPr>
              <a:r>
                <a:rPr lang="en-US" b="true" sz="2199" spc="-123">
                  <a:solidFill>
                    <a:srgbClr val="000000"/>
                  </a:solidFill>
                  <a:latin typeface="Canva Sans Bold"/>
                  <a:ea typeface="Canva Sans Bold"/>
                  <a:cs typeface="Canva Sans Bold"/>
                  <a:sym typeface="Canva Sans Bold"/>
                </a:rPr>
                <a:t>Upcoming hearings, dates, courts and case timelines.</a:t>
              </a:r>
            </a:p>
            <a:p>
              <a:pPr algn="ctr">
                <a:lnSpc>
                  <a:spcPts val="2771"/>
                </a:lnSpc>
              </a:pPr>
            </a:p>
          </p:txBody>
        </p:sp>
      </p:grpSp>
      <p:grpSp>
        <p:nvGrpSpPr>
          <p:cNvPr name="Group 23" id="23"/>
          <p:cNvGrpSpPr/>
          <p:nvPr/>
        </p:nvGrpSpPr>
        <p:grpSpPr>
          <a:xfrm rot="0">
            <a:off x="7339207" y="7030431"/>
            <a:ext cx="3474931" cy="1558880"/>
            <a:chOff x="0" y="0"/>
            <a:chExt cx="915208" cy="410569"/>
          </a:xfrm>
        </p:grpSpPr>
        <p:sp>
          <p:nvSpPr>
            <p:cNvPr name="Freeform 24" id="24"/>
            <p:cNvSpPr/>
            <p:nvPr/>
          </p:nvSpPr>
          <p:spPr>
            <a:xfrm flipH="false" flipV="false" rot="0">
              <a:off x="0" y="0"/>
              <a:ext cx="915208" cy="410569"/>
            </a:xfrm>
            <a:custGeom>
              <a:avLst/>
              <a:gdLst/>
              <a:ahLst/>
              <a:cxnLst/>
              <a:rect r="r" b="b" t="t" l="l"/>
              <a:pathLst>
                <a:path h="410569" w="915208">
                  <a:moveTo>
                    <a:pt x="0" y="0"/>
                  </a:moveTo>
                  <a:lnTo>
                    <a:pt x="915208" y="0"/>
                  </a:lnTo>
                  <a:lnTo>
                    <a:pt x="915208" y="410569"/>
                  </a:lnTo>
                  <a:lnTo>
                    <a:pt x="0" y="410569"/>
                  </a:lnTo>
                  <a:close/>
                </a:path>
              </a:pathLst>
            </a:custGeom>
            <a:solidFill>
              <a:srgbClr val="C8D1D9"/>
            </a:solidFill>
          </p:spPr>
        </p:sp>
        <p:sp>
          <p:nvSpPr>
            <p:cNvPr name="TextBox 25" id="25"/>
            <p:cNvSpPr txBox="true"/>
            <p:nvPr/>
          </p:nvSpPr>
          <p:spPr>
            <a:xfrm>
              <a:off x="0" y="-9525"/>
              <a:ext cx="915208" cy="420094"/>
            </a:xfrm>
            <a:prstGeom prst="rect">
              <a:avLst/>
            </a:prstGeom>
          </p:spPr>
          <p:txBody>
            <a:bodyPr anchor="ctr" rtlCol="false" tIns="50800" lIns="50800" bIns="50800" rIns="50800"/>
            <a:lstStyle/>
            <a:p>
              <a:pPr algn="ctr">
                <a:lnSpc>
                  <a:spcPts val="2771"/>
                </a:lnSpc>
              </a:pPr>
              <a:r>
                <a:rPr lang="en-US" b="true" sz="2199" spc="-123">
                  <a:solidFill>
                    <a:srgbClr val="000000"/>
                  </a:solidFill>
                  <a:latin typeface="Canva Sans Bold"/>
                  <a:ea typeface="Canva Sans Bold"/>
                  <a:cs typeface="Canva Sans Bold"/>
                  <a:sym typeface="Canva Sans Bold"/>
                </a:rPr>
                <a:t>Charts and dashboard cards present key case statistics.</a:t>
              </a:r>
            </a:p>
          </p:txBody>
        </p:sp>
      </p:grpSp>
      <p:sp>
        <p:nvSpPr>
          <p:cNvPr name="Freeform 26" id="26"/>
          <p:cNvSpPr/>
          <p:nvPr/>
        </p:nvSpPr>
        <p:spPr>
          <a:xfrm flipH="false" flipV="false" rot="0">
            <a:off x="11928888" y="6235011"/>
            <a:ext cx="3941950" cy="1151387"/>
          </a:xfrm>
          <a:custGeom>
            <a:avLst/>
            <a:gdLst/>
            <a:ahLst/>
            <a:cxnLst/>
            <a:rect r="r" b="b" t="t" l="l"/>
            <a:pathLst>
              <a:path h="1151387" w="3941950">
                <a:moveTo>
                  <a:pt x="0" y="0"/>
                </a:moveTo>
                <a:lnTo>
                  <a:pt x="3941950" y="0"/>
                </a:lnTo>
                <a:lnTo>
                  <a:pt x="3941950" y="1151387"/>
                </a:lnTo>
                <a:lnTo>
                  <a:pt x="0" y="1151387"/>
                </a:lnTo>
                <a:lnTo>
                  <a:pt x="0" y="0"/>
                </a:lnTo>
                <a:close/>
              </a:path>
            </a:pathLst>
          </a:custGeom>
          <a:blipFill>
            <a:blip r:embed="rId7"/>
            <a:stretch>
              <a:fillRect l="-19790" t="-71019" r="-315567" b="-97345"/>
            </a:stretch>
          </a:blipFill>
        </p:spPr>
      </p:sp>
      <p:grpSp>
        <p:nvGrpSpPr>
          <p:cNvPr name="Group 27" id="27"/>
          <p:cNvGrpSpPr/>
          <p:nvPr/>
        </p:nvGrpSpPr>
        <p:grpSpPr>
          <a:xfrm rot="0">
            <a:off x="11928888" y="7285946"/>
            <a:ext cx="3941950" cy="1303365"/>
            <a:chOff x="0" y="0"/>
            <a:chExt cx="1038209" cy="343273"/>
          </a:xfrm>
        </p:grpSpPr>
        <p:sp>
          <p:nvSpPr>
            <p:cNvPr name="Freeform 28" id="28"/>
            <p:cNvSpPr/>
            <p:nvPr/>
          </p:nvSpPr>
          <p:spPr>
            <a:xfrm flipH="false" flipV="false" rot="0">
              <a:off x="0" y="0"/>
              <a:ext cx="1038209" cy="343273"/>
            </a:xfrm>
            <a:custGeom>
              <a:avLst/>
              <a:gdLst/>
              <a:ahLst/>
              <a:cxnLst/>
              <a:rect r="r" b="b" t="t" l="l"/>
              <a:pathLst>
                <a:path h="343273" w="1038209">
                  <a:moveTo>
                    <a:pt x="0" y="0"/>
                  </a:moveTo>
                  <a:lnTo>
                    <a:pt x="1038209" y="0"/>
                  </a:lnTo>
                  <a:lnTo>
                    <a:pt x="1038209" y="343273"/>
                  </a:lnTo>
                  <a:lnTo>
                    <a:pt x="0" y="343273"/>
                  </a:lnTo>
                  <a:close/>
                </a:path>
              </a:pathLst>
            </a:custGeom>
            <a:solidFill>
              <a:srgbClr val="C8D1D9"/>
            </a:solidFill>
          </p:spPr>
        </p:sp>
        <p:sp>
          <p:nvSpPr>
            <p:cNvPr name="TextBox 29" id="29"/>
            <p:cNvSpPr txBox="true"/>
            <p:nvPr/>
          </p:nvSpPr>
          <p:spPr>
            <a:xfrm>
              <a:off x="0" y="-9525"/>
              <a:ext cx="1038209" cy="352798"/>
            </a:xfrm>
            <a:prstGeom prst="rect">
              <a:avLst/>
            </a:prstGeom>
          </p:spPr>
          <p:txBody>
            <a:bodyPr anchor="ctr" rtlCol="false" tIns="50800" lIns="50800" bIns="50800" rIns="50800"/>
            <a:lstStyle/>
            <a:p>
              <a:pPr algn="ctr">
                <a:lnSpc>
                  <a:spcPts val="2771"/>
                </a:lnSpc>
              </a:pPr>
              <a:r>
                <a:rPr lang="en-US" b="true" sz="2199" spc="-123">
                  <a:solidFill>
                    <a:srgbClr val="000000"/>
                  </a:solidFill>
                  <a:latin typeface="Canva Sans Bold"/>
                  <a:ea typeface="Canva Sans Bold"/>
                  <a:cs typeface="Canva Sans Bold"/>
                  <a:sym typeface="Canva Sans Bold"/>
                </a:rPr>
                <a:t>Buttons, forms, search bars and controls improve usability.</a:t>
              </a:r>
            </a:p>
          </p:txBody>
        </p:sp>
      </p:grpSp>
      <p:grpSp>
        <p:nvGrpSpPr>
          <p:cNvPr name="Group 30" id="30"/>
          <p:cNvGrpSpPr/>
          <p:nvPr/>
        </p:nvGrpSpPr>
        <p:grpSpPr>
          <a:xfrm rot="0">
            <a:off x="1028700" y="3467633"/>
            <a:ext cx="4364260" cy="733969"/>
            <a:chOff x="0" y="0"/>
            <a:chExt cx="1149435" cy="193309"/>
          </a:xfrm>
        </p:grpSpPr>
        <p:sp>
          <p:nvSpPr>
            <p:cNvPr name="Freeform 31" id="31"/>
            <p:cNvSpPr/>
            <p:nvPr/>
          </p:nvSpPr>
          <p:spPr>
            <a:xfrm flipH="false" flipV="false" rot="0">
              <a:off x="0" y="0"/>
              <a:ext cx="1149435" cy="193309"/>
            </a:xfrm>
            <a:custGeom>
              <a:avLst/>
              <a:gdLst/>
              <a:ahLst/>
              <a:cxnLst/>
              <a:rect r="r" b="b" t="t" l="l"/>
              <a:pathLst>
                <a:path h="193309" w="1149435">
                  <a:moveTo>
                    <a:pt x="0" y="0"/>
                  </a:moveTo>
                  <a:lnTo>
                    <a:pt x="1149435" y="0"/>
                  </a:lnTo>
                  <a:lnTo>
                    <a:pt x="1149435" y="193309"/>
                  </a:lnTo>
                  <a:lnTo>
                    <a:pt x="0" y="193309"/>
                  </a:lnTo>
                  <a:close/>
                </a:path>
              </a:pathLst>
            </a:custGeom>
            <a:solidFill>
              <a:srgbClr val="38B6FF"/>
            </a:solidFill>
          </p:spPr>
        </p:sp>
        <p:sp>
          <p:nvSpPr>
            <p:cNvPr name="TextBox 32" id="32"/>
            <p:cNvSpPr txBox="true"/>
            <p:nvPr/>
          </p:nvSpPr>
          <p:spPr>
            <a:xfrm>
              <a:off x="0" y="-9525"/>
              <a:ext cx="1149435" cy="202834"/>
            </a:xfrm>
            <a:prstGeom prst="rect">
              <a:avLst/>
            </a:prstGeom>
          </p:spPr>
          <p:txBody>
            <a:bodyPr anchor="ctr" rtlCol="false" tIns="50800" lIns="50800" bIns="50800" rIns="50800"/>
            <a:lstStyle/>
            <a:p>
              <a:pPr algn="ctr">
                <a:lnSpc>
                  <a:spcPts val="2771"/>
                </a:lnSpc>
              </a:pPr>
            </a:p>
          </p:txBody>
        </p:sp>
      </p:grpSp>
      <p:grpSp>
        <p:nvGrpSpPr>
          <p:cNvPr name="Group 33" id="33"/>
          <p:cNvGrpSpPr/>
          <p:nvPr/>
        </p:nvGrpSpPr>
        <p:grpSpPr>
          <a:xfrm rot="0">
            <a:off x="7339207" y="6314007"/>
            <a:ext cx="3473332" cy="716424"/>
            <a:chOff x="0" y="0"/>
            <a:chExt cx="914787" cy="188688"/>
          </a:xfrm>
        </p:grpSpPr>
        <p:sp>
          <p:nvSpPr>
            <p:cNvPr name="Freeform 34" id="34"/>
            <p:cNvSpPr/>
            <p:nvPr/>
          </p:nvSpPr>
          <p:spPr>
            <a:xfrm flipH="false" flipV="false" rot="0">
              <a:off x="0" y="0"/>
              <a:ext cx="914787" cy="188688"/>
            </a:xfrm>
            <a:custGeom>
              <a:avLst/>
              <a:gdLst/>
              <a:ahLst/>
              <a:cxnLst/>
              <a:rect r="r" b="b" t="t" l="l"/>
              <a:pathLst>
                <a:path h="188688" w="914787">
                  <a:moveTo>
                    <a:pt x="0" y="0"/>
                  </a:moveTo>
                  <a:lnTo>
                    <a:pt x="914787" y="0"/>
                  </a:lnTo>
                  <a:lnTo>
                    <a:pt x="914787" y="188688"/>
                  </a:lnTo>
                  <a:lnTo>
                    <a:pt x="0" y="188688"/>
                  </a:lnTo>
                  <a:close/>
                </a:path>
              </a:pathLst>
            </a:custGeom>
            <a:solidFill>
              <a:srgbClr val="38B6FF"/>
            </a:solidFill>
          </p:spPr>
        </p:sp>
        <p:sp>
          <p:nvSpPr>
            <p:cNvPr name="TextBox 35" id="35"/>
            <p:cNvSpPr txBox="true"/>
            <p:nvPr/>
          </p:nvSpPr>
          <p:spPr>
            <a:xfrm>
              <a:off x="0" y="-9525"/>
              <a:ext cx="914787" cy="198213"/>
            </a:xfrm>
            <a:prstGeom prst="rect">
              <a:avLst/>
            </a:prstGeom>
          </p:spPr>
          <p:txBody>
            <a:bodyPr anchor="ctr" rtlCol="false" tIns="50800" lIns="50800" bIns="50800" rIns="50800"/>
            <a:lstStyle/>
            <a:p>
              <a:pPr algn="ctr">
                <a:lnSpc>
                  <a:spcPts val="2771"/>
                </a:lnSpc>
              </a:pPr>
            </a:p>
          </p:txBody>
        </p:sp>
      </p:grpSp>
      <p:grpSp>
        <p:nvGrpSpPr>
          <p:cNvPr name="Group 36" id="36"/>
          <p:cNvGrpSpPr/>
          <p:nvPr/>
        </p:nvGrpSpPr>
        <p:grpSpPr>
          <a:xfrm rot="0">
            <a:off x="1028700" y="6235011"/>
            <a:ext cx="4426107" cy="684534"/>
            <a:chOff x="0" y="0"/>
            <a:chExt cx="1165724" cy="180289"/>
          </a:xfrm>
        </p:grpSpPr>
        <p:sp>
          <p:nvSpPr>
            <p:cNvPr name="Freeform 37" id="37"/>
            <p:cNvSpPr/>
            <p:nvPr/>
          </p:nvSpPr>
          <p:spPr>
            <a:xfrm flipH="false" flipV="false" rot="0">
              <a:off x="0" y="0"/>
              <a:ext cx="1165724" cy="180289"/>
            </a:xfrm>
            <a:custGeom>
              <a:avLst/>
              <a:gdLst/>
              <a:ahLst/>
              <a:cxnLst/>
              <a:rect r="r" b="b" t="t" l="l"/>
              <a:pathLst>
                <a:path h="180289" w="1165724">
                  <a:moveTo>
                    <a:pt x="0" y="0"/>
                  </a:moveTo>
                  <a:lnTo>
                    <a:pt x="1165724" y="0"/>
                  </a:lnTo>
                  <a:lnTo>
                    <a:pt x="1165724" y="180289"/>
                  </a:lnTo>
                  <a:lnTo>
                    <a:pt x="0" y="180289"/>
                  </a:lnTo>
                  <a:close/>
                </a:path>
              </a:pathLst>
            </a:custGeom>
            <a:solidFill>
              <a:srgbClr val="8C52FF"/>
            </a:solidFill>
          </p:spPr>
        </p:sp>
        <p:sp>
          <p:nvSpPr>
            <p:cNvPr name="TextBox 38" id="38"/>
            <p:cNvSpPr txBox="true"/>
            <p:nvPr/>
          </p:nvSpPr>
          <p:spPr>
            <a:xfrm>
              <a:off x="0" y="-9525"/>
              <a:ext cx="1165724" cy="189814"/>
            </a:xfrm>
            <a:prstGeom prst="rect">
              <a:avLst/>
            </a:prstGeom>
          </p:spPr>
          <p:txBody>
            <a:bodyPr anchor="ctr" rtlCol="false" tIns="50800" lIns="50800" bIns="50800" rIns="50800"/>
            <a:lstStyle/>
            <a:p>
              <a:pPr algn="ctr">
                <a:lnSpc>
                  <a:spcPts val="2771"/>
                </a:lnSpc>
              </a:pPr>
            </a:p>
          </p:txBody>
        </p:sp>
      </p:grpSp>
      <p:sp>
        <p:nvSpPr>
          <p:cNvPr name="TextBox 39" id="39"/>
          <p:cNvSpPr txBox="true"/>
          <p:nvPr/>
        </p:nvSpPr>
        <p:spPr>
          <a:xfrm rot="0">
            <a:off x="12240579" y="3579327"/>
            <a:ext cx="3318568" cy="497840"/>
          </a:xfrm>
          <a:prstGeom prst="rect">
            <a:avLst/>
          </a:prstGeom>
        </p:spPr>
        <p:txBody>
          <a:bodyPr anchor="t" rtlCol="false" tIns="0" lIns="0" bIns="0" rIns="0">
            <a:spAutoFit/>
          </a:bodyPr>
          <a:lstStyle/>
          <a:p>
            <a:pPr algn="ctr">
              <a:lnSpc>
                <a:spcPts val="4060"/>
              </a:lnSpc>
            </a:pPr>
            <a:r>
              <a:rPr lang="en-US" sz="2900" b="true">
                <a:solidFill>
                  <a:srgbClr val="000000"/>
                </a:solidFill>
                <a:latin typeface="Canva Sans Bold"/>
                <a:ea typeface="Canva Sans Bold"/>
                <a:cs typeface="Canva Sans Bold"/>
                <a:sym typeface="Canva Sans Bold"/>
              </a:rPr>
              <a:t>Case Management</a:t>
            </a:r>
          </a:p>
        </p:txBody>
      </p:sp>
      <p:sp>
        <p:nvSpPr>
          <p:cNvPr name="TextBox 40" id="40"/>
          <p:cNvSpPr txBox="true"/>
          <p:nvPr/>
        </p:nvSpPr>
        <p:spPr>
          <a:xfrm rot="0">
            <a:off x="1028700" y="3596448"/>
            <a:ext cx="4364260" cy="1153159"/>
          </a:xfrm>
          <a:prstGeom prst="rect">
            <a:avLst/>
          </a:prstGeom>
        </p:spPr>
        <p:txBody>
          <a:bodyPr anchor="t" rtlCol="false" tIns="0" lIns="0" bIns="0" rIns="0">
            <a:spAutoFit/>
          </a:bodyPr>
          <a:lstStyle/>
          <a:p>
            <a:pPr algn="ctr">
              <a:lnSpc>
                <a:spcPts val="4060"/>
              </a:lnSpc>
            </a:pPr>
            <a:r>
              <a:rPr lang="en-US" sz="2900" b="true">
                <a:solidFill>
                  <a:srgbClr val="282628"/>
                </a:solidFill>
                <a:latin typeface="Canva Sans Bold"/>
                <a:ea typeface="Canva Sans Bold"/>
                <a:cs typeface="Canva Sans Bold"/>
                <a:sym typeface="Canva Sans Bold"/>
              </a:rPr>
              <a:t>Role-Based Dashboards</a:t>
            </a:r>
          </a:p>
          <a:p>
            <a:pPr algn="ctr">
              <a:lnSpc>
                <a:spcPts val="5320"/>
              </a:lnSpc>
            </a:pPr>
          </a:p>
        </p:txBody>
      </p:sp>
      <p:sp>
        <p:nvSpPr>
          <p:cNvPr name="TextBox 41" id="41"/>
          <p:cNvSpPr txBox="true"/>
          <p:nvPr/>
        </p:nvSpPr>
        <p:spPr>
          <a:xfrm rot="0">
            <a:off x="7339207" y="3506119"/>
            <a:ext cx="3313081" cy="504983"/>
          </a:xfrm>
          <a:prstGeom prst="rect">
            <a:avLst/>
          </a:prstGeom>
        </p:spPr>
        <p:txBody>
          <a:bodyPr anchor="t" rtlCol="false" tIns="0" lIns="0" bIns="0" rIns="0">
            <a:spAutoFit/>
          </a:bodyPr>
          <a:lstStyle/>
          <a:p>
            <a:pPr algn="ctr">
              <a:lnSpc>
                <a:spcPts val="4191"/>
              </a:lnSpc>
            </a:pPr>
            <a:r>
              <a:rPr lang="en-US" sz="2993" b="true">
                <a:solidFill>
                  <a:srgbClr val="000000"/>
                </a:solidFill>
                <a:latin typeface="Canva Sans Bold"/>
                <a:ea typeface="Canva Sans Bold"/>
                <a:cs typeface="Canva Sans Bold"/>
                <a:sym typeface="Canva Sans Bold"/>
              </a:rPr>
              <a:t>Easy Navigation</a:t>
            </a:r>
          </a:p>
        </p:txBody>
      </p:sp>
      <p:sp>
        <p:nvSpPr>
          <p:cNvPr name="TextBox 42" id="42"/>
          <p:cNvSpPr txBox="true"/>
          <p:nvPr/>
        </p:nvSpPr>
        <p:spPr>
          <a:xfrm rot="0">
            <a:off x="7315252" y="6380437"/>
            <a:ext cx="3392469" cy="497840"/>
          </a:xfrm>
          <a:prstGeom prst="rect">
            <a:avLst/>
          </a:prstGeom>
        </p:spPr>
        <p:txBody>
          <a:bodyPr anchor="t" rtlCol="false" tIns="0" lIns="0" bIns="0" rIns="0">
            <a:spAutoFit/>
          </a:bodyPr>
          <a:lstStyle/>
          <a:p>
            <a:pPr algn="ctr">
              <a:lnSpc>
                <a:spcPts val="4060"/>
              </a:lnSpc>
            </a:pPr>
            <a:r>
              <a:rPr lang="en-US" sz="2900" b="true">
                <a:solidFill>
                  <a:srgbClr val="000000"/>
                </a:solidFill>
                <a:latin typeface="Canva Sans Bold"/>
                <a:ea typeface="Canva Sans Bold"/>
                <a:cs typeface="Canva Sans Bold"/>
                <a:sym typeface="Canva Sans Bold"/>
              </a:rPr>
              <a:t>Data Visualization</a:t>
            </a:r>
          </a:p>
        </p:txBody>
      </p:sp>
      <p:sp>
        <p:nvSpPr>
          <p:cNvPr name="TextBox 43" id="43"/>
          <p:cNvSpPr txBox="true"/>
          <p:nvPr/>
        </p:nvSpPr>
        <p:spPr>
          <a:xfrm rot="0">
            <a:off x="11983989" y="6380437"/>
            <a:ext cx="3886849" cy="448310"/>
          </a:xfrm>
          <a:prstGeom prst="rect">
            <a:avLst/>
          </a:prstGeom>
        </p:spPr>
        <p:txBody>
          <a:bodyPr anchor="t" rtlCol="false" tIns="0" lIns="0" bIns="0" rIns="0">
            <a:spAutoFit/>
          </a:bodyPr>
          <a:lstStyle/>
          <a:p>
            <a:pPr algn="ctr">
              <a:lnSpc>
                <a:spcPts val="3640"/>
              </a:lnSpc>
            </a:pPr>
            <a:r>
              <a:rPr lang="en-US" sz="2600" b="true">
                <a:solidFill>
                  <a:srgbClr val="000000"/>
                </a:solidFill>
                <a:latin typeface="Canva Sans Bold"/>
                <a:ea typeface="Canva Sans Bold"/>
                <a:cs typeface="Canva Sans Bold"/>
                <a:sym typeface="Canva Sans Bold"/>
              </a:rPr>
              <a:t>User-friendly Interface</a:t>
            </a:r>
          </a:p>
        </p:txBody>
      </p:sp>
      <p:sp>
        <p:nvSpPr>
          <p:cNvPr name="TextBox 44" id="44"/>
          <p:cNvSpPr txBox="true"/>
          <p:nvPr/>
        </p:nvSpPr>
        <p:spPr>
          <a:xfrm rot="0">
            <a:off x="1090546" y="6233239"/>
            <a:ext cx="4364260" cy="1153160"/>
          </a:xfrm>
          <a:prstGeom prst="rect">
            <a:avLst/>
          </a:prstGeom>
        </p:spPr>
        <p:txBody>
          <a:bodyPr anchor="t" rtlCol="false" tIns="0" lIns="0" bIns="0" rIns="0">
            <a:spAutoFit/>
          </a:bodyPr>
          <a:lstStyle/>
          <a:p>
            <a:pPr algn="ctr">
              <a:lnSpc>
                <a:spcPts val="4060"/>
              </a:lnSpc>
            </a:pPr>
            <a:r>
              <a:rPr lang="en-US" sz="2900" b="true">
                <a:solidFill>
                  <a:srgbClr val="282628"/>
                </a:solidFill>
                <a:latin typeface="Canva Sans Bold"/>
                <a:ea typeface="Canva Sans Bold"/>
                <a:cs typeface="Canva Sans Bold"/>
                <a:sym typeface="Canva Sans Bold"/>
              </a:rPr>
              <a:t>Hearing Tracking</a:t>
            </a:r>
          </a:p>
          <a:p>
            <a:pPr algn="ctr">
              <a:lnSpc>
                <a:spcPts val="5320"/>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424242"/>
        </a:solidFill>
      </p:bgPr>
    </p:bg>
    <p:spTree>
      <p:nvGrpSpPr>
        <p:cNvPr id="1" name=""/>
        <p:cNvGrpSpPr/>
        <p:nvPr/>
      </p:nvGrpSpPr>
      <p:grpSpPr>
        <a:xfrm>
          <a:off x="0" y="0"/>
          <a:ext cx="0" cy="0"/>
          <a:chOff x="0" y="0"/>
          <a:chExt cx="0" cy="0"/>
        </a:xfrm>
      </p:grpSpPr>
      <p:sp>
        <p:nvSpPr>
          <p:cNvPr name="TextBox 2" id="2"/>
          <p:cNvSpPr txBox="true"/>
          <p:nvPr/>
        </p:nvSpPr>
        <p:spPr>
          <a:xfrm rot="0">
            <a:off x="4519868" y="282194"/>
            <a:ext cx="13389009" cy="1197898"/>
          </a:xfrm>
          <a:prstGeom prst="rect">
            <a:avLst/>
          </a:prstGeom>
        </p:spPr>
        <p:txBody>
          <a:bodyPr anchor="t" rtlCol="false" tIns="0" lIns="0" bIns="0" rIns="0">
            <a:spAutoFit/>
          </a:bodyPr>
          <a:lstStyle/>
          <a:p>
            <a:pPr algn="l">
              <a:lnSpc>
                <a:spcPts val="7582"/>
              </a:lnSpc>
            </a:pPr>
            <a:r>
              <a:rPr lang="en-US" sz="8066" spc="-379" b="true">
                <a:solidFill>
                  <a:srgbClr val="FFFFFF"/>
                </a:solidFill>
                <a:latin typeface="Times New Roman MT Ultra-Bold"/>
                <a:ea typeface="Times New Roman MT Ultra-Bold"/>
                <a:cs typeface="Times New Roman MT Ultra-Bold"/>
                <a:sym typeface="Times New Roman MT Ultra-Bold"/>
              </a:rPr>
              <a:t>Frontend Implementation </a:t>
            </a:r>
          </a:p>
        </p:txBody>
      </p:sp>
      <p:sp>
        <p:nvSpPr>
          <p:cNvPr name="Freeform 3" id="3"/>
          <p:cNvSpPr/>
          <p:nvPr/>
        </p:nvSpPr>
        <p:spPr>
          <a:xfrm flipH="false" flipV="false" rot="0">
            <a:off x="0" y="0"/>
            <a:ext cx="3594508" cy="1480091"/>
          </a:xfrm>
          <a:custGeom>
            <a:avLst/>
            <a:gdLst/>
            <a:ahLst/>
            <a:cxnLst/>
            <a:rect r="r" b="b" t="t" l="l"/>
            <a:pathLst>
              <a:path h="1480091" w="3594508">
                <a:moveTo>
                  <a:pt x="0" y="0"/>
                </a:moveTo>
                <a:lnTo>
                  <a:pt x="3594508" y="0"/>
                </a:lnTo>
                <a:lnTo>
                  <a:pt x="3594508" y="1480091"/>
                </a:lnTo>
                <a:lnTo>
                  <a:pt x="0" y="1480091"/>
                </a:lnTo>
                <a:lnTo>
                  <a:pt x="0" y="0"/>
                </a:lnTo>
                <a:close/>
              </a:path>
            </a:pathLst>
          </a:custGeom>
          <a:blipFill>
            <a:blip r:embed="rId2"/>
            <a:stretch>
              <a:fillRect l="0" t="0" r="0" b="0"/>
            </a:stretch>
          </a:blipFill>
        </p:spPr>
      </p:sp>
      <p:sp>
        <p:nvSpPr>
          <p:cNvPr name="Freeform 4" id="4"/>
          <p:cNvSpPr/>
          <p:nvPr/>
        </p:nvSpPr>
        <p:spPr>
          <a:xfrm flipH="false" flipV="false" rot="1925852">
            <a:off x="11466076" y="-4040445"/>
            <a:ext cx="9386678" cy="10557613"/>
          </a:xfrm>
          <a:custGeom>
            <a:avLst/>
            <a:gdLst/>
            <a:ahLst/>
            <a:cxnLst/>
            <a:rect r="r" b="b" t="t" l="l"/>
            <a:pathLst>
              <a:path h="10557613" w="9386678">
                <a:moveTo>
                  <a:pt x="0" y="0"/>
                </a:moveTo>
                <a:lnTo>
                  <a:pt x="9386678" y="0"/>
                </a:lnTo>
                <a:lnTo>
                  <a:pt x="9386678" y="10557613"/>
                </a:lnTo>
                <a:lnTo>
                  <a:pt x="0" y="10557613"/>
                </a:lnTo>
                <a:lnTo>
                  <a:pt x="0" y="0"/>
                </a:lnTo>
                <a:close/>
              </a:path>
            </a:pathLst>
          </a:custGeom>
          <a:blipFill>
            <a:blip r:embed="rId3">
              <a:alphaModFix amt="20999"/>
            </a:blip>
            <a:stretch>
              <a:fillRect l="0" t="0" r="0" b="0"/>
            </a:stretch>
          </a:blipFill>
        </p:spPr>
      </p:sp>
      <p:sp>
        <p:nvSpPr>
          <p:cNvPr name="Freeform 5" id="5"/>
          <p:cNvSpPr/>
          <p:nvPr/>
        </p:nvSpPr>
        <p:spPr>
          <a:xfrm flipH="false" flipV="false" rot="0">
            <a:off x="-1231290" y="6163012"/>
            <a:ext cx="12299674" cy="5143500"/>
          </a:xfrm>
          <a:custGeom>
            <a:avLst/>
            <a:gdLst/>
            <a:ahLst/>
            <a:cxnLst/>
            <a:rect r="r" b="b" t="t" l="l"/>
            <a:pathLst>
              <a:path h="5143500" w="12299674">
                <a:moveTo>
                  <a:pt x="0" y="0"/>
                </a:moveTo>
                <a:lnTo>
                  <a:pt x="12299673" y="0"/>
                </a:lnTo>
                <a:lnTo>
                  <a:pt x="12299673" y="5143500"/>
                </a:lnTo>
                <a:lnTo>
                  <a:pt x="0" y="5143500"/>
                </a:lnTo>
                <a:lnTo>
                  <a:pt x="0" y="0"/>
                </a:lnTo>
                <a:close/>
              </a:path>
            </a:pathLst>
          </a:custGeom>
          <a:blipFill>
            <a:blip r:embed="rId4">
              <a:alphaModFix amt="10999"/>
            </a:blip>
            <a:stretch>
              <a:fillRect l="0" t="0" r="0" b="0"/>
            </a:stretch>
          </a:blipFill>
        </p:spPr>
      </p:sp>
      <p:sp>
        <p:nvSpPr>
          <p:cNvPr name="Freeform 6" id="6"/>
          <p:cNvSpPr/>
          <p:nvPr/>
        </p:nvSpPr>
        <p:spPr>
          <a:xfrm flipH="false" flipV="false" rot="0">
            <a:off x="645750" y="2250031"/>
            <a:ext cx="6782634" cy="3327730"/>
          </a:xfrm>
          <a:custGeom>
            <a:avLst/>
            <a:gdLst/>
            <a:ahLst/>
            <a:cxnLst/>
            <a:rect r="r" b="b" t="t" l="l"/>
            <a:pathLst>
              <a:path h="3327730" w="6782634">
                <a:moveTo>
                  <a:pt x="0" y="0"/>
                </a:moveTo>
                <a:lnTo>
                  <a:pt x="6782634" y="0"/>
                </a:lnTo>
                <a:lnTo>
                  <a:pt x="6782634" y="3327730"/>
                </a:lnTo>
                <a:lnTo>
                  <a:pt x="0" y="3327730"/>
                </a:lnTo>
                <a:lnTo>
                  <a:pt x="0" y="0"/>
                </a:lnTo>
                <a:close/>
              </a:path>
            </a:pathLst>
          </a:custGeom>
          <a:blipFill>
            <a:blip r:embed="rId5"/>
            <a:stretch>
              <a:fillRect l="0" t="0" r="0" b="0"/>
            </a:stretch>
          </a:blipFill>
        </p:spPr>
      </p:sp>
      <p:sp>
        <p:nvSpPr>
          <p:cNvPr name="Freeform 7" id="7"/>
          <p:cNvSpPr/>
          <p:nvPr/>
        </p:nvSpPr>
        <p:spPr>
          <a:xfrm flipH="false" flipV="false" rot="0">
            <a:off x="9741558" y="2250031"/>
            <a:ext cx="6795057" cy="3376294"/>
          </a:xfrm>
          <a:custGeom>
            <a:avLst/>
            <a:gdLst/>
            <a:ahLst/>
            <a:cxnLst/>
            <a:rect r="r" b="b" t="t" l="l"/>
            <a:pathLst>
              <a:path h="3376294" w="6795057">
                <a:moveTo>
                  <a:pt x="0" y="0"/>
                </a:moveTo>
                <a:lnTo>
                  <a:pt x="6795057" y="0"/>
                </a:lnTo>
                <a:lnTo>
                  <a:pt x="6795057" y="3376295"/>
                </a:lnTo>
                <a:lnTo>
                  <a:pt x="0" y="3376295"/>
                </a:lnTo>
                <a:lnTo>
                  <a:pt x="0" y="0"/>
                </a:lnTo>
                <a:close/>
              </a:path>
            </a:pathLst>
          </a:custGeom>
          <a:blipFill>
            <a:blip r:embed="rId6"/>
            <a:stretch>
              <a:fillRect l="0" t="0" r="0" b="0"/>
            </a:stretch>
          </a:blipFill>
        </p:spPr>
      </p:sp>
      <p:sp>
        <p:nvSpPr>
          <p:cNvPr name="Freeform 8" id="8"/>
          <p:cNvSpPr/>
          <p:nvPr/>
        </p:nvSpPr>
        <p:spPr>
          <a:xfrm flipH="false" flipV="false" rot="0">
            <a:off x="645750" y="6163012"/>
            <a:ext cx="6782634" cy="3558637"/>
          </a:xfrm>
          <a:custGeom>
            <a:avLst/>
            <a:gdLst/>
            <a:ahLst/>
            <a:cxnLst/>
            <a:rect r="r" b="b" t="t" l="l"/>
            <a:pathLst>
              <a:path h="3558637" w="6782634">
                <a:moveTo>
                  <a:pt x="0" y="0"/>
                </a:moveTo>
                <a:lnTo>
                  <a:pt x="6782634" y="0"/>
                </a:lnTo>
                <a:lnTo>
                  <a:pt x="6782634" y="3558637"/>
                </a:lnTo>
                <a:lnTo>
                  <a:pt x="0" y="3558637"/>
                </a:lnTo>
                <a:lnTo>
                  <a:pt x="0" y="0"/>
                </a:lnTo>
                <a:close/>
              </a:path>
            </a:pathLst>
          </a:custGeom>
          <a:blipFill>
            <a:blip r:embed="rId7"/>
            <a:stretch>
              <a:fillRect l="-3265" t="0" r="-3265" b="0"/>
            </a:stretch>
          </a:blipFill>
        </p:spPr>
      </p:sp>
      <p:sp>
        <p:nvSpPr>
          <p:cNvPr name="Freeform 9" id="9"/>
          <p:cNvSpPr/>
          <p:nvPr/>
        </p:nvSpPr>
        <p:spPr>
          <a:xfrm flipH="false" flipV="false" rot="0">
            <a:off x="9741558" y="6175178"/>
            <a:ext cx="7119640" cy="3546471"/>
          </a:xfrm>
          <a:custGeom>
            <a:avLst/>
            <a:gdLst/>
            <a:ahLst/>
            <a:cxnLst/>
            <a:rect r="r" b="b" t="t" l="l"/>
            <a:pathLst>
              <a:path h="3546471" w="7119640">
                <a:moveTo>
                  <a:pt x="0" y="0"/>
                </a:moveTo>
                <a:lnTo>
                  <a:pt x="7119640" y="0"/>
                </a:lnTo>
                <a:lnTo>
                  <a:pt x="7119640" y="3546471"/>
                </a:lnTo>
                <a:lnTo>
                  <a:pt x="0" y="3546471"/>
                </a:lnTo>
                <a:lnTo>
                  <a:pt x="0" y="0"/>
                </a:lnTo>
                <a:close/>
              </a:path>
            </a:pathLst>
          </a:custGeom>
          <a:blipFill>
            <a:blip r:embed="rId8"/>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424242"/>
        </a:solidFill>
      </p:bgPr>
    </p:bg>
    <p:spTree>
      <p:nvGrpSpPr>
        <p:cNvPr id="1" name=""/>
        <p:cNvGrpSpPr/>
        <p:nvPr/>
      </p:nvGrpSpPr>
      <p:grpSpPr>
        <a:xfrm>
          <a:off x="0" y="0"/>
          <a:ext cx="0" cy="0"/>
          <a:chOff x="0" y="0"/>
          <a:chExt cx="0" cy="0"/>
        </a:xfrm>
      </p:grpSpPr>
      <p:grpSp>
        <p:nvGrpSpPr>
          <p:cNvPr name="Group 2" id="2"/>
          <p:cNvGrpSpPr/>
          <p:nvPr/>
        </p:nvGrpSpPr>
        <p:grpSpPr>
          <a:xfrm rot="0">
            <a:off x="390076" y="3238960"/>
            <a:ext cx="17157398" cy="6328202"/>
            <a:chOff x="0" y="0"/>
            <a:chExt cx="4518821" cy="1666687"/>
          </a:xfrm>
        </p:grpSpPr>
        <p:sp>
          <p:nvSpPr>
            <p:cNvPr name="Freeform 3" id="3"/>
            <p:cNvSpPr/>
            <p:nvPr/>
          </p:nvSpPr>
          <p:spPr>
            <a:xfrm flipH="false" flipV="false" rot="0">
              <a:off x="0" y="0"/>
              <a:ext cx="4518821" cy="1666687"/>
            </a:xfrm>
            <a:custGeom>
              <a:avLst/>
              <a:gdLst/>
              <a:ahLst/>
              <a:cxnLst/>
              <a:rect r="r" b="b" t="t" l="l"/>
              <a:pathLst>
                <a:path h="1666687" w="4518821">
                  <a:moveTo>
                    <a:pt x="41964" y="0"/>
                  </a:moveTo>
                  <a:lnTo>
                    <a:pt x="4476856" y="0"/>
                  </a:lnTo>
                  <a:cubicBezTo>
                    <a:pt x="4487986" y="0"/>
                    <a:pt x="4498660" y="4421"/>
                    <a:pt x="4506530" y="12291"/>
                  </a:cubicBezTo>
                  <a:cubicBezTo>
                    <a:pt x="4514400" y="20161"/>
                    <a:pt x="4518821" y="30835"/>
                    <a:pt x="4518821" y="41964"/>
                  </a:cubicBezTo>
                  <a:lnTo>
                    <a:pt x="4518821" y="1624723"/>
                  </a:lnTo>
                  <a:cubicBezTo>
                    <a:pt x="4518821" y="1635852"/>
                    <a:pt x="4514400" y="1646526"/>
                    <a:pt x="4506530" y="1654396"/>
                  </a:cubicBezTo>
                  <a:cubicBezTo>
                    <a:pt x="4498660" y="1662266"/>
                    <a:pt x="4487986" y="1666687"/>
                    <a:pt x="4476856" y="1666687"/>
                  </a:cubicBezTo>
                  <a:lnTo>
                    <a:pt x="41964" y="1666687"/>
                  </a:lnTo>
                  <a:cubicBezTo>
                    <a:pt x="30835" y="1666687"/>
                    <a:pt x="20161" y="1662266"/>
                    <a:pt x="12291" y="1654396"/>
                  </a:cubicBezTo>
                  <a:cubicBezTo>
                    <a:pt x="4421" y="1646526"/>
                    <a:pt x="0" y="1635852"/>
                    <a:pt x="0" y="1624723"/>
                  </a:cubicBezTo>
                  <a:lnTo>
                    <a:pt x="0" y="41964"/>
                  </a:lnTo>
                  <a:cubicBezTo>
                    <a:pt x="0" y="30835"/>
                    <a:pt x="4421" y="20161"/>
                    <a:pt x="12291" y="12291"/>
                  </a:cubicBezTo>
                  <a:cubicBezTo>
                    <a:pt x="20161" y="4421"/>
                    <a:pt x="30835" y="0"/>
                    <a:pt x="41964" y="0"/>
                  </a:cubicBezTo>
                  <a:close/>
                </a:path>
              </a:pathLst>
            </a:custGeom>
            <a:solidFill>
              <a:srgbClr val="424242"/>
            </a:solidFill>
            <a:ln w="19050" cap="rnd">
              <a:solidFill>
                <a:srgbClr val="D0D7DD"/>
              </a:solidFill>
              <a:prstDash val="solid"/>
              <a:round/>
            </a:ln>
          </p:spPr>
        </p:sp>
        <p:sp>
          <p:nvSpPr>
            <p:cNvPr name="TextBox 4" id="4"/>
            <p:cNvSpPr txBox="true"/>
            <p:nvPr/>
          </p:nvSpPr>
          <p:spPr>
            <a:xfrm>
              <a:off x="0" y="-28575"/>
              <a:ext cx="4518821" cy="1695262"/>
            </a:xfrm>
            <a:prstGeom prst="rect">
              <a:avLst/>
            </a:prstGeom>
          </p:spPr>
          <p:txBody>
            <a:bodyPr anchor="ctr" rtlCol="false" tIns="50800" lIns="50800" bIns="50800" rIns="50800"/>
            <a:lstStyle/>
            <a:p>
              <a:pPr algn="ctr">
                <a:lnSpc>
                  <a:spcPts val="2015"/>
                </a:lnSpc>
              </a:pPr>
            </a:p>
          </p:txBody>
        </p:sp>
      </p:grpSp>
      <p:sp>
        <p:nvSpPr>
          <p:cNvPr name="TextBox 5" id="5"/>
          <p:cNvSpPr txBox="true"/>
          <p:nvPr/>
        </p:nvSpPr>
        <p:spPr>
          <a:xfrm rot="0">
            <a:off x="1028700" y="1781982"/>
            <a:ext cx="13389009" cy="1190278"/>
          </a:xfrm>
          <a:prstGeom prst="rect">
            <a:avLst/>
          </a:prstGeom>
        </p:spPr>
        <p:txBody>
          <a:bodyPr anchor="t" rtlCol="false" tIns="0" lIns="0" bIns="0" rIns="0">
            <a:spAutoFit/>
          </a:bodyPr>
          <a:lstStyle/>
          <a:p>
            <a:pPr algn="l">
              <a:lnSpc>
                <a:spcPts val="7582"/>
              </a:lnSpc>
            </a:pPr>
            <a:r>
              <a:rPr lang="en-US" sz="8066" spc="-379" b="true">
                <a:solidFill>
                  <a:srgbClr val="FFFFFF"/>
                </a:solidFill>
                <a:latin typeface="Times New Roman MT Bold"/>
                <a:ea typeface="Times New Roman MT Bold"/>
                <a:cs typeface="Times New Roman MT Bold"/>
                <a:sym typeface="Times New Roman MT Bold"/>
              </a:rPr>
              <a:t>Database Design</a:t>
            </a:r>
          </a:p>
        </p:txBody>
      </p:sp>
      <p:sp>
        <p:nvSpPr>
          <p:cNvPr name="Freeform 6" id="6"/>
          <p:cNvSpPr/>
          <p:nvPr/>
        </p:nvSpPr>
        <p:spPr>
          <a:xfrm flipH="false" flipV="false" rot="0">
            <a:off x="0" y="0"/>
            <a:ext cx="3594508" cy="1480091"/>
          </a:xfrm>
          <a:custGeom>
            <a:avLst/>
            <a:gdLst/>
            <a:ahLst/>
            <a:cxnLst/>
            <a:rect r="r" b="b" t="t" l="l"/>
            <a:pathLst>
              <a:path h="1480091" w="3594508">
                <a:moveTo>
                  <a:pt x="0" y="0"/>
                </a:moveTo>
                <a:lnTo>
                  <a:pt x="3594508" y="0"/>
                </a:lnTo>
                <a:lnTo>
                  <a:pt x="3594508" y="1480091"/>
                </a:lnTo>
                <a:lnTo>
                  <a:pt x="0" y="1480091"/>
                </a:lnTo>
                <a:lnTo>
                  <a:pt x="0" y="0"/>
                </a:lnTo>
                <a:close/>
              </a:path>
            </a:pathLst>
          </a:custGeom>
          <a:blipFill>
            <a:blip r:embed="rId2"/>
            <a:stretch>
              <a:fillRect l="0" t="0" r="0" b="0"/>
            </a:stretch>
          </a:blipFill>
        </p:spPr>
      </p:sp>
      <p:sp>
        <p:nvSpPr>
          <p:cNvPr name="Freeform 7" id="7"/>
          <p:cNvSpPr/>
          <p:nvPr/>
        </p:nvSpPr>
        <p:spPr>
          <a:xfrm flipH="false" flipV="false" rot="1925852">
            <a:off x="11466076" y="-3935689"/>
            <a:ext cx="9386678" cy="10557613"/>
          </a:xfrm>
          <a:custGeom>
            <a:avLst/>
            <a:gdLst/>
            <a:ahLst/>
            <a:cxnLst/>
            <a:rect r="r" b="b" t="t" l="l"/>
            <a:pathLst>
              <a:path h="10557613" w="9386678">
                <a:moveTo>
                  <a:pt x="0" y="0"/>
                </a:moveTo>
                <a:lnTo>
                  <a:pt x="9386678" y="0"/>
                </a:lnTo>
                <a:lnTo>
                  <a:pt x="9386678" y="10557613"/>
                </a:lnTo>
                <a:lnTo>
                  <a:pt x="0" y="10557613"/>
                </a:lnTo>
                <a:lnTo>
                  <a:pt x="0" y="0"/>
                </a:lnTo>
                <a:close/>
              </a:path>
            </a:pathLst>
          </a:custGeom>
          <a:blipFill>
            <a:blip r:embed="rId3">
              <a:alphaModFix amt="20999"/>
            </a:blip>
            <a:stretch>
              <a:fillRect l="0" t="0" r="0" b="0"/>
            </a:stretch>
          </a:blipFill>
        </p:spPr>
      </p:sp>
      <p:sp>
        <p:nvSpPr>
          <p:cNvPr name="Freeform 8" id="8"/>
          <p:cNvSpPr/>
          <p:nvPr/>
        </p:nvSpPr>
        <p:spPr>
          <a:xfrm flipH="false" flipV="false" rot="0">
            <a:off x="-1231290" y="6163012"/>
            <a:ext cx="12299674" cy="5143500"/>
          </a:xfrm>
          <a:custGeom>
            <a:avLst/>
            <a:gdLst/>
            <a:ahLst/>
            <a:cxnLst/>
            <a:rect r="r" b="b" t="t" l="l"/>
            <a:pathLst>
              <a:path h="5143500" w="12299674">
                <a:moveTo>
                  <a:pt x="0" y="0"/>
                </a:moveTo>
                <a:lnTo>
                  <a:pt x="12299673" y="0"/>
                </a:lnTo>
                <a:lnTo>
                  <a:pt x="12299673" y="5143500"/>
                </a:lnTo>
                <a:lnTo>
                  <a:pt x="0" y="5143500"/>
                </a:lnTo>
                <a:lnTo>
                  <a:pt x="0" y="0"/>
                </a:lnTo>
                <a:close/>
              </a:path>
            </a:pathLst>
          </a:custGeom>
          <a:blipFill>
            <a:blip r:embed="rId4">
              <a:alphaModFix amt="10999"/>
            </a:blip>
            <a:stretch>
              <a:fillRect l="0" t="0" r="0" b="0"/>
            </a:stretch>
          </a:blipFill>
        </p:spPr>
      </p:sp>
      <p:sp>
        <p:nvSpPr>
          <p:cNvPr name="Freeform 9" id="9"/>
          <p:cNvSpPr/>
          <p:nvPr/>
        </p:nvSpPr>
        <p:spPr>
          <a:xfrm flipH="false" flipV="false" rot="0">
            <a:off x="1028700" y="3631373"/>
            <a:ext cx="3086100" cy="570229"/>
          </a:xfrm>
          <a:custGeom>
            <a:avLst/>
            <a:gdLst/>
            <a:ahLst/>
            <a:cxnLst/>
            <a:rect r="r" b="b" t="t" l="l"/>
            <a:pathLst>
              <a:path h="570229" w="3086100">
                <a:moveTo>
                  <a:pt x="0" y="0"/>
                </a:moveTo>
                <a:lnTo>
                  <a:pt x="3086100" y="0"/>
                </a:lnTo>
                <a:lnTo>
                  <a:pt x="3086100" y="570229"/>
                </a:lnTo>
                <a:lnTo>
                  <a:pt x="0" y="570229"/>
                </a:lnTo>
                <a:lnTo>
                  <a:pt x="0" y="0"/>
                </a:lnTo>
                <a:close/>
              </a:path>
            </a:pathLst>
          </a:custGeom>
          <a:blipFill>
            <a:blip r:embed="rId5"/>
            <a:stretch>
              <a:fillRect l="-13141" t="-34765" r="-213279" b="-146976"/>
            </a:stretch>
          </a:blipFill>
        </p:spPr>
      </p:sp>
      <p:grpSp>
        <p:nvGrpSpPr>
          <p:cNvPr name="Group 10" id="10"/>
          <p:cNvGrpSpPr/>
          <p:nvPr/>
        </p:nvGrpSpPr>
        <p:grpSpPr>
          <a:xfrm rot="0">
            <a:off x="1028700" y="4201602"/>
            <a:ext cx="3086100" cy="1766709"/>
            <a:chOff x="0" y="0"/>
            <a:chExt cx="812800" cy="465306"/>
          </a:xfrm>
        </p:grpSpPr>
        <p:sp>
          <p:nvSpPr>
            <p:cNvPr name="Freeform 11" id="11"/>
            <p:cNvSpPr/>
            <p:nvPr/>
          </p:nvSpPr>
          <p:spPr>
            <a:xfrm flipH="false" flipV="false" rot="0">
              <a:off x="0" y="0"/>
              <a:ext cx="812800" cy="465306"/>
            </a:xfrm>
            <a:custGeom>
              <a:avLst/>
              <a:gdLst/>
              <a:ahLst/>
              <a:cxnLst/>
              <a:rect r="r" b="b" t="t" l="l"/>
              <a:pathLst>
                <a:path h="465306" w="812800">
                  <a:moveTo>
                    <a:pt x="0" y="0"/>
                  </a:moveTo>
                  <a:lnTo>
                    <a:pt x="812800" y="0"/>
                  </a:lnTo>
                  <a:lnTo>
                    <a:pt x="812800" y="465306"/>
                  </a:lnTo>
                  <a:lnTo>
                    <a:pt x="0" y="465306"/>
                  </a:lnTo>
                  <a:close/>
                </a:path>
              </a:pathLst>
            </a:custGeom>
            <a:solidFill>
              <a:srgbClr val="C8D1D9"/>
            </a:solidFill>
          </p:spPr>
        </p:sp>
        <p:sp>
          <p:nvSpPr>
            <p:cNvPr name="TextBox 12" id="12"/>
            <p:cNvSpPr txBox="true"/>
            <p:nvPr/>
          </p:nvSpPr>
          <p:spPr>
            <a:xfrm>
              <a:off x="0" y="-9525"/>
              <a:ext cx="812800" cy="474831"/>
            </a:xfrm>
            <a:prstGeom prst="rect">
              <a:avLst/>
            </a:prstGeom>
          </p:spPr>
          <p:txBody>
            <a:bodyPr anchor="ctr" rtlCol="false" tIns="50800" lIns="50800" bIns="50800" rIns="50800"/>
            <a:lstStyle/>
            <a:p>
              <a:pPr algn="ctr">
                <a:lnSpc>
                  <a:spcPts val="2771"/>
                </a:lnSpc>
              </a:pPr>
              <a:r>
                <a:rPr lang="en-US" b="true" sz="2199" spc="-123">
                  <a:solidFill>
                    <a:srgbClr val="000000"/>
                  </a:solidFill>
                  <a:latin typeface="Canva Sans Bold"/>
                  <a:ea typeface="Canva Sans Bold"/>
                  <a:cs typeface="Canva Sans Bold"/>
                  <a:sym typeface="Canva Sans Bold"/>
                </a:rPr>
                <a:t>PK user_id • name • email</a:t>
              </a:r>
            </a:p>
            <a:p>
              <a:pPr algn="ctr">
                <a:lnSpc>
                  <a:spcPts val="2771"/>
                </a:lnSpc>
              </a:pPr>
              <a:r>
                <a:rPr lang="en-US" b="true" sz="2199" spc="-123">
                  <a:solidFill>
                    <a:srgbClr val="000000"/>
                  </a:solidFill>
                  <a:latin typeface="Canva Sans Bold"/>
                  <a:ea typeface="Canva Sans Bold"/>
                  <a:cs typeface="Canva Sans Bold"/>
                  <a:sym typeface="Canva Sans Bold"/>
                </a:rPr>
                <a:t>password • role • phone</a:t>
              </a:r>
            </a:p>
            <a:p>
              <a:pPr algn="ctr">
                <a:lnSpc>
                  <a:spcPts val="2771"/>
                </a:lnSpc>
              </a:pPr>
              <a:r>
                <a:rPr lang="en-US" b="true" sz="2199" spc="-123">
                  <a:solidFill>
                    <a:srgbClr val="000000"/>
                  </a:solidFill>
                  <a:latin typeface="Canva Sans Bold"/>
                  <a:ea typeface="Canva Sans Bold"/>
                  <a:cs typeface="Canva Sans Bold"/>
                  <a:sym typeface="Canva Sans Bold"/>
                </a:rPr>
                <a:t>UNIQUE: email</a:t>
              </a:r>
            </a:p>
            <a:p>
              <a:pPr algn="ctr">
                <a:lnSpc>
                  <a:spcPts val="2015"/>
                </a:lnSpc>
              </a:pPr>
            </a:p>
          </p:txBody>
        </p:sp>
      </p:grpSp>
      <p:sp>
        <p:nvSpPr>
          <p:cNvPr name="Freeform 13" id="13"/>
          <p:cNvSpPr/>
          <p:nvPr/>
        </p:nvSpPr>
        <p:spPr>
          <a:xfrm flipH="false" flipV="false" rot="0">
            <a:off x="4918546" y="3631373"/>
            <a:ext cx="3250129" cy="570229"/>
          </a:xfrm>
          <a:custGeom>
            <a:avLst/>
            <a:gdLst/>
            <a:ahLst/>
            <a:cxnLst/>
            <a:rect r="r" b="b" t="t" l="l"/>
            <a:pathLst>
              <a:path h="570229" w="3250129">
                <a:moveTo>
                  <a:pt x="0" y="0"/>
                </a:moveTo>
                <a:lnTo>
                  <a:pt x="3250129" y="0"/>
                </a:lnTo>
                <a:lnTo>
                  <a:pt x="3250129" y="570229"/>
                </a:lnTo>
                <a:lnTo>
                  <a:pt x="0" y="570229"/>
                </a:lnTo>
                <a:lnTo>
                  <a:pt x="0" y="0"/>
                </a:lnTo>
                <a:close/>
              </a:path>
            </a:pathLst>
          </a:custGeom>
          <a:blipFill>
            <a:blip r:embed="rId6"/>
            <a:stretch>
              <a:fillRect l="-160323" t="-2176" r="-5074" b="-139070"/>
            </a:stretch>
          </a:blipFill>
        </p:spPr>
      </p:sp>
      <p:grpSp>
        <p:nvGrpSpPr>
          <p:cNvPr name="Group 14" id="14"/>
          <p:cNvGrpSpPr/>
          <p:nvPr/>
        </p:nvGrpSpPr>
        <p:grpSpPr>
          <a:xfrm rot="0">
            <a:off x="4918546" y="4201602"/>
            <a:ext cx="3250129" cy="1808937"/>
            <a:chOff x="0" y="0"/>
            <a:chExt cx="856001" cy="476428"/>
          </a:xfrm>
        </p:grpSpPr>
        <p:sp>
          <p:nvSpPr>
            <p:cNvPr name="Freeform 15" id="15"/>
            <p:cNvSpPr/>
            <p:nvPr/>
          </p:nvSpPr>
          <p:spPr>
            <a:xfrm flipH="false" flipV="false" rot="0">
              <a:off x="0" y="0"/>
              <a:ext cx="856001" cy="476428"/>
            </a:xfrm>
            <a:custGeom>
              <a:avLst/>
              <a:gdLst/>
              <a:ahLst/>
              <a:cxnLst/>
              <a:rect r="r" b="b" t="t" l="l"/>
              <a:pathLst>
                <a:path h="476428" w="856001">
                  <a:moveTo>
                    <a:pt x="0" y="0"/>
                  </a:moveTo>
                  <a:lnTo>
                    <a:pt x="856001" y="0"/>
                  </a:lnTo>
                  <a:lnTo>
                    <a:pt x="856001" y="476428"/>
                  </a:lnTo>
                  <a:lnTo>
                    <a:pt x="0" y="476428"/>
                  </a:lnTo>
                  <a:close/>
                </a:path>
              </a:pathLst>
            </a:custGeom>
            <a:solidFill>
              <a:srgbClr val="C8D1D9"/>
            </a:solidFill>
          </p:spPr>
        </p:sp>
        <p:sp>
          <p:nvSpPr>
            <p:cNvPr name="TextBox 16" id="16"/>
            <p:cNvSpPr txBox="true"/>
            <p:nvPr/>
          </p:nvSpPr>
          <p:spPr>
            <a:xfrm>
              <a:off x="0" y="-9525"/>
              <a:ext cx="856001" cy="485953"/>
            </a:xfrm>
            <a:prstGeom prst="rect">
              <a:avLst/>
            </a:prstGeom>
          </p:spPr>
          <p:txBody>
            <a:bodyPr anchor="ctr" rtlCol="false" tIns="50800" lIns="50800" bIns="50800" rIns="50800"/>
            <a:lstStyle/>
            <a:p>
              <a:pPr algn="ctr">
                <a:lnSpc>
                  <a:spcPts val="2771"/>
                </a:lnSpc>
              </a:pPr>
              <a:r>
                <a:rPr lang="en-US" b="true" sz="2199" spc="-123">
                  <a:solidFill>
                    <a:srgbClr val="000000"/>
                  </a:solidFill>
                  <a:latin typeface="Canva Sans Bold"/>
                  <a:ea typeface="Canva Sans Bold"/>
                  <a:cs typeface="Canva Sans Bold"/>
                  <a:sym typeface="Canva Sans Bold"/>
                </a:rPr>
                <a:t>PK client_id •FK user_id • name • email password • created_at• phone UNIQUE: email</a:t>
              </a:r>
            </a:p>
            <a:p>
              <a:pPr algn="ctr">
                <a:lnSpc>
                  <a:spcPts val="2015"/>
                </a:lnSpc>
              </a:pPr>
            </a:p>
          </p:txBody>
        </p:sp>
      </p:grpSp>
      <p:sp>
        <p:nvSpPr>
          <p:cNvPr name="Freeform 17" id="17"/>
          <p:cNvSpPr/>
          <p:nvPr/>
        </p:nvSpPr>
        <p:spPr>
          <a:xfrm flipH="false" flipV="false" rot="0">
            <a:off x="8902100" y="3631373"/>
            <a:ext cx="3638347" cy="570229"/>
          </a:xfrm>
          <a:custGeom>
            <a:avLst/>
            <a:gdLst/>
            <a:ahLst/>
            <a:cxnLst/>
            <a:rect r="r" b="b" t="t" l="l"/>
            <a:pathLst>
              <a:path h="570229" w="3638347">
                <a:moveTo>
                  <a:pt x="0" y="0"/>
                </a:moveTo>
                <a:lnTo>
                  <a:pt x="3638347" y="0"/>
                </a:lnTo>
                <a:lnTo>
                  <a:pt x="3638347" y="570229"/>
                </a:lnTo>
                <a:lnTo>
                  <a:pt x="0" y="570229"/>
                </a:lnTo>
                <a:lnTo>
                  <a:pt x="0" y="0"/>
                </a:lnTo>
                <a:close/>
              </a:path>
            </a:pathLst>
          </a:custGeom>
          <a:blipFill>
            <a:blip r:embed="rId7"/>
            <a:stretch>
              <a:fillRect l="-4621" t="-40256" r="-172253" b="-141485"/>
            </a:stretch>
          </a:blipFill>
        </p:spPr>
      </p:sp>
      <p:sp>
        <p:nvSpPr>
          <p:cNvPr name="TextBox 18" id="18"/>
          <p:cNvSpPr txBox="true"/>
          <p:nvPr/>
        </p:nvSpPr>
        <p:spPr>
          <a:xfrm rot="0">
            <a:off x="8968775" y="3555173"/>
            <a:ext cx="3318568" cy="646429"/>
          </a:xfrm>
          <a:prstGeom prst="rect">
            <a:avLst/>
          </a:prstGeom>
        </p:spPr>
        <p:txBody>
          <a:bodyPr anchor="t" rtlCol="false" tIns="0" lIns="0" bIns="0" rIns="0">
            <a:spAutoFit/>
          </a:bodyPr>
          <a:lstStyle/>
          <a:p>
            <a:pPr algn="ctr">
              <a:lnSpc>
                <a:spcPts val="5320"/>
              </a:lnSpc>
            </a:pPr>
            <a:r>
              <a:rPr lang="en-US" sz="3800" b="true">
                <a:solidFill>
                  <a:srgbClr val="000000"/>
                </a:solidFill>
                <a:latin typeface="Canva Sans Bold"/>
                <a:ea typeface="Canva Sans Bold"/>
                <a:cs typeface="Canva Sans Bold"/>
                <a:sym typeface="Canva Sans Bold"/>
              </a:rPr>
              <a:t>lawyers</a:t>
            </a:r>
          </a:p>
        </p:txBody>
      </p:sp>
      <p:grpSp>
        <p:nvGrpSpPr>
          <p:cNvPr name="Group 19" id="19"/>
          <p:cNvGrpSpPr/>
          <p:nvPr/>
        </p:nvGrpSpPr>
        <p:grpSpPr>
          <a:xfrm rot="0">
            <a:off x="8902100" y="4201602"/>
            <a:ext cx="3638347" cy="1766709"/>
            <a:chOff x="0" y="0"/>
            <a:chExt cx="958248" cy="465306"/>
          </a:xfrm>
        </p:grpSpPr>
        <p:sp>
          <p:nvSpPr>
            <p:cNvPr name="Freeform 20" id="20"/>
            <p:cNvSpPr/>
            <p:nvPr/>
          </p:nvSpPr>
          <p:spPr>
            <a:xfrm flipH="false" flipV="false" rot="0">
              <a:off x="0" y="0"/>
              <a:ext cx="958248" cy="465306"/>
            </a:xfrm>
            <a:custGeom>
              <a:avLst/>
              <a:gdLst/>
              <a:ahLst/>
              <a:cxnLst/>
              <a:rect r="r" b="b" t="t" l="l"/>
              <a:pathLst>
                <a:path h="465306" w="958248">
                  <a:moveTo>
                    <a:pt x="0" y="0"/>
                  </a:moveTo>
                  <a:lnTo>
                    <a:pt x="958248" y="0"/>
                  </a:lnTo>
                  <a:lnTo>
                    <a:pt x="958248" y="465306"/>
                  </a:lnTo>
                  <a:lnTo>
                    <a:pt x="0" y="465306"/>
                  </a:lnTo>
                  <a:close/>
                </a:path>
              </a:pathLst>
            </a:custGeom>
            <a:solidFill>
              <a:srgbClr val="C8D1D9"/>
            </a:solidFill>
          </p:spPr>
        </p:sp>
        <p:sp>
          <p:nvSpPr>
            <p:cNvPr name="TextBox 21" id="21"/>
            <p:cNvSpPr txBox="true"/>
            <p:nvPr/>
          </p:nvSpPr>
          <p:spPr>
            <a:xfrm>
              <a:off x="0" y="-9525"/>
              <a:ext cx="958248" cy="474831"/>
            </a:xfrm>
            <a:prstGeom prst="rect">
              <a:avLst/>
            </a:prstGeom>
          </p:spPr>
          <p:txBody>
            <a:bodyPr anchor="ctr" rtlCol="false" tIns="50800" lIns="50800" bIns="50800" rIns="50800"/>
            <a:lstStyle/>
            <a:p>
              <a:pPr algn="ctr">
                <a:lnSpc>
                  <a:spcPts val="2771"/>
                </a:lnSpc>
              </a:pPr>
              <a:r>
                <a:rPr lang="en-US" b="true" sz="2199" spc="-123">
                  <a:solidFill>
                    <a:srgbClr val="000000"/>
                  </a:solidFill>
                  <a:latin typeface="Canva Sans Bold"/>
                  <a:ea typeface="Canva Sans Bold"/>
                  <a:cs typeface="Canva Sans Bold"/>
                  <a:sym typeface="Canva Sans Bold"/>
                </a:rPr>
                <a:t>PK lawyer_id • FK user_id</a:t>
              </a:r>
            </a:p>
            <a:p>
              <a:pPr algn="ctr">
                <a:lnSpc>
                  <a:spcPts val="2771"/>
                </a:lnSpc>
              </a:pPr>
              <a:r>
                <a:rPr lang="en-US" b="true" sz="2199" spc="-123">
                  <a:solidFill>
                    <a:srgbClr val="000000"/>
                  </a:solidFill>
                  <a:latin typeface="Canva Sans Bold"/>
                  <a:ea typeface="Canva Sans Bold"/>
                  <a:cs typeface="Canva Sans Bold"/>
                  <a:sym typeface="Canva Sans Bold"/>
                </a:rPr>
                <a:t>bar_number • specialization</a:t>
              </a:r>
            </a:p>
            <a:p>
              <a:pPr algn="ctr">
                <a:lnSpc>
                  <a:spcPts val="2771"/>
                </a:lnSpc>
              </a:pPr>
              <a:r>
                <a:rPr lang="en-US" b="true" sz="2199" spc="-123">
                  <a:solidFill>
                    <a:srgbClr val="000000"/>
                  </a:solidFill>
                  <a:latin typeface="Canva Sans Bold"/>
                  <a:ea typeface="Canva Sans Bold"/>
                  <a:cs typeface="Canva Sans Bold"/>
                  <a:sym typeface="Canva Sans Bold"/>
                </a:rPr>
                <a:t>experience_years • UNIQUE bar no</a:t>
              </a:r>
            </a:p>
          </p:txBody>
        </p:sp>
      </p:grpSp>
      <p:sp>
        <p:nvSpPr>
          <p:cNvPr name="Freeform 22" id="22"/>
          <p:cNvSpPr/>
          <p:nvPr/>
        </p:nvSpPr>
        <p:spPr>
          <a:xfrm flipH="false" flipV="false" rot="0">
            <a:off x="13273872" y="3631373"/>
            <a:ext cx="3614235" cy="570229"/>
          </a:xfrm>
          <a:custGeom>
            <a:avLst/>
            <a:gdLst/>
            <a:ahLst/>
            <a:cxnLst/>
            <a:rect r="r" b="b" t="t" l="l"/>
            <a:pathLst>
              <a:path h="570229" w="3614235">
                <a:moveTo>
                  <a:pt x="0" y="0"/>
                </a:moveTo>
                <a:lnTo>
                  <a:pt x="3614236" y="0"/>
                </a:lnTo>
                <a:lnTo>
                  <a:pt x="3614236" y="570229"/>
                </a:lnTo>
                <a:lnTo>
                  <a:pt x="0" y="570229"/>
                </a:lnTo>
                <a:lnTo>
                  <a:pt x="0" y="0"/>
                </a:lnTo>
                <a:close/>
              </a:path>
            </a:pathLst>
          </a:custGeom>
          <a:blipFill>
            <a:blip r:embed="rId8"/>
            <a:stretch>
              <a:fillRect l="-10837" t="-39768" r="-164808" b="-155404"/>
            </a:stretch>
          </a:blipFill>
        </p:spPr>
      </p:sp>
      <p:grpSp>
        <p:nvGrpSpPr>
          <p:cNvPr name="Group 23" id="23"/>
          <p:cNvGrpSpPr/>
          <p:nvPr/>
        </p:nvGrpSpPr>
        <p:grpSpPr>
          <a:xfrm rot="0">
            <a:off x="13273872" y="4234949"/>
            <a:ext cx="3614235" cy="1817101"/>
            <a:chOff x="0" y="0"/>
            <a:chExt cx="951897" cy="478578"/>
          </a:xfrm>
        </p:grpSpPr>
        <p:sp>
          <p:nvSpPr>
            <p:cNvPr name="Freeform 24" id="24"/>
            <p:cNvSpPr/>
            <p:nvPr/>
          </p:nvSpPr>
          <p:spPr>
            <a:xfrm flipH="false" flipV="false" rot="0">
              <a:off x="0" y="0"/>
              <a:ext cx="951897" cy="478578"/>
            </a:xfrm>
            <a:custGeom>
              <a:avLst/>
              <a:gdLst/>
              <a:ahLst/>
              <a:cxnLst/>
              <a:rect r="r" b="b" t="t" l="l"/>
              <a:pathLst>
                <a:path h="478578" w="951897">
                  <a:moveTo>
                    <a:pt x="0" y="0"/>
                  </a:moveTo>
                  <a:lnTo>
                    <a:pt x="951897" y="0"/>
                  </a:lnTo>
                  <a:lnTo>
                    <a:pt x="951897" y="478578"/>
                  </a:lnTo>
                  <a:lnTo>
                    <a:pt x="0" y="478578"/>
                  </a:lnTo>
                  <a:close/>
                </a:path>
              </a:pathLst>
            </a:custGeom>
            <a:solidFill>
              <a:srgbClr val="C8D1D9"/>
            </a:solidFill>
          </p:spPr>
        </p:sp>
        <p:sp>
          <p:nvSpPr>
            <p:cNvPr name="TextBox 25" id="25"/>
            <p:cNvSpPr txBox="true"/>
            <p:nvPr/>
          </p:nvSpPr>
          <p:spPr>
            <a:xfrm>
              <a:off x="0" y="-9525"/>
              <a:ext cx="951897" cy="488103"/>
            </a:xfrm>
            <a:prstGeom prst="rect">
              <a:avLst/>
            </a:prstGeom>
          </p:spPr>
          <p:txBody>
            <a:bodyPr anchor="ctr" rtlCol="false" tIns="50800" lIns="50800" bIns="50800" rIns="50800"/>
            <a:lstStyle/>
            <a:p>
              <a:pPr algn="ctr">
                <a:lnSpc>
                  <a:spcPts val="2771"/>
                </a:lnSpc>
              </a:pPr>
              <a:r>
                <a:rPr lang="en-US" b="true" sz="2199" spc="-123">
                  <a:solidFill>
                    <a:srgbClr val="000000"/>
                  </a:solidFill>
                  <a:latin typeface="Canva Sans Bold"/>
                  <a:ea typeface="Canva Sans Bold"/>
                  <a:cs typeface="Canva Sans Bold"/>
                  <a:sym typeface="Canva Sans Bold"/>
                </a:rPr>
                <a:t>PK judge_id • name</a:t>
              </a:r>
            </a:p>
            <a:p>
              <a:pPr algn="ctr">
                <a:lnSpc>
                  <a:spcPts val="2771"/>
                </a:lnSpc>
              </a:pPr>
              <a:r>
                <a:rPr lang="en-US" b="true" sz="2199" spc="-123">
                  <a:solidFill>
                    <a:srgbClr val="000000"/>
                  </a:solidFill>
                  <a:latin typeface="Canva Sans Bold"/>
                  <a:ea typeface="Canva Sans Bold"/>
                  <a:cs typeface="Canva Sans Bold"/>
                  <a:sym typeface="Canva Sans Bold"/>
                </a:rPr>
                <a:t>court • specialization</a:t>
              </a:r>
            </a:p>
            <a:p>
              <a:pPr algn="ctr">
                <a:lnSpc>
                  <a:spcPts val="2771"/>
                </a:lnSpc>
              </a:pPr>
              <a:r>
                <a:rPr lang="en-US" b="true" sz="2199" spc="-123">
                  <a:solidFill>
                    <a:srgbClr val="000000"/>
                  </a:solidFill>
                  <a:latin typeface="Canva Sans Bold"/>
                  <a:ea typeface="Canva Sans Bold"/>
                  <a:cs typeface="Canva Sans Bold"/>
                  <a:sym typeface="Canva Sans Bold"/>
                </a:rPr>
                <a:t>contact details</a:t>
              </a:r>
            </a:p>
          </p:txBody>
        </p:sp>
      </p:grpSp>
      <p:sp>
        <p:nvSpPr>
          <p:cNvPr name="Freeform 26" id="26"/>
          <p:cNvSpPr/>
          <p:nvPr/>
        </p:nvSpPr>
        <p:spPr>
          <a:xfrm flipH="false" flipV="false" rot="0">
            <a:off x="872091" y="6392753"/>
            <a:ext cx="4980508" cy="445654"/>
          </a:xfrm>
          <a:custGeom>
            <a:avLst/>
            <a:gdLst/>
            <a:ahLst/>
            <a:cxnLst/>
            <a:rect r="r" b="b" t="t" l="l"/>
            <a:pathLst>
              <a:path h="445654" w="4980508">
                <a:moveTo>
                  <a:pt x="0" y="0"/>
                </a:moveTo>
                <a:lnTo>
                  <a:pt x="4980509" y="0"/>
                </a:lnTo>
                <a:lnTo>
                  <a:pt x="4980509" y="445654"/>
                </a:lnTo>
                <a:lnTo>
                  <a:pt x="0" y="445654"/>
                </a:lnTo>
                <a:lnTo>
                  <a:pt x="0" y="0"/>
                </a:lnTo>
                <a:close/>
              </a:path>
            </a:pathLst>
          </a:custGeom>
          <a:blipFill>
            <a:blip r:embed="rId9"/>
            <a:stretch>
              <a:fillRect l="-6622" t="-164038" r="-11175" b="-177040"/>
            </a:stretch>
          </a:blipFill>
        </p:spPr>
      </p:sp>
      <p:grpSp>
        <p:nvGrpSpPr>
          <p:cNvPr name="Group 27" id="27"/>
          <p:cNvGrpSpPr/>
          <p:nvPr/>
        </p:nvGrpSpPr>
        <p:grpSpPr>
          <a:xfrm rot="0">
            <a:off x="872091" y="6838407"/>
            <a:ext cx="4980508" cy="1875027"/>
            <a:chOff x="0" y="0"/>
            <a:chExt cx="1311739" cy="493834"/>
          </a:xfrm>
        </p:grpSpPr>
        <p:sp>
          <p:nvSpPr>
            <p:cNvPr name="Freeform 28" id="28"/>
            <p:cNvSpPr/>
            <p:nvPr/>
          </p:nvSpPr>
          <p:spPr>
            <a:xfrm flipH="false" flipV="false" rot="0">
              <a:off x="0" y="0"/>
              <a:ext cx="1311739" cy="493834"/>
            </a:xfrm>
            <a:custGeom>
              <a:avLst/>
              <a:gdLst/>
              <a:ahLst/>
              <a:cxnLst/>
              <a:rect r="r" b="b" t="t" l="l"/>
              <a:pathLst>
                <a:path h="493834" w="1311739">
                  <a:moveTo>
                    <a:pt x="0" y="0"/>
                  </a:moveTo>
                  <a:lnTo>
                    <a:pt x="1311739" y="0"/>
                  </a:lnTo>
                  <a:lnTo>
                    <a:pt x="1311739" y="493834"/>
                  </a:lnTo>
                  <a:lnTo>
                    <a:pt x="0" y="493834"/>
                  </a:lnTo>
                  <a:close/>
                </a:path>
              </a:pathLst>
            </a:custGeom>
            <a:solidFill>
              <a:srgbClr val="C8D1D9"/>
            </a:solidFill>
          </p:spPr>
        </p:sp>
        <p:sp>
          <p:nvSpPr>
            <p:cNvPr name="TextBox 29" id="29"/>
            <p:cNvSpPr txBox="true"/>
            <p:nvPr/>
          </p:nvSpPr>
          <p:spPr>
            <a:xfrm>
              <a:off x="0" y="-9525"/>
              <a:ext cx="1311739" cy="503359"/>
            </a:xfrm>
            <a:prstGeom prst="rect">
              <a:avLst/>
            </a:prstGeom>
          </p:spPr>
          <p:txBody>
            <a:bodyPr anchor="ctr" rtlCol="false" tIns="50800" lIns="50800" bIns="50800" rIns="50800"/>
            <a:lstStyle/>
            <a:p>
              <a:pPr algn="ctr">
                <a:lnSpc>
                  <a:spcPts val="2771"/>
                </a:lnSpc>
              </a:pPr>
              <a:r>
                <a:rPr lang="en-US" b="true" sz="2199" spc="-123">
                  <a:solidFill>
                    <a:srgbClr val="000000"/>
                  </a:solidFill>
                  <a:latin typeface="Canva Sans Bold"/>
                  <a:ea typeface="Canva Sans Bold"/>
                  <a:cs typeface="Canva Sans Bold"/>
                  <a:sym typeface="Canva Sans Bold"/>
                </a:rPr>
                <a:t>PK case_id • UNIQUE case_number</a:t>
              </a:r>
            </a:p>
            <a:p>
              <a:pPr algn="ctr">
                <a:lnSpc>
                  <a:spcPts val="2771"/>
                </a:lnSpc>
              </a:pPr>
              <a:r>
                <a:rPr lang="en-US" b="true" sz="2199" spc="-123">
                  <a:solidFill>
                    <a:srgbClr val="000000"/>
                  </a:solidFill>
                  <a:latin typeface="Canva Sans Bold"/>
                  <a:ea typeface="Canva Sans Bold"/>
                  <a:cs typeface="Canva Sans Bold"/>
                  <a:sym typeface="Canva Sans Bold"/>
                </a:rPr>
                <a:t>title • case_type • description</a:t>
              </a:r>
            </a:p>
            <a:p>
              <a:pPr algn="ctr">
                <a:lnSpc>
                  <a:spcPts val="2771"/>
                </a:lnSpc>
              </a:pPr>
              <a:r>
                <a:rPr lang="en-US" b="true" sz="2199" spc="-123">
                  <a:solidFill>
                    <a:srgbClr val="000000"/>
                  </a:solidFill>
                  <a:latin typeface="Canva Sans Bold"/>
                  <a:ea typeface="Canva Sans Bold"/>
                  <a:cs typeface="Canva Sans Bold"/>
                  <a:sym typeface="Canva Sans Bold"/>
                </a:rPr>
                <a:t>filing_date • status • court</a:t>
              </a:r>
            </a:p>
            <a:p>
              <a:pPr algn="ctr">
                <a:lnSpc>
                  <a:spcPts val="2771"/>
                </a:lnSpc>
              </a:pPr>
              <a:r>
                <a:rPr lang="en-US" b="true" sz="2199" spc="-123">
                  <a:solidFill>
                    <a:srgbClr val="000000"/>
                  </a:solidFill>
                  <a:latin typeface="Canva Sans Bold"/>
                  <a:ea typeface="Canva Sans Bold"/>
                  <a:cs typeface="Canva Sans Bold"/>
                  <a:sym typeface="Canva Sans Bold"/>
                </a:rPr>
                <a:t>FK client_id → Clients</a:t>
              </a:r>
            </a:p>
            <a:p>
              <a:pPr algn="ctr">
                <a:lnSpc>
                  <a:spcPts val="2771"/>
                </a:lnSpc>
              </a:pPr>
              <a:r>
                <a:rPr lang="en-US" b="true" sz="2199" spc="-123">
                  <a:solidFill>
                    <a:srgbClr val="000000"/>
                  </a:solidFill>
                  <a:latin typeface="Canva Sans Bold"/>
                  <a:ea typeface="Canva Sans Bold"/>
                  <a:cs typeface="Canva Sans Bold"/>
                  <a:sym typeface="Canva Sans Bold"/>
                </a:rPr>
                <a:t>FK lawyer_id → Lawyers</a:t>
              </a:r>
            </a:p>
          </p:txBody>
        </p:sp>
      </p:grpSp>
      <p:sp>
        <p:nvSpPr>
          <p:cNvPr name="Freeform 30" id="30"/>
          <p:cNvSpPr/>
          <p:nvPr/>
        </p:nvSpPr>
        <p:spPr>
          <a:xfrm flipH="false" flipV="false" rot="0">
            <a:off x="6043026" y="6269060"/>
            <a:ext cx="3645627" cy="569347"/>
          </a:xfrm>
          <a:custGeom>
            <a:avLst/>
            <a:gdLst/>
            <a:ahLst/>
            <a:cxnLst/>
            <a:rect r="r" b="b" t="t" l="l"/>
            <a:pathLst>
              <a:path h="569347" w="3645627">
                <a:moveTo>
                  <a:pt x="0" y="0"/>
                </a:moveTo>
                <a:lnTo>
                  <a:pt x="3645627" y="0"/>
                </a:lnTo>
                <a:lnTo>
                  <a:pt x="3645627" y="569347"/>
                </a:lnTo>
                <a:lnTo>
                  <a:pt x="0" y="569347"/>
                </a:lnTo>
                <a:lnTo>
                  <a:pt x="0" y="0"/>
                </a:lnTo>
                <a:close/>
              </a:path>
            </a:pathLst>
          </a:custGeom>
          <a:blipFill>
            <a:blip r:embed="rId10"/>
            <a:stretch>
              <a:fillRect l="0" t="-64966" r="-181157" b="-159175"/>
            </a:stretch>
          </a:blipFill>
        </p:spPr>
      </p:sp>
      <p:grpSp>
        <p:nvGrpSpPr>
          <p:cNvPr name="Group 31" id="31"/>
          <p:cNvGrpSpPr/>
          <p:nvPr/>
        </p:nvGrpSpPr>
        <p:grpSpPr>
          <a:xfrm rot="0">
            <a:off x="6213722" y="6859735"/>
            <a:ext cx="3474931" cy="1875027"/>
            <a:chOff x="0" y="0"/>
            <a:chExt cx="915208" cy="493834"/>
          </a:xfrm>
        </p:grpSpPr>
        <p:sp>
          <p:nvSpPr>
            <p:cNvPr name="Freeform 32" id="32"/>
            <p:cNvSpPr/>
            <p:nvPr/>
          </p:nvSpPr>
          <p:spPr>
            <a:xfrm flipH="false" flipV="false" rot="0">
              <a:off x="0" y="0"/>
              <a:ext cx="915208" cy="493834"/>
            </a:xfrm>
            <a:custGeom>
              <a:avLst/>
              <a:gdLst/>
              <a:ahLst/>
              <a:cxnLst/>
              <a:rect r="r" b="b" t="t" l="l"/>
              <a:pathLst>
                <a:path h="493834" w="915208">
                  <a:moveTo>
                    <a:pt x="0" y="0"/>
                  </a:moveTo>
                  <a:lnTo>
                    <a:pt x="915208" y="0"/>
                  </a:lnTo>
                  <a:lnTo>
                    <a:pt x="915208" y="493834"/>
                  </a:lnTo>
                  <a:lnTo>
                    <a:pt x="0" y="493834"/>
                  </a:lnTo>
                  <a:close/>
                </a:path>
              </a:pathLst>
            </a:custGeom>
            <a:solidFill>
              <a:srgbClr val="C8D1D9"/>
            </a:solidFill>
          </p:spPr>
        </p:sp>
        <p:sp>
          <p:nvSpPr>
            <p:cNvPr name="TextBox 33" id="33"/>
            <p:cNvSpPr txBox="true"/>
            <p:nvPr/>
          </p:nvSpPr>
          <p:spPr>
            <a:xfrm>
              <a:off x="0" y="-9525"/>
              <a:ext cx="915208" cy="503359"/>
            </a:xfrm>
            <a:prstGeom prst="rect">
              <a:avLst/>
            </a:prstGeom>
          </p:spPr>
          <p:txBody>
            <a:bodyPr anchor="ctr" rtlCol="false" tIns="50800" lIns="50800" bIns="50800" rIns="50800"/>
            <a:lstStyle/>
            <a:p>
              <a:pPr algn="ctr">
                <a:lnSpc>
                  <a:spcPts val="2771"/>
                </a:lnSpc>
              </a:pPr>
              <a:r>
                <a:rPr lang="en-US" b="true" sz="2199" spc="-123">
                  <a:solidFill>
                    <a:srgbClr val="000000"/>
                  </a:solidFill>
                  <a:latin typeface="Canva Sans Bold"/>
                  <a:ea typeface="Canva Sans Bold"/>
                  <a:cs typeface="Canva Sans Bold"/>
                  <a:sym typeface="Canva Sans Bold"/>
                </a:rPr>
                <a:t>PK hearing_id</a:t>
              </a:r>
            </a:p>
            <a:p>
              <a:pPr algn="ctr">
                <a:lnSpc>
                  <a:spcPts val="2771"/>
                </a:lnSpc>
              </a:pPr>
              <a:r>
                <a:rPr lang="en-US" b="true" sz="2199" spc="-123">
                  <a:solidFill>
                    <a:srgbClr val="000000"/>
                  </a:solidFill>
                  <a:latin typeface="Canva Sans Bold"/>
                  <a:ea typeface="Canva Sans Bold"/>
                  <a:cs typeface="Canva Sans Bold"/>
                  <a:sym typeface="Canva Sans Bold"/>
                </a:rPr>
                <a:t>FK case_id • FK judge_id</a:t>
              </a:r>
            </a:p>
            <a:p>
              <a:pPr algn="ctr">
                <a:lnSpc>
                  <a:spcPts val="2771"/>
                </a:lnSpc>
              </a:pPr>
              <a:r>
                <a:rPr lang="en-US" b="true" sz="2199" spc="-123">
                  <a:solidFill>
                    <a:srgbClr val="000000"/>
                  </a:solidFill>
                  <a:latin typeface="Canva Sans Bold"/>
                  <a:ea typeface="Canva Sans Bold"/>
                  <a:cs typeface="Canva Sans Bold"/>
                  <a:sym typeface="Canva Sans Bold"/>
                </a:rPr>
                <a:t>hearing_date • hearing_time</a:t>
              </a:r>
            </a:p>
            <a:p>
              <a:pPr algn="ctr">
                <a:lnSpc>
                  <a:spcPts val="2771"/>
                </a:lnSpc>
              </a:pPr>
              <a:r>
                <a:rPr lang="en-US" b="true" sz="2199" spc="-123">
                  <a:solidFill>
                    <a:srgbClr val="000000"/>
                  </a:solidFill>
                  <a:latin typeface="Canva Sans Bold"/>
                  <a:ea typeface="Canva Sans Bold"/>
                  <a:cs typeface="Canva Sans Bold"/>
                  <a:sym typeface="Canva Sans Bold"/>
                </a:rPr>
                <a:t>court_room • purpose • status</a:t>
              </a:r>
            </a:p>
          </p:txBody>
        </p:sp>
      </p:grpSp>
      <p:sp>
        <p:nvSpPr>
          <p:cNvPr name="Freeform 34" id="34"/>
          <p:cNvSpPr/>
          <p:nvPr/>
        </p:nvSpPr>
        <p:spPr>
          <a:xfrm flipH="false" flipV="false" rot="0">
            <a:off x="9991477" y="6290389"/>
            <a:ext cx="3158562" cy="569347"/>
          </a:xfrm>
          <a:custGeom>
            <a:avLst/>
            <a:gdLst/>
            <a:ahLst/>
            <a:cxnLst/>
            <a:rect r="r" b="b" t="t" l="l"/>
            <a:pathLst>
              <a:path h="569347" w="3158562">
                <a:moveTo>
                  <a:pt x="0" y="0"/>
                </a:moveTo>
                <a:lnTo>
                  <a:pt x="3158562" y="0"/>
                </a:lnTo>
                <a:lnTo>
                  <a:pt x="3158562" y="569346"/>
                </a:lnTo>
                <a:lnTo>
                  <a:pt x="0" y="569346"/>
                </a:lnTo>
                <a:lnTo>
                  <a:pt x="0" y="0"/>
                </a:lnTo>
                <a:close/>
              </a:path>
            </a:pathLst>
          </a:custGeom>
          <a:blipFill>
            <a:blip r:embed="rId11"/>
            <a:stretch>
              <a:fillRect l="-5680" t="-79469" r="-223939" b="-149772"/>
            </a:stretch>
          </a:blipFill>
        </p:spPr>
      </p:sp>
      <p:sp>
        <p:nvSpPr>
          <p:cNvPr name="TextBox 35" id="35"/>
          <p:cNvSpPr txBox="true"/>
          <p:nvPr/>
        </p:nvSpPr>
        <p:spPr>
          <a:xfrm rot="0">
            <a:off x="1028700" y="3555173"/>
            <a:ext cx="3086100" cy="646429"/>
          </a:xfrm>
          <a:prstGeom prst="rect">
            <a:avLst/>
          </a:prstGeom>
        </p:spPr>
        <p:txBody>
          <a:bodyPr anchor="t" rtlCol="false" tIns="0" lIns="0" bIns="0" rIns="0">
            <a:spAutoFit/>
          </a:bodyPr>
          <a:lstStyle/>
          <a:p>
            <a:pPr algn="ctr">
              <a:lnSpc>
                <a:spcPts val="5320"/>
              </a:lnSpc>
            </a:pPr>
            <a:r>
              <a:rPr lang="en-US" b="true" sz="3800">
                <a:solidFill>
                  <a:srgbClr val="282628"/>
                </a:solidFill>
                <a:latin typeface="Canva Sans Bold"/>
                <a:ea typeface="Canva Sans Bold"/>
                <a:cs typeface="Canva Sans Bold"/>
                <a:sym typeface="Canva Sans Bold"/>
              </a:rPr>
              <a:t>user</a:t>
            </a:r>
          </a:p>
        </p:txBody>
      </p:sp>
      <p:sp>
        <p:nvSpPr>
          <p:cNvPr name="TextBox 36" id="36"/>
          <p:cNvSpPr txBox="true"/>
          <p:nvPr/>
        </p:nvSpPr>
        <p:spPr>
          <a:xfrm rot="0">
            <a:off x="4850107" y="3555173"/>
            <a:ext cx="3318568" cy="646429"/>
          </a:xfrm>
          <a:prstGeom prst="rect">
            <a:avLst/>
          </a:prstGeom>
        </p:spPr>
        <p:txBody>
          <a:bodyPr anchor="t" rtlCol="false" tIns="0" lIns="0" bIns="0" rIns="0">
            <a:spAutoFit/>
          </a:bodyPr>
          <a:lstStyle/>
          <a:p>
            <a:pPr algn="ctr">
              <a:lnSpc>
                <a:spcPts val="5320"/>
              </a:lnSpc>
            </a:pPr>
            <a:r>
              <a:rPr lang="en-US" sz="3800" b="true">
                <a:solidFill>
                  <a:srgbClr val="000000"/>
                </a:solidFill>
                <a:latin typeface="Canva Sans Bold"/>
                <a:ea typeface="Canva Sans Bold"/>
                <a:cs typeface="Canva Sans Bold"/>
                <a:sym typeface="Canva Sans Bold"/>
              </a:rPr>
              <a:t>clients</a:t>
            </a:r>
          </a:p>
        </p:txBody>
      </p:sp>
      <p:sp>
        <p:nvSpPr>
          <p:cNvPr name="TextBox 37" id="37"/>
          <p:cNvSpPr txBox="true"/>
          <p:nvPr/>
        </p:nvSpPr>
        <p:spPr>
          <a:xfrm rot="0">
            <a:off x="13421706" y="3555173"/>
            <a:ext cx="3318568" cy="646429"/>
          </a:xfrm>
          <a:prstGeom prst="rect">
            <a:avLst/>
          </a:prstGeom>
        </p:spPr>
        <p:txBody>
          <a:bodyPr anchor="t" rtlCol="false" tIns="0" lIns="0" bIns="0" rIns="0">
            <a:spAutoFit/>
          </a:bodyPr>
          <a:lstStyle/>
          <a:p>
            <a:pPr algn="ctr">
              <a:lnSpc>
                <a:spcPts val="5320"/>
              </a:lnSpc>
            </a:pPr>
            <a:r>
              <a:rPr lang="en-US" sz="3800" b="true">
                <a:solidFill>
                  <a:srgbClr val="000000"/>
                </a:solidFill>
                <a:latin typeface="Canva Sans Bold"/>
                <a:ea typeface="Canva Sans Bold"/>
                <a:cs typeface="Canva Sans Bold"/>
                <a:sym typeface="Canva Sans Bold"/>
              </a:rPr>
              <a:t>judges</a:t>
            </a:r>
          </a:p>
        </p:txBody>
      </p:sp>
      <p:sp>
        <p:nvSpPr>
          <p:cNvPr name="TextBox 38" id="38"/>
          <p:cNvSpPr txBox="true"/>
          <p:nvPr/>
        </p:nvSpPr>
        <p:spPr>
          <a:xfrm rot="0">
            <a:off x="6296184" y="6182326"/>
            <a:ext cx="3392469" cy="656081"/>
          </a:xfrm>
          <a:prstGeom prst="rect">
            <a:avLst/>
          </a:prstGeom>
        </p:spPr>
        <p:txBody>
          <a:bodyPr anchor="t" rtlCol="false" tIns="0" lIns="0" bIns="0" rIns="0">
            <a:spAutoFit/>
          </a:bodyPr>
          <a:lstStyle/>
          <a:p>
            <a:pPr algn="ctr">
              <a:lnSpc>
                <a:spcPts val="5410"/>
              </a:lnSpc>
            </a:pPr>
            <a:r>
              <a:rPr lang="en-US" sz="3864" b="true">
                <a:solidFill>
                  <a:srgbClr val="000000"/>
                </a:solidFill>
                <a:latin typeface="Canva Sans Bold"/>
                <a:ea typeface="Canva Sans Bold"/>
                <a:cs typeface="Canva Sans Bold"/>
                <a:sym typeface="Canva Sans Bold"/>
              </a:rPr>
              <a:t>Hearings</a:t>
            </a:r>
          </a:p>
        </p:txBody>
      </p:sp>
      <p:sp>
        <p:nvSpPr>
          <p:cNvPr name="TextBox 39" id="39"/>
          <p:cNvSpPr txBox="true"/>
          <p:nvPr/>
        </p:nvSpPr>
        <p:spPr>
          <a:xfrm rot="0">
            <a:off x="9885027" y="6214189"/>
            <a:ext cx="3371462" cy="646429"/>
          </a:xfrm>
          <a:prstGeom prst="rect">
            <a:avLst/>
          </a:prstGeom>
        </p:spPr>
        <p:txBody>
          <a:bodyPr anchor="t" rtlCol="false" tIns="0" lIns="0" bIns="0" rIns="0">
            <a:spAutoFit/>
          </a:bodyPr>
          <a:lstStyle/>
          <a:p>
            <a:pPr algn="ctr">
              <a:lnSpc>
                <a:spcPts val="5320"/>
              </a:lnSpc>
            </a:pPr>
            <a:r>
              <a:rPr lang="en-US" sz="3800" b="true">
                <a:solidFill>
                  <a:srgbClr val="000000"/>
                </a:solidFill>
                <a:latin typeface="Canva Sans Bold"/>
                <a:ea typeface="Canva Sans Bold"/>
                <a:cs typeface="Canva Sans Bold"/>
                <a:sym typeface="Canva Sans Bold"/>
              </a:rPr>
              <a:t>Documents</a:t>
            </a:r>
          </a:p>
        </p:txBody>
      </p:sp>
      <p:grpSp>
        <p:nvGrpSpPr>
          <p:cNvPr name="Group 40" id="40"/>
          <p:cNvGrpSpPr/>
          <p:nvPr/>
        </p:nvGrpSpPr>
        <p:grpSpPr>
          <a:xfrm rot="0">
            <a:off x="9991477" y="6860618"/>
            <a:ext cx="3158562" cy="1875027"/>
            <a:chOff x="0" y="0"/>
            <a:chExt cx="831885" cy="493834"/>
          </a:xfrm>
        </p:grpSpPr>
        <p:sp>
          <p:nvSpPr>
            <p:cNvPr name="Freeform 41" id="41"/>
            <p:cNvSpPr/>
            <p:nvPr/>
          </p:nvSpPr>
          <p:spPr>
            <a:xfrm flipH="false" flipV="false" rot="0">
              <a:off x="0" y="0"/>
              <a:ext cx="831884" cy="493834"/>
            </a:xfrm>
            <a:custGeom>
              <a:avLst/>
              <a:gdLst/>
              <a:ahLst/>
              <a:cxnLst/>
              <a:rect r="r" b="b" t="t" l="l"/>
              <a:pathLst>
                <a:path h="493834" w="831884">
                  <a:moveTo>
                    <a:pt x="0" y="0"/>
                  </a:moveTo>
                  <a:lnTo>
                    <a:pt x="831884" y="0"/>
                  </a:lnTo>
                  <a:lnTo>
                    <a:pt x="831884" y="493834"/>
                  </a:lnTo>
                  <a:lnTo>
                    <a:pt x="0" y="493834"/>
                  </a:lnTo>
                  <a:close/>
                </a:path>
              </a:pathLst>
            </a:custGeom>
            <a:solidFill>
              <a:srgbClr val="C8D1D9"/>
            </a:solidFill>
          </p:spPr>
        </p:sp>
        <p:sp>
          <p:nvSpPr>
            <p:cNvPr name="TextBox 42" id="42"/>
            <p:cNvSpPr txBox="true"/>
            <p:nvPr/>
          </p:nvSpPr>
          <p:spPr>
            <a:xfrm>
              <a:off x="0" y="-9525"/>
              <a:ext cx="831885" cy="503359"/>
            </a:xfrm>
            <a:prstGeom prst="rect">
              <a:avLst/>
            </a:prstGeom>
          </p:spPr>
          <p:txBody>
            <a:bodyPr anchor="ctr" rtlCol="false" tIns="50800" lIns="50800" bIns="50800" rIns="50800"/>
            <a:lstStyle/>
            <a:p>
              <a:pPr algn="ctr">
                <a:lnSpc>
                  <a:spcPts val="2771"/>
                </a:lnSpc>
              </a:pPr>
              <a:r>
                <a:rPr lang="en-US" b="true" sz="2199" spc="-123">
                  <a:solidFill>
                    <a:srgbClr val="000000"/>
                  </a:solidFill>
                  <a:latin typeface="Canva Sans Bold"/>
                  <a:ea typeface="Canva Sans Bold"/>
                  <a:cs typeface="Canva Sans Bold"/>
                  <a:sym typeface="Canva Sans Bold"/>
                </a:rPr>
                <a:t>PK document_id</a:t>
              </a:r>
            </a:p>
            <a:p>
              <a:pPr algn="ctr">
                <a:lnSpc>
                  <a:spcPts val="2771"/>
                </a:lnSpc>
              </a:pPr>
              <a:r>
                <a:rPr lang="en-US" b="true" sz="2199" spc="-123">
                  <a:solidFill>
                    <a:srgbClr val="000000"/>
                  </a:solidFill>
                  <a:latin typeface="Canva Sans Bold"/>
                  <a:ea typeface="Canva Sans Bold"/>
                  <a:cs typeface="Canva Sans Bold"/>
                  <a:sym typeface="Canva Sans Bold"/>
                </a:rPr>
                <a:t>FK case_id • FK uploaded_by</a:t>
              </a:r>
            </a:p>
            <a:p>
              <a:pPr algn="ctr">
                <a:lnSpc>
                  <a:spcPts val="2771"/>
                </a:lnSpc>
              </a:pPr>
              <a:r>
                <a:rPr lang="en-US" b="true" sz="2199" spc="-123">
                  <a:solidFill>
                    <a:srgbClr val="000000"/>
                  </a:solidFill>
                  <a:latin typeface="Canva Sans Bold"/>
                  <a:ea typeface="Canva Sans Bold"/>
                  <a:cs typeface="Canva Sans Bold"/>
                  <a:sym typeface="Canva Sans Bold"/>
                </a:rPr>
                <a:t>document_name • type</a:t>
              </a:r>
            </a:p>
            <a:p>
              <a:pPr algn="ctr">
                <a:lnSpc>
                  <a:spcPts val="2771"/>
                </a:lnSpc>
              </a:pPr>
              <a:r>
                <a:rPr lang="en-US" b="true" sz="2199" spc="-123">
                  <a:solidFill>
                    <a:srgbClr val="000000"/>
                  </a:solidFill>
                  <a:latin typeface="Canva Sans Bold"/>
                  <a:ea typeface="Canva Sans Bold"/>
                  <a:cs typeface="Canva Sans Bold"/>
                  <a:sym typeface="Canva Sans Bold"/>
                </a:rPr>
                <a:t>upload_date • file_path</a:t>
              </a:r>
            </a:p>
          </p:txBody>
        </p:sp>
      </p:grpSp>
      <p:sp>
        <p:nvSpPr>
          <p:cNvPr name="Freeform 43" id="43"/>
          <p:cNvSpPr/>
          <p:nvPr/>
        </p:nvSpPr>
        <p:spPr>
          <a:xfrm flipH="false" flipV="false" rot="0">
            <a:off x="13452862" y="6331348"/>
            <a:ext cx="3614235" cy="570229"/>
          </a:xfrm>
          <a:custGeom>
            <a:avLst/>
            <a:gdLst/>
            <a:ahLst/>
            <a:cxnLst/>
            <a:rect r="r" b="b" t="t" l="l"/>
            <a:pathLst>
              <a:path h="570229" w="3614235">
                <a:moveTo>
                  <a:pt x="0" y="0"/>
                </a:moveTo>
                <a:lnTo>
                  <a:pt x="3614235" y="0"/>
                </a:lnTo>
                <a:lnTo>
                  <a:pt x="3614235" y="570229"/>
                </a:lnTo>
                <a:lnTo>
                  <a:pt x="0" y="570229"/>
                </a:lnTo>
                <a:lnTo>
                  <a:pt x="0" y="0"/>
                </a:lnTo>
                <a:close/>
              </a:path>
            </a:pathLst>
          </a:custGeom>
          <a:blipFill>
            <a:blip r:embed="rId8"/>
            <a:stretch>
              <a:fillRect l="-10837" t="-39768" r="-164808" b="-155404"/>
            </a:stretch>
          </a:blipFill>
        </p:spPr>
      </p:sp>
      <p:sp>
        <p:nvSpPr>
          <p:cNvPr name="TextBox 44" id="44"/>
          <p:cNvSpPr txBox="true"/>
          <p:nvPr/>
        </p:nvSpPr>
        <p:spPr>
          <a:xfrm rot="0">
            <a:off x="13600696" y="6254265"/>
            <a:ext cx="3318568" cy="646429"/>
          </a:xfrm>
          <a:prstGeom prst="rect">
            <a:avLst/>
          </a:prstGeom>
        </p:spPr>
        <p:txBody>
          <a:bodyPr anchor="t" rtlCol="false" tIns="0" lIns="0" bIns="0" rIns="0">
            <a:spAutoFit/>
          </a:bodyPr>
          <a:lstStyle/>
          <a:p>
            <a:pPr algn="ctr">
              <a:lnSpc>
                <a:spcPts val="5320"/>
              </a:lnSpc>
            </a:pPr>
            <a:r>
              <a:rPr lang="en-US" sz="3800" b="true">
                <a:solidFill>
                  <a:srgbClr val="000000"/>
                </a:solidFill>
                <a:latin typeface="Canva Sans Bold"/>
                <a:ea typeface="Canva Sans Bold"/>
                <a:cs typeface="Canva Sans Bold"/>
                <a:sym typeface="Canva Sans Bold"/>
              </a:rPr>
              <a:t>judgements</a:t>
            </a:r>
          </a:p>
        </p:txBody>
      </p:sp>
      <p:grpSp>
        <p:nvGrpSpPr>
          <p:cNvPr name="Group 45" id="45"/>
          <p:cNvGrpSpPr/>
          <p:nvPr/>
        </p:nvGrpSpPr>
        <p:grpSpPr>
          <a:xfrm rot="0">
            <a:off x="13452862" y="6917661"/>
            <a:ext cx="3614235" cy="1875027"/>
            <a:chOff x="0" y="0"/>
            <a:chExt cx="951897" cy="493834"/>
          </a:xfrm>
        </p:grpSpPr>
        <p:sp>
          <p:nvSpPr>
            <p:cNvPr name="Freeform 46" id="46"/>
            <p:cNvSpPr/>
            <p:nvPr/>
          </p:nvSpPr>
          <p:spPr>
            <a:xfrm flipH="false" flipV="false" rot="0">
              <a:off x="0" y="0"/>
              <a:ext cx="951897" cy="493834"/>
            </a:xfrm>
            <a:custGeom>
              <a:avLst/>
              <a:gdLst/>
              <a:ahLst/>
              <a:cxnLst/>
              <a:rect r="r" b="b" t="t" l="l"/>
              <a:pathLst>
                <a:path h="493834" w="951897">
                  <a:moveTo>
                    <a:pt x="0" y="0"/>
                  </a:moveTo>
                  <a:lnTo>
                    <a:pt x="951897" y="0"/>
                  </a:lnTo>
                  <a:lnTo>
                    <a:pt x="951897" y="493834"/>
                  </a:lnTo>
                  <a:lnTo>
                    <a:pt x="0" y="493834"/>
                  </a:lnTo>
                  <a:close/>
                </a:path>
              </a:pathLst>
            </a:custGeom>
            <a:solidFill>
              <a:srgbClr val="C8D1D9"/>
            </a:solidFill>
          </p:spPr>
        </p:sp>
        <p:sp>
          <p:nvSpPr>
            <p:cNvPr name="TextBox 47" id="47"/>
            <p:cNvSpPr txBox="true"/>
            <p:nvPr/>
          </p:nvSpPr>
          <p:spPr>
            <a:xfrm>
              <a:off x="0" y="-9525"/>
              <a:ext cx="951897" cy="503359"/>
            </a:xfrm>
            <a:prstGeom prst="rect">
              <a:avLst/>
            </a:prstGeom>
          </p:spPr>
          <p:txBody>
            <a:bodyPr anchor="ctr" rtlCol="false" tIns="50800" lIns="50800" bIns="50800" rIns="50800"/>
            <a:lstStyle/>
            <a:p>
              <a:pPr algn="ctr">
                <a:lnSpc>
                  <a:spcPts val="2771"/>
                </a:lnSpc>
              </a:pPr>
              <a:r>
                <a:rPr lang="en-US" b="true" sz="2199" spc="-123">
                  <a:solidFill>
                    <a:srgbClr val="000000"/>
                  </a:solidFill>
                  <a:latin typeface="Canva Sans Bold"/>
                  <a:ea typeface="Canva Sans Bold"/>
                  <a:cs typeface="Canva Sans Bold"/>
                  <a:sym typeface="Canva Sans Bold"/>
                </a:rPr>
                <a:t>PK judgment_id</a:t>
              </a:r>
            </a:p>
            <a:p>
              <a:pPr algn="ctr">
                <a:lnSpc>
                  <a:spcPts val="2771"/>
                </a:lnSpc>
              </a:pPr>
              <a:r>
                <a:rPr lang="en-US" b="true" sz="2199" spc="-123">
                  <a:solidFill>
                    <a:srgbClr val="000000"/>
                  </a:solidFill>
                  <a:latin typeface="Canva Sans Bold"/>
                  <a:ea typeface="Canva Sans Bold"/>
                  <a:cs typeface="Canva Sans Bold"/>
                  <a:sym typeface="Canva Sans Bold"/>
                </a:rPr>
                <a:t>FK + UNIQUE case_id</a:t>
              </a:r>
            </a:p>
            <a:p>
              <a:pPr algn="ctr">
                <a:lnSpc>
                  <a:spcPts val="2771"/>
                </a:lnSpc>
              </a:pPr>
              <a:r>
                <a:rPr lang="en-US" b="true" sz="2199" spc="-123">
                  <a:solidFill>
                    <a:srgbClr val="000000"/>
                  </a:solidFill>
                  <a:latin typeface="Canva Sans Bold"/>
                  <a:ea typeface="Canva Sans Bold"/>
                  <a:cs typeface="Canva Sans Bold"/>
                  <a:sym typeface="Canva Sans Bold"/>
                </a:rPr>
                <a:t>judgment_date • decision</a:t>
              </a:r>
            </a:p>
            <a:p>
              <a:pPr algn="ctr">
                <a:lnSpc>
                  <a:spcPts val="2771"/>
                </a:lnSpc>
              </a:pPr>
              <a:r>
                <a:rPr lang="en-US" b="true" sz="2199" spc="-123">
                  <a:solidFill>
                    <a:srgbClr val="000000"/>
                  </a:solidFill>
                  <a:latin typeface="Canva Sans Bold"/>
                  <a:ea typeface="Canva Sans Bold"/>
                  <a:cs typeface="Canva Sans Bold"/>
                  <a:sym typeface="Canva Sans Bold"/>
                </a:rPr>
                <a:t>summary • remarks</a:t>
              </a:r>
            </a:p>
            <a:p>
              <a:pPr algn="ctr">
                <a:lnSpc>
                  <a:spcPts val="2771"/>
                </a:lnSpc>
              </a:pPr>
              <a:r>
                <a:rPr lang="en-US" b="true" sz="2199" spc="-123">
                  <a:solidFill>
                    <a:srgbClr val="000000"/>
                  </a:solidFill>
                  <a:latin typeface="Canva Sans Bold"/>
                  <a:ea typeface="Canva Sans Bold"/>
                  <a:cs typeface="Canva Sans Bold"/>
                  <a:sym typeface="Canva Sans Bold"/>
                </a:rPr>
                <a:t>1 Case → max 1 Judgment</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424242"/>
        </a:solidFill>
      </p:bgPr>
    </p:bg>
    <p:spTree>
      <p:nvGrpSpPr>
        <p:cNvPr id="1" name=""/>
        <p:cNvGrpSpPr/>
        <p:nvPr/>
      </p:nvGrpSpPr>
      <p:grpSpPr>
        <a:xfrm>
          <a:off x="0" y="0"/>
          <a:ext cx="0" cy="0"/>
          <a:chOff x="0" y="0"/>
          <a:chExt cx="0" cy="0"/>
        </a:xfrm>
      </p:grpSpPr>
      <p:sp>
        <p:nvSpPr>
          <p:cNvPr name="TextBox 2" id="2"/>
          <p:cNvSpPr txBox="true"/>
          <p:nvPr/>
        </p:nvSpPr>
        <p:spPr>
          <a:xfrm rot="0">
            <a:off x="4595179" y="282194"/>
            <a:ext cx="13389009" cy="1197898"/>
          </a:xfrm>
          <a:prstGeom prst="rect">
            <a:avLst/>
          </a:prstGeom>
        </p:spPr>
        <p:txBody>
          <a:bodyPr anchor="t" rtlCol="false" tIns="0" lIns="0" bIns="0" rIns="0">
            <a:spAutoFit/>
          </a:bodyPr>
          <a:lstStyle/>
          <a:p>
            <a:pPr algn="l">
              <a:lnSpc>
                <a:spcPts val="7582"/>
              </a:lnSpc>
            </a:pPr>
            <a:r>
              <a:rPr lang="en-US" sz="8066" spc="-379" b="true">
                <a:solidFill>
                  <a:srgbClr val="FFFFFF"/>
                </a:solidFill>
                <a:latin typeface="Times New Roman MT Ultra-Bold"/>
                <a:ea typeface="Times New Roman MT Ultra-Bold"/>
                <a:cs typeface="Times New Roman MT Ultra-Bold"/>
                <a:sym typeface="Times New Roman MT Ultra-Bold"/>
              </a:rPr>
              <a:t>Database ER diagram</a:t>
            </a:r>
          </a:p>
        </p:txBody>
      </p:sp>
      <p:sp>
        <p:nvSpPr>
          <p:cNvPr name="Freeform 3" id="3"/>
          <p:cNvSpPr/>
          <p:nvPr/>
        </p:nvSpPr>
        <p:spPr>
          <a:xfrm flipH="false" flipV="false" rot="0">
            <a:off x="0" y="0"/>
            <a:ext cx="3594508" cy="1480091"/>
          </a:xfrm>
          <a:custGeom>
            <a:avLst/>
            <a:gdLst/>
            <a:ahLst/>
            <a:cxnLst/>
            <a:rect r="r" b="b" t="t" l="l"/>
            <a:pathLst>
              <a:path h="1480091" w="3594508">
                <a:moveTo>
                  <a:pt x="0" y="0"/>
                </a:moveTo>
                <a:lnTo>
                  <a:pt x="3594508" y="0"/>
                </a:lnTo>
                <a:lnTo>
                  <a:pt x="3594508" y="1480091"/>
                </a:lnTo>
                <a:lnTo>
                  <a:pt x="0" y="1480091"/>
                </a:lnTo>
                <a:lnTo>
                  <a:pt x="0" y="0"/>
                </a:lnTo>
                <a:close/>
              </a:path>
            </a:pathLst>
          </a:custGeom>
          <a:blipFill>
            <a:blip r:embed="rId2"/>
            <a:stretch>
              <a:fillRect l="0" t="0" r="0" b="0"/>
            </a:stretch>
          </a:blipFill>
        </p:spPr>
      </p:sp>
      <p:sp>
        <p:nvSpPr>
          <p:cNvPr name="Freeform 4" id="4"/>
          <p:cNvSpPr/>
          <p:nvPr/>
        </p:nvSpPr>
        <p:spPr>
          <a:xfrm flipH="false" flipV="false" rot="1925852">
            <a:off x="11466076" y="-4040445"/>
            <a:ext cx="9386678" cy="10557613"/>
          </a:xfrm>
          <a:custGeom>
            <a:avLst/>
            <a:gdLst/>
            <a:ahLst/>
            <a:cxnLst/>
            <a:rect r="r" b="b" t="t" l="l"/>
            <a:pathLst>
              <a:path h="10557613" w="9386678">
                <a:moveTo>
                  <a:pt x="0" y="0"/>
                </a:moveTo>
                <a:lnTo>
                  <a:pt x="9386678" y="0"/>
                </a:lnTo>
                <a:lnTo>
                  <a:pt x="9386678" y="10557613"/>
                </a:lnTo>
                <a:lnTo>
                  <a:pt x="0" y="10557613"/>
                </a:lnTo>
                <a:lnTo>
                  <a:pt x="0" y="0"/>
                </a:lnTo>
                <a:close/>
              </a:path>
            </a:pathLst>
          </a:custGeom>
          <a:blipFill>
            <a:blip r:embed="rId3">
              <a:alphaModFix amt="20999"/>
            </a:blip>
            <a:stretch>
              <a:fillRect l="0" t="0" r="0" b="0"/>
            </a:stretch>
          </a:blipFill>
        </p:spPr>
      </p:sp>
      <p:sp>
        <p:nvSpPr>
          <p:cNvPr name="Freeform 5" id="5"/>
          <p:cNvSpPr/>
          <p:nvPr/>
        </p:nvSpPr>
        <p:spPr>
          <a:xfrm flipH="false" flipV="false" rot="0">
            <a:off x="-1231290" y="6163012"/>
            <a:ext cx="12299674" cy="5143500"/>
          </a:xfrm>
          <a:custGeom>
            <a:avLst/>
            <a:gdLst/>
            <a:ahLst/>
            <a:cxnLst/>
            <a:rect r="r" b="b" t="t" l="l"/>
            <a:pathLst>
              <a:path h="5143500" w="12299674">
                <a:moveTo>
                  <a:pt x="0" y="0"/>
                </a:moveTo>
                <a:lnTo>
                  <a:pt x="12299673" y="0"/>
                </a:lnTo>
                <a:lnTo>
                  <a:pt x="12299673" y="5143500"/>
                </a:lnTo>
                <a:lnTo>
                  <a:pt x="0" y="5143500"/>
                </a:lnTo>
                <a:lnTo>
                  <a:pt x="0" y="0"/>
                </a:lnTo>
                <a:close/>
              </a:path>
            </a:pathLst>
          </a:custGeom>
          <a:blipFill>
            <a:blip r:embed="rId4">
              <a:alphaModFix amt="10999"/>
            </a:blip>
            <a:stretch>
              <a:fillRect l="0" t="0" r="0" b="0"/>
            </a:stretch>
          </a:blipFill>
        </p:spPr>
      </p:sp>
      <p:sp>
        <p:nvSpPr>
          <p:cNvPr name="Freeform 6" id="6"/>
          <p:cNvSpPr/>
          <p:nvPr/>
        </p:nvSpPr>
        <p:spPr>
          <a:xfrm flipH="false" flipV="false" rot="0">
            <a:off x="1340861" y="1645015"/>
            <a:ext cx="16075316" cy="8298264"/>
          </a:xfrm>
          <a:custGeom>
            <a:avLst/>
            <a:gdLst/>
            <a:ahLst/>
            <a:cxnLst/>
            <a:rect r="r" b="b" t="t" l="l"/>
            <a:pathLst>
              <a:path h="8298264" w="16075316">
                <a:moveTo>
                  <a:pt x="0" y="0"/>
                </a:moveTo>
                <a:lnTo>
                  <a:pt x="16075316" y="0"/>
                </a:lnTo>
                <a:lnTo>
                  <a:pt x="16075316" y="8298265"/>
                </a:lnTo>
                <a:lnTo>
                  <a:pt x="0" y="8298265"/>
                </a:lnTo>
                <a:lnTo>
                  <a:pt x="0" y="0"/>
                </a:lnTo>
                <a:close/>
              </a:path>
            </a:pathLst>
          </a:custGeom>
          <a:blipFill>
            <a:blip r:embed="rId5"/>
            <a:stretch>
              <a:fillRect l="0" t="-7631" r="0" b="-7631"/>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424242"/>
        </a:solidFill>
      </p:bgPr>
    </p:bg>
    <p:spTree>
      <p:nvGrpSpPr>
        <p:cNvPr id="1" name=""/>
        <p:cNvGrpSpPr/>
        <p:nvPr/>
      </p:nvGrpSpPr>
      <p:grpSpPr>
        <a:xfrm>
          <a:off x="0" y="0"/>
          <a:ext cx="0" cy="0"/>
          <a:chOff x="0" y="0"/>
          <a:chExt cx="0" cy="0"/>
        </a:xfrm>
      </p:grpSpPr>
      <p:sp>
        <p:nvSpPr>
          <p:cNvPr name="TextBox 2" id="2"/>
          <p:cNvSpPr txBox="true"/>
          <p:nvPr/>
        </p:nvSpPr>
        <p:spPr>
          <a:xfrm rot="0">
            <a:off x="197246" y="2052260"/>
            <a:ext cx="17348777" cy="2010319"/>
          </a:xfrm>
          <a:prstGeom prst="rect">
            <a:avLst/>
          </a:prstGeom>
        </p:spPr>
        <p:txBody>
          <a:bodyPr anchor="t" rtlCol="false" tIns="0" lIns="0" bIns="0" rIns="0">
            <a:spAutoFit/>
          </a:bodyPr>
          <a:lstStyle/>
          <a:p>
            <a:pPr algn="l">
              <a:lnSpc>
                <a:spcPts val="6548"/>
              </a:lnSpc>
            </a:pPr>
            <a:r>
              <a:rPr lang="en-US" sz="6966" spc="-327" b="true">
                <a:solidFill>
                  <a:srgbClr val="FFFFFF"/>
                </a:solidFill>
                <a:latin typeface="Times New Roman MT Ultra-Bold"/>
                <a:ea typeface="Times New Roman MT Ultra-Bold"/>
                <a:cs typeface="Times New Roman MT Ultra-Bold"/>
                <a:sym typeface="Times New Roman MT Ultra-Bold"/>
              </a:rPr>
              <a:t>1.  Software Used   </a:t>
            </a:r>
          </a:p>
          <a:p>
            <a:pPr algn="l">
              <a:lnSpc>
                <a:spcPts val="7582"/>
              </a:lnSpc>
            </a:pPr>
          </a:p>
        </p:txBody>
      </p:sp>
      <p:grpSp>
        <p:nvGrpSpPr>
          <p:cNvPr name="Group 3" id="3"/>
          <p:cNvGrpSpPr/>
          <p:nvPr/>
        </p:nvGrpSpPr>
        <p:grpSpPr>
          <a:xfrm rot="0">
            <a:off x="1185135" y="3243671"/>
            <a:ext cx="16360888" cy="6307586"/>
            <a:chOff x="0" y="0"/>
            <a:chExt cx="4309041" cy="1661257"/>
          </a:xfrm>
        </p:grpSpPr>
        <p:sp>
          <p:nvSpPr>
            <p:cNvPr name="Freeform 4" id="4"/>
            <p:cNvSpPr/>
            <p:nvPr/>
          </p:nvSpPr>
          <p:spPr>
            <a:xfrm flipH="false" flipV="false" rot="0">
              <a:off x="0" y="0"/>
              <a:ext cx="4309040" cy="1661257"/>
            </a:xfrm>
            <a:custGeom>
              <a:avLst/>
              <a:gdLst/>
              <a:ahLst/>
              <a:cxnLst/>
              <a:rect r="r" b="b" t="t" l="l"/>
              <a:pathLst>
                <a:path h="1661257" w="4309040">
                  <a:moveTo>
                    <a:pt x="44007" y="0"/>
                  </a:moveTo>
                  <a:lnTo>
                    <a:pt x="4265033" y="0"/>
                  </a:lnTo>
                  <a:cubicBezTo>
                    <a:pt x="4276704" y="0"/>
                    <a:pt x="4287898" y="4636"/>
                    <a:pt x="4296151" y="12889"/>
                  </a:cubicBezTo>
                  <a:cubicBezTo>
                    <a:pt x="4304404" y="21142"/>
                    <a:pt x="4309040" y="32336"/>
                    <a:pt x="4309040" y="44007"/>
                  </a:cubicBezTo>
                  <a:lnTo>
                    <a:pt x="4309040" y="1617250"/>
                  </a:lnTo>
                  <a:cubicBezTo>
                    <a:pt x="4309040" y="1628922"/>
                    <a:pt x="4304404" y="1640115"/>
                    <a:pt x="4296151" y="1648368"/>
                  </a:cubicBezTo>
                  <a:cubicBezTo>
                    <a:pt x="4287898" y="1656621"/>
                    <a:pt x="4276704" y="1661257"/>
                    <a:pt x="4265033" y="1661257"/>
                  </a:cubicBezTo>
                  <a:lnTo>
                    <a:pt x="44007" y="1661257"/>
                  </a:lnTo>
                  <a:cubicBezTo>
                    <a:pt x="32336" y="1661257"/>
                    <a:pt x="21142" y="1656621"/>
                    <a:pt x="12889" y="1648368"/>
                  </a:cubicBezTo>
                  <a:cubicBezTo>
                    <a:pt x="4636" y="1640115"/>
                    <a:pt x="0" y="1628922"/>
                    <a:pt x="0" y="1617250"/>
                  </a:cubicBezTo>
                  <a:lnTo>
                    <a:pt x="0" y="44007"/>
                  </a:lnTo>
                  <a:cubicBezTo>
                    <a:pt x="0" y="32336"/>
                    <a:pt x="4636" y="21142"/>
                    <a:pt x="12889" y="12889"/>
                  </a:cubicBezTo>
                  <a:cubicBezTo>
                    <a:pt x="21142" y="4636"/>
                    <a:pt x="32336" y="0"/>
                    <a:pt x="44007" y="0"/>
                  </a:cubicBezTo>
                  <a:close/>
                </a:path>
              </a:pathLst>
            </a:custGeom>
            <a:solidFill>
              <a:srgbClr val="424242"/>
            </a:solidFill>
            <a:ln w="19050" cap="rnd">
              <a:solidFill>
                <a:srgbClr val="D0D7DD"/>
              </a:solidFill>
              <a:prstDash val="solid"/>
              <a:round/>
            </a:ln>
          </p:spPr>
        </p:sp>
        <p:sp>
          <p:nvSpPr>
            <p:cNvPr name="TextBox 5" id="5"/>
            <p:cNvSpPr txBox="true"/>
            <p:nvPr/>
          </p:nvSpPr>
          <p:spPr>
            <a:xfrm>
              <a:off x="0" y="-28575"/>
              <a:ext cx="4309041" cy="1689832"/>
            </a:xfrm>
            <a:prstGeom prst="rect">
              <a:avLst/>
            </a:prstGeom>
          </p:spPr>
          <p:txBody>
            <a:bodyPr anchor="ctr" rtlCol="false" tIns="50800" lIns="50800" bIns="50800" rIns="50800"/>
            <a:lstStyle/>
            <a:p>
              <a:pPr algn="ctr">
                <a:lnSpc>
                  <a:spcPts val="2015"/>
                </a:lnSpc>
              </a:pPr>
            </a:p>
          </p:txBody>
        </p:sp>
      </p:grpSp>
      <p:sp>
        <p:nvSpPr>
          <p:cNvPr name="TextBox 6" id="6"/>
          <p:cNvSpPr txBox="true"/>
          <p:nvPr/>
        </p:nvSpPr>
        <p:spPr>
          <a:xfrm rot="0">
            <a:off x="4416433" y="4257194"/>
            <a:ext cx="3823614" cy="5795077"/>
          </a:xfrm>
          <a:prstGeom prst="rect">
            <a:avLst/>
          </a:prstGeom>
        </p:spPr>
        <p:txBody>
          <a:bodyPr anchor="t" rtlCol="false" tIns="0" lIns="0" bIns="0" rIns="0">
            <a:spAutoFit/>
          </a:bodyPr>
          <a:lstStyle/>
          <a:p>
            <a:pPr algn="l" marL="908829" indent="-454414" lvl="1">
              <a:lnSpc>
                <a:spcPts val="5303"/>
              </a:lnSpc>
              <a:buFont typeface="Arial"/>
              <a:buChar char="•"/>
            </a:pPr>
            <a:r>
              <a:rPr lang="en-US" sz="4209" spc="-235">
                <a:solidFill>
                  <a:srgbClr val="FFFFFF"/>
                </a:solidFill>
                <a:latin typeface="Times New Roman MT"/>
                <a:ea typeface="Times New Roman MT"/>
                <a:cs typeface="Times New Roman MT"/>
                <a:sym typeface="Times New Roman MT"/>
              </a:rPr>
              <a:t>React                                                </a:t>
            </a:r>
          </a:p>
          <a:p>
            <a:pPr algn="l" marL="908829" indent="-454414" lvl="1">
              <a:lnSpc>
                <a:spcPts val="5303"/>
              </a:lnSpc>
              <a:buFont typeface="Arial"/>
              <a:buChar char="•"/>
            </a:pPr>
            <a:r>
              <a:rPr lang="en-US" sz="4209" spc="-235">
                <a:solidFill>
                  <a:srgbClr val="FFFFFF"/>
                </a:solidFill>
                <a:latin typeface="Times New Roman MT"/>
                <a:ea typeface="Times New Roman MT"/>
                <a:cs typeface="Times New Roman MT"/>
                <a:sym typeface="Times New Roman MT"/>
              </a:rPr>
              <a:t>HTML</a:t>
            </a:r>
          </a:p>
          <a:p>
            <a:pPr algn="l" marL="908829" indent="-454414" lvl="1">
              <a:lnSpc>
                <a:spcPts val="5303"/>
              </a:lnSpc>
              <a:buFont typeface="Arial"/>
              <a:buChar char="•"/>
            </a:pPr>
            <a:r>
              <a:rPr lang="en-US" sz="4209" spc="-235">
                <a:solidFill>
                  <a:srgbClr val="FFFFFF"/>
                </a:solidFill>
                <a:latin typeface="Times New Roman MT"/>
                <a:ea typeface="Times New Roman MT"/>
                <a:cs typeface="Times New Roman MT"/>
                <a:sym typeface="Times New Roman MT"/>
              </a:rPr>
              <a:t>CSS</a:t>
            </a:r>
          </a:p>
          <a:p>
            <a:pPr algn="l" marL="908829" indent="-454414" lvl="1">
              <a:lnSpc>
                <a:spcPts val="5303"/>
              </a:lnSpc>
              <a:buFont typeface="Arial"/>
              <a:buChar char="•"/>
            </a:pPr>
            <a:r>
              <a:rPr lang="en-US" sz="4209" spc="-235">
                <a:solidFill>
                  <a:srgbClr val="FFFFFF"/>
                </a:solidFill>
                <a:latin typeface="Times New Roman MT"/>
                <a:ea typeface="Times New Roman MT"/>
                <a:cs typeface="Times New Roman MT"/>
                <a:sym typeface="Times New Roman MT"/>
              </a:rPr>
              <a:t>JavaScript</a:t>
            </a:r>
          </a:p>
          <a:p>
            <a:pPr algn="l" marL="908829" indent="-454414" lvl="1">
              <a:lnSpc>
                <a:spcPts val="5303"/>
              </a:lnSpc>
              <a:buFont typeface="Arial"/>
              <a:buChar char="•"/>
            </a:pPr>
            <a:r>
              <a:rPr lang="en-US" sz="4209" spc="-235">
                <a:solidFill>
                  <a:srgbClr val="FFFFFF"/>
                </a:solidFill>
                <a:latin typeface="Times New Roman MT"/>
                <a:ea typeface="Times New Roman MT"/>
                <a:cs typeface="Times New Roman MT"/>
                <a:sym typeface="Times New Roman MT"/>
              </a:rPr>
              <a:t>Node.js</a:t>
            </a:r>
          </a:p>
          <a:p>
            <a:pPr algn="l">
              <a:lnSpc>
                <a:spcPts val="5303"/>
              </a:lnSpc>
            </a:pPr>
          </a:p>
          <a:p>
            <a:pPr algn="l">
              <a:lnSpc>
                <a:spcPts val="4487"/>
              </a:lnSpc>
            </a:pPr>
          </a:p>
          <a:p>
            <a:pPr algn="l">
              <a:lnSpc>
                <a:spcPts val="4487"/>
              </a:lnSpc>
            </a:pPr>
          </a:p>
          <a:p>
            <a:pPr algn="ctr">
              <a:lnSpc>
                <a:spcPts val="4487"/>
              </a:lnSpc>
              <a:spcBef>
                <a:spcPct val="0"/>
              </a:spcBef>
            </a:pPr>
          </a:p>
        </p:txBody>
      </p:sp>
      <p:sp>
        <p:nvSpPr>
          <p:cNvPr name="TextBox 7" id="7"/>
          <p:cNvSpPr txBox="true"/>
          <p:nvPr/>
        </p:nvSpPr>
        <p:spPr>
          <a:xfrm rot="0">
            <a:off x="9378519" y="3821115"/>
            <a:ext cx="3601978" cy="4913648"/>
          </a:xfrm>
          <a:prstGeom prst="rect">
            <a:avLst/>
          </a:prstGeom>
        </p:spPr>
        <p:txBody>
          <a:bodyPr anchor="t" rtlCol="false" tIns="0" lIns="0" bIns="0" rIns="0">
            <a:spAutoFit/>
          </a:bodyPr>
          <a:lstStyle/>
          <a:p>
            <a:pPr algn="l">
              <a:lnSpc>
                <a:spcPts val="4996"/>
              </a:lnSpc>
            </a:pPr>
          </a:p>
          <a:p>
            <a:pPr algn="l" marL="856148" indent="-428074" lvl="1">
              <a:lnSpc>
                <a:spcPts val="4996"/>
              </a:lnSpc>
              <a:buFont typeface="Arial"/>
              <a:buChar char="•"/>
            </a:pPr>
            <a:r>
              <a:rPr lang="en-US" sz="3965" spc="-222">
                <a:solidFill>
                  <a:srgbClr val="FFFFFF"/>
                </a:solidFill>
                <a:latin typeface="Times New Roman MT"/>
                <a:ea typeface="Times New Roman MT"/>
                <a:cs typeface="Times New Roman MT"/>
                <a:sym typeface="Times New Roman MT"/>
              </a:rPr>
              <a:t>MongoDB</a:t>
            </a:r>
          </a:p>
          <a:p>
            <a:pPr algn="l" marL="856148" indent="-428074" lvl="1">
              <a:lnSpc>
                <a:spcPts val="4996"/>
              </a:lnSpc>
              <a:buFont typeface="Arial"/>
              <a:buChar char="•"/>
            </a:pPr>
            <a:r>
              <a:rPr lang="en-US" sz="3965" spc="-222">
                <a:solidFill>
                  <a:srgbClr val="FFFFFF"/>
                </a:solidFill>
                <a:latin typeface="Times New Roman MT"/>
                <a:ea typeface="Times New Roman MT"/>
                <a:cs typeface="Times New Roman MT"/>
                <a:sym typeface="Times New Roman MT"/>
              </a:rPr>
              <a:t>MYSQL</a:t>
            </a:r>
          </a:p>
          <a:p>
            <a:pPr algn="l" marL="856148" indent="-428074" lvl="1">
              <a:lnSpc>
                <a:spcPts val="4996"/>
              </a:lnSpc>
              <a:buFont typeface="Arial"/>
              <a:buChar char="•"/>
            </a:pPr>
            <a:r>
              <a:rPr lang="en-US" sz="3965" spc="-222">
                <a:solidFill>
                  <a:srgbClr val="FFFFFF"/>
                </a:solidFill>
                <a:latin typeface="Times New Roman MT"/>
                <a:ea typeface="Times New Roman MT"/>
                <a:cs typeface="Times New Roman MT"/>
                <a:sym typeface="Times New Roman MT"/>
              </a:rPr>
              <a:t> Workbench</a:t>
            </a:r>
          </a:p>
          <a:p>
            <a:pPr algn="l" marL="856148" indent="-428074" lvl="1">
              <a:lnSpc>
                <a:spcPts val="4996"/>
              </a:lnSpc>
              <a:buFont typeface="Arial"/>
              <a:buChar char="•"/>
            </a:pPr>
            <a:r>
              <a:rPr lang="en-US" sz="3965" spc="-222">
                <a:solidFill>
                  <a:srgbClr val="FFFFFF"/>
                </a:solidFill>
                <a:latin typeface="Times New Roman MT"/>
                <a:ea typeface="Times New Roman MT"/>
                <a:cs typeface="Times New Roman MT"/>
                <a:sym typeface="Times New Roman MT"/>
              </a:rPr>
              <a:t>VS Code</a:t>
            </a:r>
          </a:p>
          <a:p>
            <a:pPr algn="l" marL="856148" indent="-428074" lvl="1">
              <a:lnSpc>
                <a:spcPts val="4996"/>
              </a:lnSpc>
              <a:buFont typeface="Arial"/>
              <a:buChar char="•"/>
            </a:pPr>
            <a:r>
              <a:rPr lang="en-US" sz="3965" spc="-222">
                <a:solidFill>
                  <a:srgbClr val="FFFFFF"/>
                </a:solidFill>
                <a:latin typeface="Times New Roman MT"/>
                <a:ea typeface="Times New Roman MT"/>
                <a:cs typeface="Times New Roman MT"/>
                <a:sym typeface="Times New Roman MT"/>
              </a:rPr>
              <a:t>Git + GitHub</a:t>
            </a:r>
          </a:p>
          <a:p>
            <a:pPr algn="l">
              <a:lnSpc>
                <a:spcPts val="4227"/>
              </a:lnSpc>
            </a:pPr>
          </a:p>
          <a:p>
            <a:pPr algn="ctr">
              <a:lnSpc>
                <a:spcPts val="4227"/>
              </a:lnSpc>
              <a:spcBef>
                <a:spcPct val="0"/>
              </a:spcBef>
            </a:pPr>
          </a:p>
        </p:txBody>
      </p:sp>
      <p:sp>
        <p:nvSpPr>
          <p:cNvPr name="Freeform 8" id="8"/>
          <p:cNvSpPr/>
          <p:nvPr/>
        </p:nvSpPr>
        <p:spPr>
          <a:xfrm flipH="false" flipV="false" rot="1925852">
            <a:off x="11466076" y="-4040445"/>
            <a:ext cx="9386678" cy="10557613"/>
          </a:xfrm>
          <a:custGeom>
            <a:avLst/>
            <a:gdLst/>
            <a:ahLst/>
            <a:cxnLst/>
            <a:rect r="r" b="b" t="t" l="l"/>
            <a:pathLst>
              <a:path h="10557613" w="9386678">
                <a:moveTo>
                  <a:pt x="0" y="0"/>
                </a:moveTo>
                <a:lnTo>
                  <a:pt x="9386678" y="0"/>
                </a:lnTo>
                <a:lnTo>
                  <a:pt x="9386678" y="10557613"/>
                </a:lnTo>
                <a:lnTo>
                  <a:pt x="0" y="10557613"/>
                </a:lnTo>
                <a:lnTo>
                  <a:pt x="0" y="0"/>
                </a:lnTo>
                <a:close/>
              </a:path>
            </a:pathLst>
          </a:custGeom>
          <a:blipFill>
            <a:blip r:embed="rId2">
              <a:alphaModFix amt="20999"/>
            </a:blip>
            <a:stretch>
              <a:fillRect l="0" t="0" r="0" b="0"/>
            </a:stretch>
          </a:blipFill>
        </p:spPr>
      </p:sp>
      <p:sp>
        <p:nvSpPr>
          <p:cNvPr name="Freeform 9" id="9"/>
          <p:cNvSpPr/>
          <p:nvPr/>
        </p:nvSpPr>
        <p:spPr>
          <a:xfrm flipH="false" flipV="false" rot="0">
            <a:off x="-1231290" y="6163012"/>
            <a:ext cx="12299674" cy="5143500"/>
          </a:xfrm>
          <a:custGeom>
            <a:avLst/>
            <a:gdLst/>
            <a:ahLst/>
            <a:cxnLst/>
            <a:rect r="r" b="b" t="t" l="l"/>
            <a:pathLst>
              <a:path h="5143500" w="12299674">
                <a:moveTo>
                  <a:pt x="0" y="0"/>
                </a:moveTo>
                <a:lnTo>
                  <a:pt x="12299673" y="0"/>
                </a:lnTo>
                <a:lnTo>
                  <a:pt x="12299673" y="5143500"/>
                </a:lnTo>
                <a:lnTo>
                  <a:pt x="0" y="5143500"/>
                </a:lnTo>
                <a:lnTo>
                  <a:pt x="0" y="0"/>
                </a:lnTo>
                <a:close/>
              </a:path>
            </a:pathLst>
          </a:custGeom>
          <a:blipFill>
            <a:blip r:embed="rId3">
              <a:alphaModFix amt="10999"/>
            </a:blip>
            <a:stretch>
              <a:fillRect l="0" t="0" r="0" b="0"/>
            </a:stretch>
          </a:blipFill>
        </p:spPr>
      </p:sp>
      <p:sp>
        <p:nvSpPr>
          <p:cNvPr name="Freeform 10" id="10"/>
          <p:cNvSpPr/>
          <p:nvPr/>
        </p:nvSpPr>
        <p:spPr>
          <a:xfrm flipH="false" flipV="false" rot="0">
            <a:off x="0" y="0"/>
            <a:ext cx="3594508" cy="1480091"/>
          </a:xfrm>
          <a:custGeom>
            <a:avLst/>
            <a:gdLst/>
            <a:ahLst/>
            <a:cxnLst/>
            <a:rect r="r" b="b" t="t" l="l"/>
            <a:pathLst>
              <a:path h="1480091" w="3594508">
                <a:moveTo>
                  <a:pt x="0" y="0"/>
                </a:moveTo>
                <a:lnTo>
                  <a:pt x="3594508" y="0"/>
                </a:lnTo>
                <a:lnTo>
                  <a:pt x="3594508" y="1480091"/>
                </a:lnTo>
                <a:lnTo>
                  <a:pt x="0" y="1480091"/>
                </a:lnTo>
                <a:lnTo>
                  <a:pt x="0" y="0"/>
                </a:lnTo>
                <a:close/>
              </a:path>
            </a:pathLst>
          </a:custGeom>
          <a:blipFill>
            <a:blip r:embed="rId4"/>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424242"/>
        </a:solidFill>
      </p:bgPr>
    </p:bg>
    <p:spTree>
      <p:nvGrpSpPr>
        <p:cNvPr id="1" name=""/>
        <p:cNvGrpSpPr/>
        <p:nvPr/>
      </p:nvGrpSpPr>
      <p:grpSpPr>
        <a:xfrm>
          <a:off x="0" y="0"/>
          <a:ext cx="0" cy="0"/>
          <a:chOff x="0" y="0"/>
          <a:chExt cx="0" cy="0"/>
        </a:xfrm>
      </p:grpSpPr>
      <p:grpSp>
        <p:nvGrpSpPr>
          <p:cNvPr name="Group 2" id="2"/>
          <p:cNvGrpSpPr/>
          <p:nvPr/>
        </p:nvGrpSpPr>
        <p:grpSpPr>
          <a:xfrm rot="0">
            <a:off x="885291" y="3243671"/>
            <a:ext cx="16360888" cy="6307586"/>
            <a:chOff x="0" y="0"/>
            <a:chExt cx="4309041" cy="1661257"/>
          </a:xfrm>
        </p:grpSpPr>
        <p:sp>
          <p:nvSpPr>
            <p:cNvPr name="Freeform 3" id="3"/>
            <p:cNvSpPr/>
            <p:nvPr/>
          </p:nvSpPr>
          <p:spPr>
            <a:xfrm flipH="false" flipV="false" rot="0">
              <a:off x="0" y="0"/>
              <a:ext cx="4309040" cy="1661257"/>
            </a:xfrm>
            <a:custGeom>
              <a:avLst/>
              <a:gdLst/>
              <a:ahLst/>
              <a:cxnLst/>
              <a:rect r="r" b="b" t="t" l="l"/>
              <a:pathLst>
                <a:path h="1661257" w="4309040">
                  <a:moveTo>
                    <a:pt x="44007" y="0"/>
                  </a:moveTo>
                  <a:lnTo>
                    <a:pt x="4265033" y="0"/>
                  </a:lnTo>
                  <a:cubicBezTo>
                    <a:pt x="4276704" y="0"/>
                    <a:pt x="4287898" y="4636"/>
                    <a:pt x="4296151" y="12889"/>
                  </a:cubicBezTo>
                  <a:cubicBezTo>
                    <a:pt x="4304404" y="21142"/>
                    <a:pt x="4309040" y="32336"/>
                    <a:pt x="4309040" y="44007"/>
                  </a:cubicBezTo>
                  <a:lnTo>
                    <a:pt x="4309040" y="1617250"/>
                  </a:lnTo>
                  <a:cubicBezTo>
                    <a:pt x="4309040" y="1628922"/>
                    <a:pt x="4304404" y="1640115"/>
                    <a:pt x="4296151" y="1648368"/>
                  </a:cubicBezTo>
                  <a:cubicBezTo>
                    <a:pt x="4287898" y="1656621"/>
                    <a:pt x="4276704" y="1661257"/>
                    <a:pt x="4265033" y="1661257"/>
                  </a:cubicBezTo>
                  <a:lnTo>
                    <a:pt x="44007" y="1661257"/>
                  </a:lnTo>
                  <a:cubicBezTo>
                    <a:pt x="32336" y="1661257"/>
                    <a:pt x="21142" y="1656621"/>
                    <a:pt x="12889" y="1648368"/>
                  </a:cubicBezTo>
                  <a:cubicBezTo>
                    <a:pt x="4636" y="1640115"/>
                    <a:pt x="0" y="1628922"/>
                    <a:pt x="0" y="1617250"/>
                  </a:cubicBezTo>
                  <a:lnTo>
                    <a:pt x="0" y="44007"/>
                  </a:lnTo>
                  <a:cubicBezTo>
                    <a:pt x="0" y="32336"/>
                    <a:pt x="4636" y="21142"/>
                    <a:pt x="12889" y="12889"/>
                  </a:cubicBezTo>
                  <a:cubicBezTo>
                    <a:pt x="21142" y="4636"/>
                    <a:pt x="32336" y="0"/>
                    <a:pt x="44007" y="0"/>
                  </a:cubicBezTo>
                  <a:close/>
                </a:path>
              </a:pathLst>
            </a:custGeom>
            <a:solidFill>
              <a:srgbClr val="424242"/>
            </a:solidFill>
            <a:ln w="19050" cap="rnd">
              <a:solidFill>
                <a:srgbClr val="D0D7DD"/>
              </a:solidFill>
              <a:prstDash val="solid"/>
              <a:round/>
            </a:ln>
          </p:spPr>
        </p:sp>
        <p:sp>
          <p:nvSpPr>
            <p:cNvPr name="TextBox 4" id="4"/>
            <p:cNvSpPr txBox="true"/>
            <p:nvPr/>
          </p:nvSpPr>
          <p:spPr>
            <a:xfrm>
              <a:off x="0" y="-28575"/>
              <a:ext cx="4309041" cy="1689832"/>
            </a:xfrm>
            <a:prstGeom prst="rect">
              <a:avLst/>
            </a:prstGeom>
          </p:spPr>
          <p:txBody>
            <a:bodyPr anchor="ctr" rtlCol="false" tIns="50800" lIns="50800" bIns="50800" rIns="50800"/>
            <a:lstStyle/>
            <a:p>
              <a:pPr algn="ctr">
                <a:lnSpc>
                  <a:spcPts val="2015"/>
                </a:lnSpc>
              </a:pPr>
            </a:p>
          </p:txBody>
        </p:sp>
      </p:grpSp>
      <p:sp>
        <p:nvSpPr>
          <p:cNvPr name="TextBox 5" id="5"/>
          <p:cNvSpPr txBox="true"/>
          <p:nvPr/>
        </p:nvSpPr>
        <p:spPr>
          <a:xfrm rot="0">
            <a:off x="1028700" y="1781982"/>
            <a:ext cx="13389009" cy="1197898"/>
          </a:xfrm>
          <a:prstGeom prst="rect">
            <a:avLst/>
          </a:prstGeom>
        </p:spPr>
        <p:txBody>
          <a:bodyPr anchor="t" rtlCol="false" tIns="0" lIns="0" bIns="0" rIns="0">
            <a:spAutoFit/>
          </a:bodyPr>
          <a:lstStyle/>
          <a:p>
            <a:pPr algn="l">
              <a:lnSpc>
                <a:spcPts val="7582"/>
              </a:lnSpc>
            </a:pPr>
            <a:r>
              <a:rPr lang="en-US" sz="8066" spc="-379" b="true">
                <a:solidFill>
                  <a:srgbClr val="FFFFFF"/>
                </a:solidFill>
                <a:latin typeface="Times New Roman MT Ultra-Bold"/>
                <a:ea typeface="Times New Roman MT Ultra-Bold"/>
                <a:cs typeface="Times New Roman MT Ultra-Bold"/>
                <a:sym typeface="Times New Roman MT Ultra-Bold"/>
              </a:rPr>
              <a:t>Chanllenges &amp; Issues Faced</a:t>
            </a:r>
          </a:p>
        </p:txBody>
      </p:sp>
      <p:sp>
        <p:nvSpPr>
          <p:cNvPr name="TextBox 6" id="6"/>
          <p:cNvSpPr txBox="true"/>
          <p:nvPr/>
        </p:nvSpPr>
        <p:spPr>
          <a:xfrm rot="0">
            <a:off x="1639073" y="3704925"/>
            <a:ext cx="14853325" cy="5823227"/>
          </a:xfrm>
          <a:prstGeom prst="rect">
            <a:avLst/>
          </a:prstGeom>
        </p:spPr>
        <p:txBody>
          <a:bodyPr anchor="t" rtlCol="false" tIns="0" lIns="0" bIns="0" rIns="0">
            <a:spAutoFit/>
          </a:bodyPr>
          <a:lstStyle/>
          <a:p>
            <a:pPr algn="just" marL="711809" indent="-355905" lvl="1">
              <a:lnSpc>
                <a:spcPts val="4154"/>
              </a:lnSpc>
              <a:buFont typeface="Arial"/>
              <a:buChar char="•"/>
            </a:pPr>
            <a:r>
              <a:rPr lang="en-US" sz="3296" spc="-184">
                <a:solidFill>
                  <a:srgbClr val="FFFFFF"/>
                </a:solidFill>
                <a:latin typeface="Times New Roman MT"/>
                <a:ea typeface="Times New Roman MT"/>
                <a:cs typeface="Times New Roman MT"/>
                <a:sym typeface="Times New Roman MT"/>
              </a:rPr>
              <a:t>Designing relationships between multiple legal entities.</a:t>
            </a:r>
          </a:p>
          <a:p>
            <a:pPr algn="just" marL="711809" indent="-355905" lvl="1">
              <a:lnSpc>
                <a:spcPts val="4154"/>
              </a:lnSpc>
              <a:buFont typeface="Arial"/>
              <a:buChar char="•"/>
            </a:pPr>
            <a:r>
              <a:rPr lang="en-US" sz="3296" spc="-184">
                <a:solidFill>
                  <a:srgbClr val="FFFFFF"/>
                </a:solidFill>
                <a:latin typeface="Times New Roman MT"/>
                <a:ea typeface="Times New Roman MT"/>
                <a:cs typeface="Times New Roman MT"/>
                <a:sym typeface="Times New Roman MT"/>
              </a:rPr>
              <a:t>Avoiding duplicate data while storing information about cases, clients, lawyers, and hearings.</a:t>
            </a:r>
          </a:p>
          <a:p>
            <a:pPr algn="just" marL="711809" indent="-355905" lvl="1">
              <a:lnSpc>
                <a:spcPts val="4154"/>
              </a:lnSpc>
              <a:buFont typeface="Arial"/>
              <a:buChar char="•"/>
            </a:pPr>
            <a:r>
              <a:rPr lang="en-US" sz="3296" spc="-184">
                <a:solidFill>
                  <a:srgbClr val="FFFFFF"/>
                </a:solidFill>
                <a:latin typeface="Times New Roman MT"/>
                <a:ea typeface="Times New Roman MT"/>
                <a:cs typeface="Times New Roman MT"/>
                <a:sym typeface="Times New Roman MT"/>
              </a:rPr>
              <a:t>Maintaining consistency between related tables using foreign keys.</a:t>
            </a:r>
          </a:p>
          <a:p>
            <a:pPr algn="just" marL="711809" indent="-355905" lvl="1">
              <a:lnSpc>
                <a:spcPts val="4154"/>
              </a:lnSpc>
              <a:buFont typeface="Arial"/>
              <a:buChar char="•"/>
            </a:pPr>
            <a:r>
              <a:rPr lang="en-US" sz="3296" spc="-184">
                <a:solidFill>
                  <a:srgbClr val="FFFFFF"/>
                </a:solidFill>
                <a:latin typeface="Times New Roman MT"/>
                <a:ea typeface="Times New Roman MT"/>
                <a:cs typeface="Times New Roman MT"/>
                <a:sym typeface="Times New Roman MT"/>
              </a:rPr>
              <a:t>Handling different case statuses such as Active, Pending, and Resolved.</a:t>
            </a:r>
          </a:p>
          <a:p>
            <a:pPr algn="just" marL="711809" indent="-355905" lvl="1">
              <a:lnSpc>
                <a:spcPts val="4154"/>
              </a:lnSpc>
              <a:buFont typeface="Arial"/>
              <a:buChar char="•"/>
            </a:pPr>
            <a:r>
              <a:rPr lang="en-US" sz="3296" spc="-184">
                <a:solidFill>
                  <a:srgbClr val="FFFFFF"/>
                </a:solidFill>
                <a:latin typeface="Times New Roman MT"/>
                <a:ea typeface="Times New Roman MT"/>
                <a:cs typeface="Times New Roman MT"/>
                <a:sym typeface="Times New Roman MT"/>
              </a:rPr>
              <a:t>Writing SQL queries involving multiple tables and joins.</a:t>
            </a:r>
          </a:p>
          <a:p>
            <a:pPr algn="just" marL="711809" indent="-355905" lvl="1">
              <a:lnSpc>
                <a:spcPts val="4154"/>
              </a:lnSpc>
              <a:buFont typeface="Arial"/>
              <a:buChar char="•"/>
            </a:pPr>
            <a:r>
              <a:rPr lang="en-US" sz="3296" spc="-184">
                <a:solidFill>
                  <a:srgbClr val="FFFFFF"/>
                </a:solidFill>
                <a:latin typeface="Times New Roman MT"/>
                <a:ea typeface="Times New Roman MT"/>
                <a:cs typeface="Times New Roman MT"/>
                <a:sym typeface="Times New Roman MT"/>
              </a:rPr>
              <a:t>Generating meaningful analytics using GROUP BY and aggregate functions.</a:t>
            </a:r>
          </a:p>
          <a:p>
            <a:pPr algn="just" marL="711809" indent="-355905" lvl="1">
              <a:lnSpc>
                <a:spcPts val="4154"/>
              </a:lnSpc>
              <a:buFont typeface="Arial"/>
              <a:buChar char="•"/>
            </a:pPr>
            <a:r>
              <a:rPr lang="en-US" sz="3296" spc="-184">
                <a:solidFill>
                  <a:srgbClr val="FFFFFF"/>
                </a:solidFill>
                <a:latin typeface="Times New Roman MT"/>
                <a:ea typeface="Times New Roman MT"/>
                <a:cs typeface="Times New Roman MT"/>
                <a:sym typeface="Times New Roman MT"/>
              </a:rPr>
              <a:t>Ensuring that updating or deleting records does not break relationships.</a:t>
            </a:r>
          </a:p>
          <a:p>
            <a:pPr algn="just" marL="711809" indent="-355905" lvl="1">
              <a:lnSpc>
                <a:spcPts val="4154"/>
              </a:lnSpc>
              <a:buFont typeface="Arial"/>
              <a:buChar char="•"/>
            </a:pPr>
            <a:r>
              <a:rPr lang="en-US" sz="3296" spc="-184">
                <a:solidFill>
                  <a:srgbClr val="FFFFFF"/>
                </a:solidFill>
                <a:latin typeface="Times New Roman MT"/>
                <a:ea typeface="Times New Roman MT"/>
                <a:cs typeface="Times New Roman MT"/>
                <a:sym typeface="Times New Roman MT"/>
              </a:rPr>
              <a:t>Connecting the React frontend with the Node.js backend and MySQL database.</a:t>
            </a:r>
          </a:p>
          <a:p>
            <a:pPr algn="just" marL="711809" indent="-355905" lvl="1">
              <a:lnSpc>
                <a:spcPts val="4154"/>
              </a:lnSpc>
              <a:buFont typeface="Arial"/>
              <a:buChar char="•"/>
            </a:pPr>
            <a:r>
              <a:rPr lang="en-US" sz="3296" spc="-184">
                <a:solidFill>
                  <a:srgbClr val="FFFFFF"/>
                </a:solidFill>
                <a:latin typeface="Times New Roman MT"/>
                <a:ea typeface="Times New Roman MT"/>
                <a:cs typeface="Times New Roman MT"/>
                <a:sym typeface="Times New Roman MT"/>
              </a:rPr>
              <a:t>Managing and retrieving large amounts of case-related information efficiently.</a:t>
            </a:r>
          </a:p>
          <a:p>
            <a:pPr algn="just">
              <a:lnSpc>
                <a:spcPts val="4154"/>
              </a:lnSpc>
              <a:spcBef>
                <a:spcPct val="0"/>
              </a:spcBef>
            </a:pPr>
          </a:p>
        </p:txBody>
      </p:sp>
      <p:sp>
        <p:nvSpPr>
          <p:cNvPr name="Freeform 7" id="7"/>
          <p:cNvSpPr/>
          <p:nvPr/>
        </p:nvSpPr>
        <p:spPr>
          <a:xfrm flipH="false" flipV="false" rot="0">
            <a:off x="0" y="0"/>
            <a:ext cx="3594508" cy="1480091"/>
          </a:xfrm>
          <a:custGeom>
            <a:avLst/>
            <a:gdLst/>
            <a:ahLst/>
            <a:cxnLst/>
            <a:rect r="r" b="b" t="t" l="l"/>
            <a:pathLst>
              <a:path h="1480091" w="3594508">
                <a:moveTo>
                  <a:pt x="0" y="0"/>
                </a:moveTo>
                <a:lnTo>
                  <a:pt x="3594508" y="0"/>
                </a:lnTo>
                <a:lnTo>
                  <a:pt x="3594508" y="1480091"/>
                </a:lnTo>
                <a:lnTo>
                  <a:pt x="0" y="1480091"/>
                </a:lnTo>
                <a:lnTo>
                  <a:pt x="0" y="0"/>
                </a:lnTo>
                <a:close/>
              </a:path>
            </a:pathLst>
          </a:custGeom>
          <a:blipFill>
            <a:blip r:embed="rId2"/>
            <a:stretch>
              <a:fillRect l="0" t="0" r="0" b="0"/>
            </a:stretch>
          </a:blipFill>
        </p:spPr>
      </p:sp>
      <p:sp>
        <p:nvSpPr>
          <p:cNvPr name="Freeform 8" id="8"/>
          <p:cNvSpPr/>
          <p:nvPr/>
        </p:nvSpPr>
        <p:spPr>
          <a:xfrm flipH="false" flipV="false" rot="1925852">
            <a:off x="11466076" y="-3935689"/>
            <a:ext cx="9386678" cy="10557613"/>
          </a:xfrm>
          <a:custGeom>
            <a:avLst/>
            <a:gdLst/>
            <a:ahLst/>
            <a:cxnLst/>
            <a:rect r="r" b="b" t="t" l="l"/>
            <a:pathLst>
              <a:path h="10557613" w="9386678">
                <a:moveTo>
                  <a:pt x="0" y="0"/>
                </a:moveTo>
                <a:lnTo>
                  <a:pt x="9386678" y="0"/>
                </a:lnTo>
                <a:lnTo>
                  <a:pt x="9386678" y="10557613"/>
                </a:lnTo>
                <a:lnTo>
                  <a:pt x="0" y="10557613"/>
                </a:lnTo>
                <a:lnTo>
                  <a:pt x="0" y="0"/>
                </a:lnTo>
                <a:close/>
              </a:path>
            </a:pathLst>
          </a:custGeom>
          <a:blipFill>
            <a:blip r:embed="rId3">
              <a:alphaModFix amt="20999"/>
            </a:blip>
            <a:stretch>
              <a:fillRect l="0" t="0" r="0" b="0"/>
            </a:stretch>
          </a:blipFill>
        </p:spPr>
      </p:sp>
      <p:sp>
        <p:nvSpPr>
          <p:cNvPr name="Freeform 9" id="9"/>
          <p:cNvSpPr/>
          <p:nvPr/>
        </p:nvSpPr>
        <p:spPr>
          <a:xfrm flipH="false" flipV="false" rot="0">
            <a:off x="-1231290" y="6163012"/>
            <a:ext cx="12299674" cy="5143500"/>
          </a:xfrm>
          <a:custGeom>
            <a:avLst/>
            <a:gdLst/>
            <a:ahLst/>
            <a:cxnLst/>
            <a:rect r="r" b="b" t="t" l="l"/>
            <a:pathLst>
              <a:path h="5143500" w="12299674">
                <a:moveTo>
                  <a:pt x="0" y="0"/>
                </a:moveTo>
                <a:lnTo>
                  <a:pt x="12299673" y="0"/>
                </a:lnTo>
                <a:lnTo>
                  <a:pt x="12299673" y="5143500"/>
                </a:lnTo>
                <a:lnTo>
                  <a:pt x="0" y="5143500"/>
                </a:lnTo>
                <a:lnTo>
                  <a:pt x="0" y="0"/>
                </a:lnTo>
                <a:close/>
              </a:path>
            </a:pathLst>
          </a:custGeom>
          <a:blipFill>
            <a:blip r:embed="rId4">
              <a:alphaModFix amt="10999"/>
            </a:blip>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424242"/>
        </a:solidFill>
      </p:bgPr>
    </p:bg>
    <p:spTree>
      <p:nvGrpSpPr>
        <p:cNvPr id="1" name=""/>
        <p:cNvGrpSpPr/>
        <p:nvPr/>
      </p:nvGrpSpPr>
      <p:grpSpPr>
        <a:xfrm>
          <a:off x="0" y="0"/>
          <a:ext cx="0" cy="0"/>
          <a:chOff x="0" y="0"/>
          <a:chExt cx="0" cy="0"/>
        </a:xfrm>
      </p:grpSpPr>
      <p:grpSp>
        <p:nvGrpSpPr>
          <p:cNvPr name="Group 2" id="2"/>
          <p:cNvGrpSpPr/>
          <p:nvPr/>
        </p:nvGrpSpPr>
        <p:grpSpPr>
          <a:xfrm rot="0">
            <a:off x="885291" y="3243671"/>
            <a:ext cx="16360888" cy="6307586"/>
            <a:chOff x="0" y="0"/>
            <a:chExt cx="4309041" cy="1661257"/>
          </a:xfrm>
        </p:grpSpPr>
        <p:sp>
          <p:nvSpPr>
            <p:cNvPr name="Freeform 3" id="3"/>
            <p:cNvSpPr/>
            <p:nvPr/>
          </p:nvSpPr>
          <p:spPr>
            <a:xfrm flipH="false" flipV="false" rot="0">
              <a:off x="0" y="0"/>
              <a:ext cx="4309040" cy="1661257"/>
            </a:xfrm>
            <a:custGeom>
              <a:avLst/>
              <a:gdLst/>
              <a:ahLst/>
              <a:cxnLst/>
              <a:rect r="r" b="b" t="t" l="l"/>
              <a:pathLst>
                <a:path h="1661257" w="4309040">
                  <a:moveTo>
                    <a:pt x="44007" y="0"/>
                  </a:moveTo>
                  <a:lnTo>
                    <a:pt x="4265033" y="0"/>
                  </a:lnTo>
                  <a:cubicBezTo>
                    <a:pt x="4276704" y="0"/>
                    <a:pt x="4287898" y="4636"/>
                    <a:pt x="4296151" y="12889"/>
                  </a:cubicBezTo>
                  <a:cubicBezTo>
                    <a:pt x="4304404" y="21142"/>
                    <a:pt x="4309040" y="32336"/>
                    <a:pt x="4309040" y="44007"/>
                  </a:cubicBezTo>
                  <a:lnTo>
                    <a:pt x="4309040" y="1617250"/>
                  </a:lnTo>
                  <a:cubicBezTo>
                    <a:pt x="4309040" y="1628922"/>
                    <a:pt x="4304404" y="1640115"/>
                    <a:pt x="4296151" y="1648368"/>
                  </a:cubicBezTo>
                  <a:cubicBezTo>
                    <a:pt x="4287898" y="1656621"/>
                    <a:pt x="4276704" y="1661257"/>
                    <a:pt x="4265033" y="1661257"/>
                  </a:cubicBezTo>
                  <a:lnTo>
                    <a:pt x="44007" y="1661257"/>
                  </a:lnTo>
                  <a:cubicBezTo>
                    <a:pt x="32336" y="1661257"/>
                    <a:pt x="21142" y="1656621"/>
                    <a:pt x="12889" y="1648368"/>
                  </a:cubicBezTo>
                  <a:cubicBezTo>
                    <a:pt x="4636" y="1640115"/>
                    <a:pt x="0" y="1628922"/>
                    <a:pt x="0" y="1617250"/>
                  </a:cubicBezTo>
                  <a:lnTo>
                    <a:pt x="0" y="44007"/>
                  </a:lnTo>
                  <a:cubicBezTo>
                    <a:pt x="0" y="32336"/>
                    <a:pt x="4636" y="21142"/>
                    <a:pt x="12889" y="12889"/>
                  </a:cubicBezTo>
                  <a:cubicBezTo>
                    <a:pt x="21142" y="4636"/>
                    <a:pt x="32336" y="0"/>
                    <a:pt x="44007" y="0"/>
                  </a:cubicBezTo>
                  <a:close/>
                </a:path>
              </a:pathLst>
            </a:custGeom>
            <a:solidFill>
              <a:srgbClr val="424242"/>
            </a:solidFill>
            <a:ln w="19050" cap="rnd">
              <a:solidFill>
                <a:srgbClr val="D0D7DD"/>
              </a:solidFill>
              <a:prstDash val="solid"/>
              <a:round/>
            </a:ln>
          </p:spPr>
        </p:sp>
        <p:sp>
          <p:nvSpPr>
            <p:cNvPr name="TextBox 4" id="4"/>
            <p:cNvSpPr txBox="true"/>
            <p:nvPr/>
          </p:nvSpPr>
          <p:spPr>
            <a:xfrm>
              <a:off x="0" y="-28575"/>
              <a:ext cx="4309041" cy="1689832"/>
            </a:xfrm>
            <a:prstGeom prst="rect">
              <a:avLst/>
            </a:prstGeom>
          </p:spPr>
          <p:txBody>
            <a:bodyPr anchor="ctr" rtlCol="false" tIns="50800" lIns="50800" bIns="50800" rIns="50800"/>
            <a:lstStyle/>
            <a:p>
              <a:pPr algn="ctr">
                <a:lnSpc>
                  <a:spcPts val="2015"/>
                </a:lnSpc>
              </a:pPr>
            </a:p>
          </p:txBody>
        </p:sp>
      </p:grpSp>
      <p:sp>
        <p:nvSpPr>
          <p:cNvPr name="TextBox 5" id="5"/>
          <p:cNvSpPr txBox="true"/>
          <p:nvPr/>
        </p:nvSpPr>
        <p:spPr>
          <a:xfrm rot="0">
            <a:off x="1028700" y="1781982"/>
            <a:ext cx="13389009" cy="1197898"/>
          </a:xfrm>
          <a:prstGeom prst="rect">
            <a:avLst/>
          </a:prstGeom>
        </p:spPr>
        <p:txBody>
          <a:bodyPr anchor="t" rtlCol="false" tIns="0" lIns="0" bIns="0" rIns="0">
            <a:spAutoFit/>
          </a:bodyPr>
          <a:lstStyle/>
          <a:p>
            <a:pPr algn="l">
              <a:lnSpc>
                <a:spcPts val="7582"/>
              </a:lnSpc>
            </a:pPr>
            <a:r>
              <a:rPr lang="en-US" sz="8066" spc="-379" b="true">
                <a:solidFill>
                  <a:srgbClr val="FFFFFF"/>
                </a:solidFill>
                <a:latin typeface="Times New Roman MT Ultra-Bold"/>
                <a:ea typeface="Times New Roman MT Ultra-Bold"/>
                <a:cs typeface="Times New Roman MT Ultra-Bold"/>
                <a:sym typeface="Times New Roman MT Ultra-Bold"/>
              </a:rPr>
              <a:t>Future Work</a:t>
            </a:r>
          </a:p>
        </p:txBody>
      </p:sp>
      <p:sp>
        <p:nvSpPr>
          <p:cNvPr name="TextBox 6" id="6"/>
          <p:cNvSpPr txBox="true"/>
          <p:nvPr/>
        </p:nvSpPr>
        <p:spPr>
          <a:xfrm rot="0">
            <a:off x="1639073" y="3537316"/>
            <a:ext cx="14853325" cy="4251602"/>
          </a:xfrm>
          <a:prstGeom prst="rect">
            <a:avLst/>
          </a:prstGeom>
        </p:spPr>
        <p:txBody>
          <a:bodyPr anchor="t" rtlCol="false" tIns="0" lIns="0" bIns="0" rIns="0">
            <a:spAutoFit/>
          </a:bodyPr>
          <a:lstStyle/>
          <a:p>
            <a:pPr algn="just" marL="711809" indent="-355905" lvl="1">
              <a:lnSpc>
                <a:spcPts val="4154"/>
              </a:lnSpc>
              <a:buFont typeface="Arial"/>
              <a:buChar char="•"/>
            </a:pPr>
            <a:r>
              <a:rPr lang="en-US" sz="3296" spc="-184">
                <a:solidFill>
                  <a:srgbClr val="FFFFFF"/>
                </a:solidFill>
                <a:latin typeface="Times New Roman MT"/>
                <a:ea typeface="Times New Roman MT"/>
                <a:cs typeface="Times New Roman MT"/>
                <a:sym typeface="Times New Roman MT"/>
              </a:rPr>
              <a:t>Add user authentication and role-based access for administrators, lawyers, and other authorized users.</a:t>
            </a:r>
          </a:p>
          <a:p>
            <a:pPr algn="just" marL="711809" indent="-355905" lvl="1">
              <a:lnSpc>
                <a:spcPts val="4154"/>
              </a:lnSpc>
              <a:buFont typeface="Arial"/>
              <a:buChar char="•"/>
            </a:pPr>
            <a:r>
              <a:rPr lang="en-US" sz="3296" spc="-184">
                <a:solidFill>
                  <a:srgbClr val="FFFFFF"/>
                </a:solidFill>
                <a:latin typeface="Times New Roman MT"/>
                <a:ea typeface="Times New Roman MT"/>
                <a:cs typeface="Times New Roman MT"/>
                <a:sym typeface="Times New Roman MT"/>
              </a:rPr>
              <a:t>Add automated hearing reminders and notifications.</a:t>
            </a:r>
          </a:p>
          <a:p>
            <a:pPr algn="just" marL="711809" indent="-355905" lvl="1">
              <a:lnSpc>
                <a:spcPts val="4154"/>
              </a:lnSpc>
              <a:buFont typeface="Arial"/>
              <a:buChar char="•"/>
            </a:pPr>
            <a:r>
              <a:rPr lang="en-US" sz="3296" spc="-184">
                <a:solidFill>
                  <a:srgbClr val="FFFFFF"/>
                </a:solidFill>
                <a:latin typeface="Times New Roman MT"/>
                <a:ea typeface="Times New Roman MT"/>
                <a:cs typeface="Times New Roman MT"/>
                <a:sym typeface="Times New Roman MT"/>
              </a:rPr>
              <a:t>Allow secure uploading and downloading of case documents.</a:t>
            </a:r>
          </a:p>
          <a:p>
            <a:pPr algn="just" marL="711809" indent="-355905" lvl="1">
              <a:lnSpc>
                <a:spcPts val="4154"/>
              </a:lnSpc>
              <a:buFont typeface="Arial"/>
              <a:buChar char="•"/>
            </a:pPr>
            <a:r>
              <a:rPr lang="en-US" sz="3296" spc="-184">
                <a:solidFill>
                  <a:srgbClr val="FFFFFF"/>
                </a:solidFill>
                <a:latin typeface="Times New Roman MT"/>
                <a:ea typeface="Times New Roman MT"/>
                <a:cs typeface="Times New Roman MT"/>
                <a:sym typeface="Times New Roman MT"/>
              </a:rPr>
              <a:t>Add advanced dashboard visualizations and reports.</a:t>
            </a:r>
          </a:p>
          <a:p>
            <a:pPr algn="just" marL="711809" indent="-355905" lvl="1">
              <a:lnSpc>
                <a:spcPts val="4154"/>
              </a:lnSpc>
              <a:buFont typeface="Arial"/>
              <a:buChar char="•"/>
            </a:pPr>
            <a:r>
              <a:rPr lang="en-US" sz="3296" spc="-184">
                <a:solidFill>
                  <a:srgbClr val="FFFFFF"/>
                </a:solidFill>
                <a:latin typeface="Times New Roman MT"/>
                <a:ea typeface="Times New Roman MT"/>
                <a:cs typeface="Times New Roman MT"/>
                <a:sym typeface="Times New Roman MT"/>
              </a:rPr>
              <a:t>Implement advanced search and filtering.</a:t>
            </a:r>
          </a:p>
          <a:p>
            <a:pPr algn="just" marL="711809" indent="-355905" lvl="1">
              <a:lnSpc>
                <a:spcPts val="4154"/>
              </a:lnSpc>
              <a:buFont typeface="Arial"/>
              <a:buChar char="•"/>
            </a:pPr>
            <a:r>
              <a:rPr lang="en-US" sz="3296" spc="-184">
                <a:solidFill>
                  <a:srgbClr val="FFFFFF"/>
                </a:solidFill>
                <a:latin typeface="Times New Roman MT"/>
                <a:ea typeface="Times New Roman MT"/>
                <a:cs typeface="Times New Roman MT"/>
                <a:sym typeface="Times New Roman MT"/>
              </a:rPr>
              <a:t>Develop a mobile-friendly version of the portal.</a:t>
            </a:r>
          </a:p>
          <a:p>
            <a:pPr algn="just">
              <a:lnSpc>
                <a:spcPts val="4154"/>
              </a:lnSpc>
              <a:spcBef>
                <a:spcPct val="0"/>
              </a:spcBef>
            </a:pPr>
          </a:p>
        </p:txBody>
      </p:sp>
      <p:sp>
        <p:nvSpPr>
          <p:cNvPr name="Freeform 7" id="7"/>
          <p:cNvSpPr/>
          <p:nvPr/>
        </p:nvSpPr>
        <p:spPr>
          <a:xfrm flipH="false" flipV="false" rot="0">
            <a:off x="0" y="0"/>
            <a:ext cx="3594508" cy="1480091"/>
          </a:xfrm>
          <a:custGeom>
            <a:avLst/>
            <a:gdLst/>
            <a:ahLst/>
            <a:cxnLst/>
            <a:rect r="r" b="b" t="t" l="l"/>
            <a:pathLst>
              <a:path h="1480091" w="3594508">
                <a:moveTo>
                  <a:pt x="0" y="0"/>
                </a:moveTo>
                <a:lnTo>
                  <a:pt x="3594508" y="0"/>
                </a:lnTo>
                <a:lnTo>
                  <a:pt x="3594508" y="1480091"/>
                </a:lnTo>
                <a:lnTo>
                  <a:pt x="0" y="1480091"/>
                </a:lnTo>
                <a:lnTo>
                  <a:pt x="0" y="0"/>
                </a:lnTo>
                <a:close/>
              </a:path>
            </a:pathLst>
          </a:custGeom>
          <a:blipFill>
            <a:blip r:embed="rId2"/>
            <a:stretch>
              <a:fillRect l="0" t="0" r="0" b="0"/>
            </a:stretch>
          </a:blipFill>
        </p:spPr>
      </p:sp>
      <p:sp>
        <p:nvSpPr>
          <p:cNvPr name="Freeform 8" id="8"/>
          <p:cNvSpPr/>
          <p:nvPr/>
        </p:nvSpPr>
        <p:spPr>
          <a:xfrm flipH="false" flipV="false" rot="1925852">
            <a:off x="11466076" y="-3935689"/>
            <a:ext cx="9386678" cy="10557613"/>
          </a:xfrm>
          <a:custGeom>
            <a:avLst/>
            <a:gdLst/>
            <a:ahLst/>
            <a:cxnLst/>
            <a:rect r="r" b="b" t="t" l="l"/>
            <a:pathLst>
              <a:path h="10557613" w="9386678">
                <a:moveTo>
                  <a:pt x="0" y="0"/>
                </a:moveTo>
                <a:lnTo>
                  <a:pt x="9386678" y="0"/>
                </a:lnTo>
                <a:lnTo>
                  <a:pt x="9386678" y="10557613"/>
                </a:lnTo>
                <a:lnTo>
                  <a:pt x="0" y="10557613"/>
                </a:lnTo>
                <a:lnTo>
                  <a:pt x="0" y="0"/>
                </a:lnTo>
                <a:close/>
              </a:path>
            </a:pathLst>
          </a:custGeom>
          <a:blipFill>
            <a:blip r:embed="rId3">
              <a:alphaModFix amt="20999"/>
            </a:blip>
            <a:stretch>
              <a:fillRect l="0" t="0" r="0" b="0"/>
            </a:stretch>
          </a:blipFill>
        </p:spPr>
      </p:sp>
      <p:sp>
        <p:nvSpPr>
          <p:cNvPr name="Freeform 9" id="9"/>
          <p:cNvSpPr/>
          <p:nvPr/>
        </p:nvSpPr>
        <p:spPr>
          <a:xfrm flipH="false" flipV="false" rot="0">
            <a:off x="-1231290" y="6163012"/>
            <a:ext cx="12299674" cy="5143500"/>
          </a:xfrm>
          <a:custGeom>
            <a:avLst/>
            <a:gdLst/>
            <a:ahLst/>
            <a:cxnLst/>
            <a:rect r="r" b="b" t="t" l="l"/>
            <a:pathLst>
              <a:path h="5143500" w="12299674">
                <a:moveTo>
                  <a:pt x="0" y="0"/>
                </a:moveTo>
                <a:lnTo>
                  <a:pt x="12299673" y="0"/>
                </a:lnTo>
                <a:lnTo>
                  <a:pt x="12299673" y="5143500"/>
                </a:lnTo>
                <a:lnTo>
                  <a:pt x="0" y="5143500"/>
                </a:lnTo>
                <a:lnTo>
                  <a:pt x="0" y="0"/>
                </a:lnTo>
                <a:close/>
              </a:path>
            </a:pathLst>
          </a:custGeom>
          <a:blipFill>
            <a:blip r:embed="rId4">
              <a:alphaModFix amt="10999"/>
            </a:blip>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424242"/>
        </a:solidFill>
      </p:bgPr>
    </p:bg>
    <p:spTree>
      <p:nvGrpSpPr>
        <p:cNvPr id="1" name=""/>
        <p:cNvGrpSpPr/>
        <p:nvPr/>
      </p:nvGrpSpPr>
      <p:grpSpPr>
        <a:xfrm>
          <a:off x="0" y="0"/>
          <a:ext cx="0" cy="0"/>
          <a:chOff x="0" y="0"/>
          <a:chExt cx="0" cy="0"/>
        </a:xfrm>
      </p:grpSpPr>
      <p:grpSp>
        <p:nvGrpSpPr>
          <p:cNvPr name="Group 2" id="2"/>
          <p:cNvGrpSpPr/>
          <p:nvPr/>
        </p:nvGrpSpPr>
        <p:grpSpPr>
          <a:xfrm rot="0">
            <a:off x="885291" y="3243671"/>
            <a:ext cx="16360888" cy="6307586"/>
            <a:chOff x="0" y="0"/>
            <a:chExt cx="4309041" cy="1661257"/>
          </a:xfrm>
        </p:grpSpPr>
        <p:sp>
          <p:nvSpPr>
            <p:cNvPr name="Freeform 3" id="3"/>
            <p:cNvSpPr/>
            <p:nvPr/>
          </p:nvSpPr>
          <p:spPr>
            <a:xfrm flipH="false" flipV="false" rot="0">
              <a:off x="0" y="0"/>
              <a:ext cx="4309040" cy="1661257"/>
            </a:xfrm>
            <a:custGeom>
              <a:avLst/>
              <a:gdLst/>
              <a:ahLst/>
              <a:cxnLst/>
              <a:rect r="r" b="b" t="t" l="l"/>
              <a:pathLst>
                <a:path h="1661257" w="4309040">
                  <a:moveTo>
                    <a:pt x="44007" y="0"/>
                  </a:moveTo>
                  <a:lnTo>
                    <a:pt x="4265033" y="0"/>
                  </a:lnTo>
                  <a:cubicBezTo>
                    <a:pt x="4276704" y="0"/>
                    <a:pt x="4287898" y="4636"/>
                    <a:pt x="4296151" y="12889"/>
                  </a:cubicBezTo>
                  <a:cubicBezTo>
                    <a:pt x="4304404" y="21142"/>
                    <a:pt x="4309040" y="32336"/>
                    <a:pt x="4309040" y="44007"/>
                  </a:cubicBezTo>
                  <a:lnTo>
                    <a:pt x="4309040" y="1617250"/>
                  </a:lnTo>
                  <a:cubicBezTo>
                    <a:pt x="4309040" y="1628922"/>
                    <a:pt x="4304404" y="1640115"/>
                    <a:pt x="4296151" y="1648368"/>
                  </a:cubicBezTo>
                  <a:cubicBezTo>
                    <a:pt x="4287898" y="1656621"/>
                    <a:pt x="4276704" y="1661257"/>
                    <a:pt x="4265033" y="1661257"/>
                  </a:cubicBezTo>
                  <a:lnTo>
                    <a:pt x="44007" y="1661257"/>
                  </a:lnTo>
                  <a:cubicBezTo>
                    <a:pt x="32336" y="1661257"/>
                    <a:pt x="21142" y="1656621"/>
                    <a:pt x="12889" y="1648368"/>
                  </a:cubicBezTo>
                  <a:cubicBezTo>
                    <a:pt x="4636" y="1640115"/>
                    <a:pt x="0" y="1628922"/>
                    <a:pt x="0" y="1617250"/>
                  </a:cubicBezTo>
                  <a:lnTo>
                    <a:pt x="0" y="44007"/>
                  </a:lnTo>
                  <a:cubicBezTo>
                    <a:pt x="0" y="32336"/>
                    <a:pt x="4636" y="21142"/>
                    <a:pt x="12889" y="12889"/>
                  </a:cubicBezTo>
                  <a:cubicBezTo>
                    <a:pt x="21142" y="4636"/>
                    <a:pt x="32336" y="0"/>
                    <a:pt x="44007" y="0"/>
                  </a:cubicBezTo>
                  <a:close/>
                </a:path>
              </a:pathLst>
            </a:custGeom>
            <a:solidFill>
              <a:srgbClr val="424242"/>
            </a:solidFill>
            <a:ln w="19050" cap="rnd">
              <a:solidFill>
                <a:srgbClr val="D0D7DD"/>
              </a:solidFill>
              <a:prstDash val="solid"/>
              <a:round/>
            </a:ln>
          </p:spPr>
        </p:sp>
        <p:sp>
          <p:nvSpPr>
            <p:cNvPr name="TextBox 4" id="4"/>
            <p:cNvSpPr txBox="true"/>
            <p:nvPr/>
          </p:nvSpPr>
          <p:spPr>
            <a:xfrm>
              <a:off x="0" y="-28575"/>
              <a:ext cx="4309041" cy="1689832"/>
            </a:xfrm>
            <a:prstGeom prst="rect">
              <a:avLst/>
            </a:prstGeom>
          </p:spPr>
          <p:txBody>
            <a:bodyPr anchor="ctr" rtlCol="false" tIns="50800" lIns="50800" bIns="50800" rIns="50800"/>
            <a:lstStyle/>
            <a:p>
              <a:pPr algn="ctr">
                <a:lnSpc>
                  <a:spcPts val="2015"/>
                </a:lnSpc>
              </a:pPr>
            </a:p>
          </p:txBody>
        </p:sp>
      </p:grpSp>
      <p:sp>
        <p:nvSpPr>
          <p:cNvPr name="TextBox 5" id="5"/>
          <p:cNvSpPr txBox="true"/>
          <p:nvPr/>
        </p:nvSpPr>
        <p:spPr>
          <a:xfrm rot="0">
            <a:off x="1028700" y="1781982"/>
            <a:ext cx="13389009" cy="1197898"/>
          </a:xfrm>
          <a:prstGeom prst="rect">
            <a:avLst/>
          </a:prstGeom>
        </p:spPr>
        <p:txBody>
          <a:bodyPr anchor="t" rtlCol="false" tIns="0" lIns="0" bIns="0" rIns="0">
            <a:spAutoFit/>
          </a:bodyPr>
          <a:lstStyle/>
          <a:p>
            <a:pPr algn="l">
              <a:lnSpc>
                <a:spcPts val="7582"/>
              </a:lnSpc>
            </a:pPr>
            <a:r>
              <a:rPr lang="en-US" sz="8066" spc="-379" b="true">
                <a:solidFill>
                  <a:srgbClr val="FFFFFF"/>
                </a:solidFill>
                <a:latin typeface="Times New Roman MT Ultra-Bold"/>
                <a:ea typeface="Times New Roman MT Ultra-Bold"/>
                <a:cs typeface="Times New Roman MT Ultra-Bold"/>
                <a:sym typeface="Times New Roman MT Ultra-Bold"/>
              </a:rPr>
              <a:t>Conclusion</a:t>
            </a:r>
          </a:p>
        </p:txBody>
      </p:sp>
      <p:sp>
        <p:nvSpPr>
          <p:cNvPr name="TextBox 6" id="6"/>
          <p:cNvSpPr txBox="true"/>
          <p:nvPr/>
        </p:nvSpPr>
        <p:spPr>
          <a:xfrm rot="0">
            <a:off x="1639073" y="3537316"/>
            <a:ext cx="14853325" cy="5823227"/>
          </a:xfrm>
          <a:prstGeom prst="rect">
            <a:avLst/>
          </a:prstGeom>
        </p:spPr>
        <p:txBody>
          <a:bodyPr anchor="t" rtlCol="false" tIns="0" lIns="0" bIns="0" rIns="0">
            <a:spAutoFit/>
          </a:bodyPr>
          <a:lstStyle/>
          <a:p>
            <a:pPr algn="just">
              <a:lnSpc>
                <a:spcPts val="4154"/>
              </a:lnSpc>
            </a:pPr>
            <a:r>
              <a:rPr lang="en-US" sz="3296" spc="-184">
                <a:solidFill>
                  <a:srgbClr val="FFFFFF"/>
                </a:solidFill>
                <a:latin typeface="Times New Roman MT"/>
                <a:ea typeface="Times New Roman MT"/>
                <a:cs typeface="Times New Roman MT"/>
                <a:sym typeface="Times New Roman MT"/>
              </a:rPr>
              <a:t>The Case File Management &amp; Analytics Portal provides a centralized and structured solution for managing legal case information. By connecting cases with clients, lawyers, judges, hearings, documents, and judgments, the system makes legal records easier to store, retrieve, update, and track.</a:t>
            </a:r>
          </a:p>
          <a:p>
            <a:pPr algn="just">
              <a:lnSpc>
                <a:spcPts val="4154"/>
              </a:lnSpc>
            </a:pPr>
            <a:r>
              <a:rPr lang="en-US" sz="3296" spc="-184">
                <a:solidFill>
                  <a:srgbClr val="FFFFFF"/>
                </a:solidFill>
                <a:latin typeface="Times New Roman MT"/>
                <a:ea typeface="Times New Roman MT"/>
                <a:cs typeface="Times New Roman MT"/>
                <a:sym typeface="Times New Roman MT"/>
              </a:rPr>
              <a:t>The use of MySQL provides a reliable relational database structure with primary keys, foreign keys, constraints, and relationships. SQL-based analytics can provide useful insights into case status, lawyer workload, hearings, document counts, and case duration.</a:t>
            </a:r>
          </a:p>
          <a:p>
            <a:pPr algn="just">
              <a:lnSpc>
                <a:spcPts val="4154"/>
              </a:lnSpc>
            </a:pPr>
            <a:r>
              <a:rPr lang="en-US" sz="3296" spc="-184">
                <a:solidFill>
                  <a:srgbClr val="FFFFFF"/>
                </a:solidFill>
                <a:latin typeface="Times New Roman MT"/>
                <a:ea typeface="Times New Roman MT"/>
                <a:cs typeface="Times New Roman MT"/>
                <a:sym typeface="Times New Roman MT"/>
              </a:rPr>
              <a:t>Overall, the proposed system reduces the limitations of manual and scattered record management while demonstrating important Database Management System concepts such as relational schema design, normalization, joins, filtering, grouping, and aggregate queries.</a:t>
            </a:r>
          </a:p>
          <a:p>
            <a:pPr algn="just">
              <a:lnSpc>
                <a:spcPts val="4154"/>
              </a:lnSpc>
              <a:spcBef>
                <a:spcPct val="0"/>
              </a:spcBef>
            </a:pPr>
          </a:p>
        </p:txBody>
      </p:sp>
      <p:sp>
        <p:nvSpPr>
          <p:cNvPr name="Freeform 7" id="7"/>
          <p:cNvSpPr/>
          <p:nvPr/>
        </p:nvSpPr>
        <p:spPr>
          <a:xfrm flipH="false" flipV="false" rot="0">
            <a:off x="0" y="0"/>
            <a:ext cx="3594508" cy="1480091"/>
          </a:xfrm>
          <a:custGeom>
            <a:avLst/>
            <a:gdLst/>
            <a:ahLst/>
            <a:cxnLst/>
            <a:rect r="r" b="b" t="t" l="l"/>
            <a:pathLst>
              <a:path h="1480091" w="3594508">
                <a:moveTo>
                  <a:pt x="0" y="0"/>
                </a:moveTo>
                <a:lnTo>
                  <a:pt x="3594508" y="0"/>
                </a:lnTo>
                <a:lnTo>
                  <a:pt x="3594508" y="1480091"/>
                </a:lnTo>
                <a:lnTo>
                  <a:pt x="0" y="1480091"/>
                </a:lnTo>
                <a:lnTo>
                  <a:pt x="0" y="0"/>
                </a:lnTo>
                <a:close/>
              </a:path>
            </a:pathLst>
          </a:custGeom>
          <a:blipFill>
            <a:blip r:embed="rId2"/>
            <a:stretch>
              <a:fillRect l="0" t="0" r="0" b="0"/>
            </a:stretch>
          </a:blipFill>
        </p:spPr>
      </p:sp>
      <p:sp>
        <p:nvSpPr>
          <p:cNvPr name="Freeform 8" id="8"/>
          <p:cNvSpPr/>
          <p:nvPr/>
        </p:nvSpPr>
        <p:spPr>
          <a:xfrm flipH="false" flipV="false" rot="1925852">
            <a:off x="11466076" y="-3935689"/>
            <a:ext cx="9386678" cy="10557613"/>
          </a:xfrm>
          <a:custGeom>
            <a:avLst/>
            <a:gdLst/>
            <a:ahLst/>
            <a:cxnLst/>
            <a:rect r="r" b="b" t="t" l="l"/>
            <a:pathLst>
              <a:path h="10557613" w="9386678">
                <a:moveTo>
                  <a:pt x="0" y="0"/>
                </a:moveTo>
                <a:lnTo>
                  <a:pt x="9386678" y="0"/>
                </a:lnTo>
                <a:lnTo>
                  <a:pt x="9386678" y="10557613"/>
                </a:lnTo>
                <a:lnTo>
                  <a:pt x="0" y="10557613"/>
                </a:lnTo>
                <a:lnTo>
                  <a:pt x="0" y="0"/>
                </a:lnTo>
                <a:close/>
              </a:path>
            </a:pathLst>
          </a:custGeom>
          <a:blipFill>
            <a:blip r:embed="rId3">
              <a:alphaModFix amt="20999"/>
            </a:blip>
            <a:stretch>
              <a:fillRect l="0" t="0" r="0" b="0"/>
            </a:stretch>
          </a:blipFill>
        </p:spPr>
      </p:sp>
      <p:sp>
        <p:nvSpPr>
          <p:cNvPr name="Freeform 9" id="9"/>
          <p:cNvSpPr/>
          <p:nvPr/>
        </p:nvSpPr>
        <p:spPr>
          <a:xfrm flipH="false" flipV="false" rot="0">
            <a:off x="-1231290" y="6163012"/>
            <a:ext cx="12299674" cy="5143500"/>
          </a:xfrm>
          <a:custGeom>
            <a:avLst/>
            <a:gdLst/>
            <a:ahLst/>
            <a:cxnLst/>
            <a:rect r="r" b="b" t="t" l="l"/>
            <a:pathLst>
              <a:path h="5143500" w="12299674">
                <a:moveTo>
                  <a:pt x="0" y="0"/>
                </a:moveTo>
                <a:lnTo>
                  <a:pt x="12299673" y="0"/>
                </a:lnTo>
                <a:lnTo>
                  <a:pt x="12299673" y="5143500"/>
                </a:lnTo>
                <a:lnTo>
                  <a:pt x="0" y="5143500"/>
                </a:lnTo>
                <a:lnTo>
                  <a:pt x="0" y="0"/>
                </a:lnTo>
                <a:close/>
              </a:path>
            </a:pathLst>
          </a:custGeom>
          <a:blipFill>
            <a:blip r:embed="rId4">
              <a:alphaModFix amt="10999"/>
            </a:blip>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1977201">
            <a:off x="8302125" y="-801031"/>
            <a:ext cx="12791303" cy="9442307"/>
          </a:xfrm>
          <a:custGeom>
            <a:avLst/>
            <a:gdLst/>
            <a:ahLst/>
            <a:cxnLst/>
            <a:rect r="r" b="b" t="t" l="l"/>
            <a:pathLst>
              <a:path h="9442307" w="12791303">
                <a:moveTo>
                  <a:pt x="0" y="0"/>
                </a:moveTo>
                <a:lnTo>
                  <a:pt x="12791302" y="0"/>
                </a:lnTo>
                <a:lnTo>
                  <a:pt x="12791302" y="9442307"/>
                </a:lnTo>
                <a:lnTo>
                  <a:pt x="0" y="9442307"/>
                </a:lnTo>
                <a:lnTo>
                  <a:pt x="0" y="0"/>
                </a:lnTo>
                <a:close/>
              </a:path>
            </a:pathLst>
          </a:custGeom>
          <a:blipFill>
            <a:blip r:embed="rId2">
              <a:alphaModFix amt="42000"/>
            </a:blip>
            <a:stretch>
              <a:fillRect l="0" t="0" r="0" b="0"/>
            </a:stretch>
          </a:blipFill>
        </p:spPr>
      </p:sp>
      <p:sp>
        <p:nvSpPr>
          <p:cNvPr name="Freeform 3" id="3"/>
          <p:cNvSpPr/>
          <p:nvPr/>
        </p:nvSpPr>
        <p:spPr>
          <a:xfrm flipH="false" flipV="false" rot="-10659522">
            <a:off x="-1466084" y="-1104127"/>
            <a:ext cx="6017764" cy="3599717"/>
          </a:xfrm>
          <a:custGeom>
            <a:avLst/>
            <a:gdLst/>
            <a:ahLst/>
            <a:cxnLst/>
            <a:rect r="r" b="b" t="t" l="l"/>
            <a:pathLst>
              <a:path h="3599717" w="6017764">
                <a:moveTo>
                  <a:pt x="0" y="0"/>
                </a:moveTo>
                <a:lnTo>
                  <a:pt x="6017764" y="0"/>
                </a:lnTo>
                <a:lnTo>
                  <a:pt x="6017764" y="3599717"/>
                </a:lnTo>
                <a:lnTo>
                  <a:pt x="0" y="3599717"/>
                </a:lnTo>
                <a:lnTo>
                  <a:pt x="0" y="0"/>
                </a:lnTo>
                <a:close/>
              </a:path>
            </a:pathLst>
          </a:custGeom>
          <a:blipFill>
            <a:blip r:embed="rId3">
              <a:alphaModFix amt="12000"/>
            </a:blip>
            <a:stretch>
              <a:fillRect l="0" t="0" r="0" b="0"/>
            </a:stretch>
          </a:blipFill>
        </p:spPr>
      </p:sp>
      <p:sp>
        <p:nvSpPr>
          <p:cNvPr name="Freeform 4" id="4"/>
          <p:cNvSpPr/>
          <p:nvPr/>
        </p:nvSpPr>
        <p:spPr>
          <a:xfrm flipH="false" flipV="false" rot="0">
            <a:off x="-924022" y="5188961"/>
            <a:ext cx="4716981" cy="6251420"/>
          </a:xfrm>
          <a:custGeom>
            <a:avLst/>
            <a:gdLst/>
            <a:ahLst/>
            <a:cxnLst/>
            <a:rect r="r" b="b" t="t" l="l"/>
            <a:pathLst>
              <a:path h="6251420" w="4716981">
                <a:moveTo>
                  <a:pt x="0" y="0"/>
                </a:moveTo>
                <a:lnTo>
                  <a:pt x="4716981" y="0"/>
                </a:lnTo>
                <a:lnTo>
                  <a:pt x="4716981" y="6251421"/>
                </a:lnTo>
                <a:lnTo>
                  <a:pt x="0" y="6251421"/>
                </a:lnTo>
                <a:lnTo>
                  <a:pt x="0" y="0"/>
                </a:lnTo>
                <a:close/>
              </a:path>
            </a:pathLst>
          </a:custGeom>
          <a:blipFill>
            <a:blip r:embed="rId4">
              <a:alphaModFix amt="2000"/>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542798" y="4357722"/>
            <a:ext cx="14976376" cy="1741227"/>
          </a:xfrm>
          <a:prstGeom prst="rect">
            <a:avLst/>
          </a:prstGeom>
        </p:spPr>
        <p:txBody>
          <a:bodyPr anchor="t" rtlCol="false" tIns="0" lIns="0" bIns="0" rIns="0">
            <a:spAutoFit/>
          </a:bodyPr>
          <a:lstStyle/>
          <a:p>
            <a:pPr algn="ctr">
              <a:lnSpc>
                <a:spcPts val="12724"/>
              </a:lnSpc>
            </a:pPr>
            <a:r>
              <a:rPr lang="en-US" b="true" sz="9088" spc="-427">
                <a:solidFill>
                  <a:srgbClr val="424242"/>
                </a:solidFill>
                <a:latin typeface="Times New Roman MT Ultra-Bold"/>
                <a:ea typeface="Times New Roman MT Ultra-Bold"/>
                <a:cs typeface="Times New Roman MT Ultra-Bold"/>
                <a:sym typeface="Times New Roman MT Ultra-Bold"/>
              </a:rPr>
              <a:t>THANK YOU</a:t>
            </a:r>
          </a:p>
        </p:txBody>
      </p:sp>
      <p:sp>
        <p:nvSpPr>
          <p:cNvPr name="AutoShape 6" id="6"/>
          <p:cNvSpPr/>
          <p:nvPr/>
        </p:nvSpPr>
        <p:spPr>
          <a:xfrm>
            <a:off x="1045163" y="1480091"/>
            <a:ext cx="16214137" cy="0"/>
          </a:xfrm>
          <a:prstGeom prst="line">
            <a:avLst/>
          </a:prstGeom>
          <a:ln cap="flat" w="19050">
            <a:solidFill>
              <a:srgbClr val="424242"/>
            </a:solidFill>
            <a:prstDash val="solid"/>
            <a:headEnd type="none" len="sm" w="sm"/>
            <a:tailEnd type="none" len="sm" w="sm"/>
          </a:ln>
        </p:spPr>
      </p:sp>
      <p:sp>
        <p:nvSpPr>
          <p:cNvPr name="Freeform 7" id="7"/>
          <p:cNvSpPr/>
          <p:nvPr/>
        </p:nvSpPr>
        <p:spPr>
          <a:xfrm flipH="false" flipV="false" rot="0">
            <a:off x="0" y="0"/>
            <a:ext cx="3594508" cy="1480091"/>
          </a:xfrm>
          <a:custGeom>
            <a:avLst/>
            <a:gdLst/>
            <a:ahLst/>
            <a:cxnLst/>
            <a:rect r="r" b="b" t="t" l="l"/>
            <a:pathLst>
              <a:path h="1480091" w="3594508">
                <a:moveTo>
                  <a:pt x="0" y="0"/>
                </a:moveTo>
                <a:lnTo>
                  <a:pt x="3594508" y="0"/>
                </a:lnTo>
                <a:lnTo>
                  <a:pt x="3594508" y="1480091"/>
                </a:lnTo>
                <a:lnTo>
                  <a:pt x="0" y="1480091"/>
                </a:lnTo>
                <a:lnTo>
                  <a:pt x="0" y="0"/>
                </a:lnTo>
                <a:close/>
              </a:path>
            </a:pathLst>
          </a:custGeom>
          <a:blipFill>
            <a:blip r:embed="rId6"/>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DAHSju0BKeA</dc:identifier>
  <dcterms:modified xsi:type="dcterms:W3CDTF">2011-08-01T06:04:30Z</dcterms:modified>
  <cp:revision>1</cp:revision>
  <dc:title>DBSE&amp;DBD_Review2</dc:title>
</cp:coreProperties>
</file>